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Barlow Condensed Bold" charset="1" panose="00000806000000000000"/>
      <p:regular r:id="rId15"/>
    </p:embeddedFont>
    <p:embeddedFont>
      <p:font typeface="Roboto Bold" charset="1" panose="02000000000000000000"/>
      <p:regular r:id="rId16"/>
    </p:embeddedFont>
    <p:embeddedFont>
      <p:font typeface="Roboto" charset="1" panose="02000000000000000000"/>
      <p:regular r:id="rId17"/>
    </p:embeddedFont>
    <p:embeddedFont>
      <p:font typeface="Barlow SemiCondensed Semi-Bold" charset="1" panose="00000706000000000000"/>
      <p:regular r:id="rId18"/>
    </p:embeddedFont>
    <p:embeddedFont>
      <p:font typeface="Barlow SemiCondensed Bold" charset="1" panose="00000806000000000000"/>
      <p:regular r:id="rId19"/>
    </p:embeddedFont>
    <p:embeddedFont>
      <p:font typeface="Roboto Condensed Bold" charset="1" panose="02000000000000000000"/>
      <p:regular r:id="rId20"/>
    </p:embeddedFont>
    <p:embeddedFont>
      <p:font typeface="Farro Bold" charset="1" panose="00000800000000000000"/>
      <p:regular r:id="rId21"/>
    </p:embeddedFont>
    <p:embeddedFont>
      <p:font typeface="DM Sans Bold" charset="1" panose="00000000000000000000"/>
      <p:regular r:id="rId22"/>
    </p:embeddedFont>
    <p:embeddedFont>
      <p:font typeface="Inter Bold" charset="1" panose="020B0802030000000004"/>
      <p:regular r:id="rId23"/>
    </p:embeddedFont>
    <p:embeddedFont>
      <p:font typeface="Inter" charset="1" panose="020B0502030000000004"/>
      <p:regular r:id="rId24"/>
    </p:embeddedFont>
    <p:embeddedFont>
      <p:font typeface="Garet" charset="1" panose="00000000000000000000"/>
      <p:regular r:id="rId25"/>
    </p:embeddedFont>
    <p:embeddedFont>
      <p:font typeface="Garet Bold" charset="1" panose="00000000000000000000"/>
      <p:regular r:id="rId26"/>
    </p:embeddedFont>
    <p:embeddedFont>
      <p:font typeface="League Gothic" charset="1" panose="0000050000000000000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11" Target="../media/image16.png" Type="http://schemas.openxmlformats.org/officeDocument/2006/relationships/image"/><Relationship Id="rId12" Target="../media/image17.png" Type="http://schemas.openxmlformats.org/officeDocument/2006/relationships/image"/><Relationship Id="rId13" Target="../media/image18.png" Type="http://schemas.openxmlformats.org/officeDocument/2006/relationships/image"/><Relationship Id="rId14" Target="../media/image19.png" Type="http://schemas.openxmlformats.org/officeDocument/2006/relationships/image"/><Relationship Id="rId15" Target="../media/image20.png" Type="http://schemas.openxmlformats.org/officeDocument/2006/relationships/image"/><Relationship Id="rId16" Target="../media/image21.png" Type="http://schemas.openxmlformats.org/officeDocument/2006/relationships/image"/><Relationship Id="rId17" Target="../media/image22.png" Type="http://schemas.openxmlformats.org/officeDocument/2006/relationships/image"/><Relationship Id="rId18" Target="../media/image23.png" Type="http://schemas.openxmlformats.org/officeDocument/2006/relationships/image"/><Relationship Id="rId19" Target="../media/image24.png" Type="http://schemas.openxmlformats.org/officeDocument/2006/relationships/image"/><Relationship Id="rId2" Target="../media/image7.png" Type="http://schemas.openxmlformats.org/officeDocument/2006/relationships/image"/><Relationship Id="rId20" Target="../media/image25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Relationship Id="rId6" Target="../media/image11.png" Type="http://schemas.openxmlformats.org/officeDocument/2006/relationships/image"/><Relationship Id="rId7" Target="../media/image12.png" Type="http://schemas.openxmlformats.org/officeDocument/2006/relationships/image"/><Relationship Id="rId8" Target="../media/image13.png" Type="http://schemas.openxmlformats.org/officeDocument/2006/relationships/image"/><Relationship Id="rId9" Target="../media/image14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4.png" Type="http://schemas.openxmlformats.org/officeDocument/2006/relationships/image"/><Relationship Id="rId11" Target="../media/image35.png" Type="http://schemas.openxmlformats.org/officeDocument/2006/relationships/image"/><Relationship Id="rId12" Target="../media/image36.png" Type="http://schemas.openxmlformats.org/officeDocument/2006/relationships/image"/><Relationship Id="rId13" Target="../media/image37.png" Type="http://schemas.openxmlformats.org/officeDocument/2006/relationships/image"/><Relationship Id="rId14" Target="../media/image38.png" Type="http://schemas.openxmlformats.org/officeDocument/2006/relationships/image"/><Relationship Id="rId15" Target="../media/image39.png" Type="http://schemas.openxmlformats.org/officeDocument/2006/relationships/image"/><Relationship Id="rId16" Target="../media/image40.png" Type="http://schemas.openxmlformats.org/officeDocument/2006/relationships/image"/><Relationship Id="rId17" Target="../media/image41.png" Type="http://schemas.openxmlformats.org/officeDocument/2006/relationships/image"/><Relationship Id="rId18" Target="../media/image42.png" Type="http://schemas.openxmlformats.org/officeDocument/2006/relationships/image"/><Relationship Id="rId19" Target="../media/image43.png" Type="http://schemas.openxmlformats.org/officeDocument/2006/relationships/image"/><Relationship Id="rId2" Target="../media/image26.png" Type="http://schemas.openxmlformats.org/officeDocument/2006/relationships/image"/><Relationship Id="rId20" Target="../media/image44.png" Type="http://schemas.openxmlformats.org/officeDocument/2006/relationships/image"/><Relationship Id="rId21" Target="../media/image45.png" Type="http://schemas.openxmlformats.org/officeDocument/2006/relationships/image"/><Relationship Id="rId22" Target="../media/image46.png" Type="http://schemas.openxmlformats.org/officeDocument/2006/relationships/image"/><Relationship Id="rId23" Target="../media/image47.png" Type="http://schemas.openxmlformats.org/officeDocument/2006/relationships/image"/><Relationship Id="rId24" Target="../media/image48.png" Type="http://schemas.openxmlformats.org/officeDocument/2006/relationships/image"/><Relationship Id="rId25" Target="../media/image49.png" Type="http://schemas.openxmlformats.org/officeDocument/2006/relationships/image"/><Relationship Id="rId26" Target="../media/image50.png" Type="http://schemas.openxmlformats.org/officeDocument/2006/relationships/image"/><Relationship Id="rId27" Target="../media/image51.png" Type="http://schemas.openxmlformats.org/officeDocument/2006/relationships/image"/><Relationship Id="rId28" Target="../media/image52.png" Type="http://schemas.openxmlformats.org/officeDocument/2006/relationships/image"/><Relationship Id="rId29" Target="../media/image53.png" Type="http://schemas.openxmlformats.org/officeDocument/2006/relationships/image"/><Relationship Id="rId3" Target="../media/image27.png" Type="http://schemas.openxmlformats.org/officeDocument/2006/relationships/image"/><Relationship Id="rId30" Target="../media/image54.png" Type="http://schemas.openxmlformats.org/officeDocument/2006/relationships/image"/><Relationship Id="rId31" Target="../media/image55.png" Type="http://schemas.openxmlformats.org/officeDocument/2006/relationships/image"/><Relationship Id="rId32" Target="../media/image56.png" Type="http://schemas.openxmlformats.org/officeDocument/2006/relationships/image"/><Relationship Id="rId33" Target="../media/image57.png" Type="http://schemas.openxmlformats.org/officeDocument/2006/relationships/image"/><Relationship Id="rId34" Target="../media/image58.png" Type="http://schemas.openxmlformats.org/officeDocument/2006/relationships/image"/><Relationship Id="rId35" Target="../media/image59.png" Type="http://schemas.openxmlformats.org/officeDocument/2006/relationships/image"/><Relationship Id="rId36" Target="../media/image60.png" Type="http://schemas.openxmlformats.org/officeDocument/2006/relationships/image"/><Relationship Id="rId37" Target="../media/image61.png" Type="http://schemas.openxmlformats.org/officeDocument/2006/relationships/image"/><Relationship Id="rId38" Target="../media/image62.png" Type="http://schemas.openxmlformats.org/officeDocument/2006/relationships/image"/><Relationship Id="rId39" Target="../media/image63.png" Type="http://schemas.openxmlformats.org/officeDocument/2006/relationships/image"/><Relationship Id="rId4" Target="../media/image28.png" Type="http://schemas.openxmlformats.org/officeDocument/2006/relationships/image"/><Relationship Id="rId40" Target="../media/image64.png" Type="http://schemas.openxmlformats.org/officeDocument/2006/relationships/image"/><Relationship Id="rId41" Target="../media/image65.png" Type="http://schemas.openxmlformats.org/officeDocument/2006/relationships/image"/><Relationship Id="rId42" Target="../media/image66.png" Type="http://schemas.openxmlformats.org/officeDocument/2006/relationships/image"/><Relationship Id="rId43" Target="../media/image67.png" Type="http://schemas.openxmlformats.org/officeDocument/2006/relationships/image"/><Relationship Id="rId44" Target="../media/image68.png" Type="http://schemas.openxmlformats.org/officeDocument/2006/relationships/image"/><Relationship Id="rId45" Target="../media/image69.png" Type="http://schemas.openxmlformats.org/officeDocument/2006/relationships/image"/><Relationship Id="rId46" Target="../media/image70.png" Type="http://schemas.openxmlformats.org/officeDocument/2006/relationships/image"/><Relationship Id="rId47" Target="../media/image71.png" Type="http://schemas.openxmlformats.org/officeDocument/2006/relationships/image"/><Relationship Id="rId48" Target="../media/image72.png" Type="http://schemas.openxmlformats.org/officeDocument/2006/relationships/image"/><Relationship Id="rId49" Target="../media/image73.png" Type="http://schemas.openxmlformats.org/officeDocument/2006/relationships/image"/><Relationship Id="rId5" Target="../media/image29.png" Type="http://schemas.openxmlformats.org/officeDocument/2006/relationships/image"/><Relationship Id="rId50" Target="../media/image74.png" Type="http://schemas.openxmlformats.org/officeDocument/2006/relationships/image"/><Relationship Id="rId51" Target="../media/image75.png" Type="http://schemas.openxmlformats.org/officeDocument/2006/relationships/image"/><Relationship Id="rId52" Target="../media/image76.png" Type="http://schemas.openxmlformats.org/officeDocument/2006/relationships/image"/><Relationship Id="rId53" Target="../media/image77.png" Type="http://schemas.openxmlformats.org/officeDocument/2006/relationships/image"/><Relationship Id="rId54" Target="../media/image78.png" Type="http://schemas.openxmlformats.org/officeDocument/2006/relationships/image"/><Relationship Id="rId55" Target="../media/image79.png" Type="http://schemas.openxmlformats.org/officeDocument/2006/relationships/image"/><Relationship Id="rId56" Target="../media/image80.png" Type="http://schemas.openxmlformats.org/officeDocument/2006/relationships/image"/><Relationship Id="rId57" Target="../media/image81.png" Type="http://schemas.openxmlformats.org/officeDocument/2006/relationships/image"/><Relationship Id="rId58" Target="../media/image82.png" Type="http://schemas.openxmlformats.org/officeDocument/2006/relationships/image"/><Relationship Id="rId59" Target="../media/image83.png" Type="http://schemas.openxmlformats.org/officeDocument/2006/relationships/image"/><Relationship Id="rId6" Target="../media/image30.png" Type="http://schemas.openxmlformats.org/officeDocument/2006/relationships/image"/><Relationship Id="rId60" Target="../media/image84.png" Type="http://schemas.openxmlformats.org/officeDocument/2006/relationships/image"/><Relationship Id="rId61" Target="../media/image85.png" Type="http://schemas.openxmlformats.org/officeDocument/2006/relationships/image"/><Relationship Id="rId62" Target="../media/image86.png" Type="http://schemas.openxmlformats.org/officeDocument/2006/relationships/image"/><Relationship Id="rId7" Target="../media/image31.png" Type="http://schemas.openxmlformats.org/officeDocument/2006/relationships/image"/><Relationship Id="rId8" Target="../media/image32.png" Type="http://schemas.openxmlformats.org/officeDocument/2006/relationships/image"/><Relationship Id="rId9" Target="../media/image3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5.png" Type="http://schemas.openxmlformats.org/officeDocument/2006/relationships/image"/><Relationship Id="rId11" Target="../media/image96.png" Type="http://schemas.openxmlformats.org/officeDocument/2006/relationships/image"/><Relationship Id="rId12" Target="../media/image97.png" Type="http://schemas.openxmlformats.org/officeDocument/2006/relationships/image"/><Relationship Id="rId13" Target="../media/image98.png" Type="http://schemas.openxmlformats.org/officeDocument/2006/relationships/image"/><Relationship Id="rId14" Target="../media/image99.png" Type="http://schemas.openxmlformats.org/officeDocument/2006/relationships/image"/><Relationship Id="rId15" Target="../media/image100.png" Type="http://schemas.openxmlformats.org/officeDocument/2006/relationships/image"/><Relationship Id="rId16" Target="../media/image101.png" Type="http://schemas.openxmlformats.org/officeDocument/2006/relationships/image"/><Relationship Id="rId17" Target="../media/image102.png" Type="http://schemas.openxmlformats.org/officeDocument/2006/relationships/image"/><Relationship Id="rId18" Target="../media/image103.png" Type="http://schemas.openxmlformats.org/officeDocument/2006/relationships/image"/><Relationship Id="rId19" Target="../media/image104.png" Type="http://schemas.openxmlformats.org/officeDocument/2006/relationships/image"/><Relationship Id="rId2" Target="../media/image87.png" Type="http://schemas.openxmlformats.org/officeDocument/2006/relationships/image"/><Relationship Id="rId20" Target="../media/image105.png" Type="http://schemas.openxmlformats.org/officeDocument/2006/relationships/image"/><Relationship Id="rId21" Target="../media/image106.png" Type="http://schemas.openxmlformats.org/officeDocument/2006/relationships/image"/><Relationship Id="rId22" Target="../media/image107.png" Type="http://schemas.openxmlformats.org/officeDocument/2006/relationships/image"/><Relationship Id="rId23" Target="../media/image108.png" Type="http://schemas.openxmlformats.org/officeDocument/2006/relationships/image"/><Relationship Id="rId24" Target="../media/image109.png" Type="http://schemas.openxmlformats.org/officeDocument/2006/relationships/image"/><Relationship Id="rId25" Target="../media/image110.png" Type="http://schemas.openxmlformats.org/officeDocument/2006/relationships/image"/><Relationship Id="rId26" Target="../media/image111.png" Type="http://schemas.openxmlformats.org/officeDocument/2006/relationships/image"/><Relationship Id="rId27" Target="../media/image112.png" Type="http://schemas.openxmlformats.org/officeDocument/2006/relationships/image"/><Relationship Id="rId28" Target="../media/image113.png" Type="http://schemas.openxmlformats.org/officeDocument/2006/relationships/image"/><Relationship Id="rId29" Target="../media/image114.png" Type="http://schemas.openxmlformats.org/officeDocument/2006/relationships/image"/><Relationship Id="rId3" Target="../media/image88.png" Type="http://schemas.openxmlformats.org/officeDocument/2006/relationships/image"/><Relationship Id="rId4" Target="../media/image89.png" Type="http://schemas.openxmlformats.org/officeDocument/2006/relationships/image"/><Relationship Id="rId5" Target="../media/image90.png" Type="http://schemas.openxmlformats.org/officeDocument/2006/relationships/image"/><Relationship Id="rId6" Target="../media/image91.png" Type="http://schemas.openxmlformats.org/officeDocument/2006/relationships/image"/><Relationship Id="rId7" Target="../media/image92.png" Type="http://schemas.openxmlformats.org/officeDocument/2006/relationships/image"/><Relationship Id="rId8" Target="../media/image93.png" Type="http://schemas.openxmlformats.org/officeDocument/2006/relationships/image"/><Relationship Id="rId9" Target="../media/image9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3.png" Type="http://schemas.openxmlformats.org/officeDocument/2006/relationships/image"/><Relationship Id="rId11" Target="../media/image124.png" Type="http://schemas.openxmlformats.org/officeDocument/2006/relationships/image"/><Relationship Id="rId12" Target="../media/image125.png" Type="http://schemas.openxmlformats.org/officeDocument/2006/relationships/image"/><Relationship Id="rId13" Target="../media/image126.png" Type="http://schemas.openxmlformats.org/officeDocument/2006/relationships/image"/><Relationship Id="rId14" Target="../media/image127.png" Type="http://schemas.openxmlformats.org/officeDocument/2006/relationships/image"/><Relationship Id="rId15" Target="../media/image128.png" Type="http://schemas.openxmlformats.org/officeDocument/2006/relationships/image"/><Relationship Id="rId16" Target="../media/image129.png" Type="http://schemas.openxmlformats.org/officeDocument/2006/relationships/image"/><Relationship Id="rId17" Target="../media/image130.png" Type="http://schemas.openxmlformats.org/officeDocument/2006/relationships/image"/><Relationship Id="rId18" Target="../media/image131.png" Type="http://schemas.openxmlformats.org/officeDocument/2006/relationships/image"/><Relationship Id="rId19" Target="../media/image132.png" Type="http://schemas.openxmlformats.org/officeDocument/2006/relationships/image"/><Relationship Id="rId2" Target="../media/image115.png" Type="http://schemas.openxmlformats.org/officeDocument/2006/relationships/image"/><Relationship Id="rId3" Target="../media/image116.png" Type="http://schemas.openxmlformats.org/officeDocument/2006/relationships/image"/><Relationship Id="rId4" Target="../media/image117.png" Type="http://schemas.openxmlformats.org/officeDocument/2006/relationships/image"/><Relationship Id="rId5" Target="../media/image118.png" Type="http://schemas.openxmlformats.org/officeDocument/2006/relationships/image"/><Relationship Id="rId6" Target="../media/image119.png" Type="http://schemas.openxmlformats.org/officeDocument/2006/relationships/image"/><Relationship Id="rId7" Target="../media/image120.png" Type="http://schemas.openxmlformats.org/officeDocument/2006/relationships/image"/><Relationship Id="rId8" Target="../media/image121.png" Type="http://schemas.openxmlformats.org/officeDocument/2006/relationships/image"/><Relationship Id="rId9" Target="../media/image12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1.png" Type="http://schemas.openxmlformats.org/officeDocument/2006/relationships/image"/><Relationship Id="rId11" Target="../media/image142.png" Type="http://schemas.openxmlformats.org/officeDocument/2006/relationships/image"/><Relationship Id="rId12" Target="../media/image143.png" Type="http://schemas.openxmlformats.org/officeDocument/2006/relationships/image"/><Relationship Id="rId13" Target="../media/image144.png" Type="http://schemas.openxmlformats.org/officeDocument/2006/relationships/image"/><Relationship Id="rId14" Target="../media/image145.png" Type="http://schemas.openxmlformats.org/officeDocument/2006/relationships/image"/><Relationship Id="rId15" Target="../media/image146.png" Type="http://schemas.openxmlformats.org/officeDocument/2006/relationships/image"/><Relationship Id="rId16" Target="../media/image147.png" Type="http://schemas.openxmlformats.org/officeDocument/2006/relationships/image"/><Relationship Id="rId17" Target="../media/image148.png" Type="http://schemas.openxmlformats.org/officeDocument/2006/relationships/image"/><Relationship Id="rId18" Target="../media/image149.png" Type="http://schemas.openxmlformats.org/officeDocument/2006/relationships/image"/><Relationship Id="rId19" Target="../media/image150.png" Type="http://schemas.openxmlformats.org/officeDocument/2006/relationships/image"/><Relationship Id="rId2" Target="../media/image133.png" Type="http://schemas.openxmlformats.org/officeDocument/2006/relationships/image"/><Relationship Id="rId20" Target="../media/image151.png" Type="http://schemas.openxmlformats.org/officeDocument/2006/relationships/image"/><Relationship Id="rId21" Target="../media/image152.png" Type="http://schemas.openxmlformats.org/officeDocument/2006/relationships/image"/><Relationship Id="rId22" Target="../media/image153.png" Type="http://schemas.openxmlformats.org/officeDocument/2006/relationships/image"/><Relationship Id="rId23" Target="../media/image154.png" Type="http://schemas.openxmlformats.org/officeDocument/2006/relationships/image"/><Relationship Id="rId24" Target="../media/image155.png" Type="http://schemas.openxmlformats.org/officeDocument/2006/relationships/image"/><Relationship Id="rId3" Target="../media/image134.png" Type="http://schemas.openxmlformats.org/officeDocument/2006/relationships/image"/><Relationship Id="rId4" Target="../media/image135.png" Type="http://schemas.openxmlformats.org/officeDocument/2006/relationships/image"/><Relationship Id="rId5" Target="../media/image136.png" Type="http://schemas.openxmlformats.org/officeDocument/2006/relationships/image"/><Relationship Id="rId6" Target="../media/image137.png" Type="http://schemas.openxmlformats.org/officeDocument/2006/relationships/image"/><Relationship Id="rId7" Target="../media/image138.png" Type="http://schemas.openxmlformats.org/officeDocument/2006/relationships/image"/><Relationship Id="rId8" Target="../media/image139.png" Type="http://schemas.openxmlformats.org/officeDocument/2006/relationships/image"/><Relationship Id="rId9" Target="../media/image14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4.png" Type="http://schemas.openxmlformats.org/officeDocument/2006/relationships/image"/><Relationship Id="rId11" Target="../media/image165.png" Type="http://schemas.openxmlformats.org/officeDocument/2006/relationships/image"/><Relationship Id="rId12" Target="../media/image166.png" Type="http://schemas.openxmlformats.org/officeDocument/2006/relationships/image"/><Relationship Id="rId13" Target="../media/image167.png" Type="http://schemas.openxmlformats.org/officeDocument/2006/relationships/image"/><Relationship Id="rId14" Target="../media/image168.png" Type="http://schemas.openxmlformats.org/officeDocument/2006/relationships/image"/><Relationship Id="rId15" Target="../media/image169.png" Type="http://schemas.openxmlformats.org/officeDocument/2006/relationships/image"/><Relationship Id="rId16" Target="../media/image170.png" Type="http://schemas.openxmlformats.org/officeDocument/2006/relationships/image"/><Relationship Id="rId17" Target="../media/image171.png" Type="http://schemas.openxmlformats.org/officeDocument/2006/relationships/image"/><Relationship Id="rId18" Target="../media/image172.png" Type="http://schemas.openxmlformats.org/officeDocument/2006/relationships/image"/><Relationship Id="rId19" Target="../media/image173.png" Type="http://schemas.openxmlformats.org/officeDocument/2006/relationships/image"/><Relationship Id="rId2" Target="../media/image156.png" Type="http://schemas.openxmlformats.org/officeDocument/2006/relationships/image"/><Relationship Id="rId20" Target="../media/image174.png" Type="http://schemas.openxmlformats.org/officeDocument/2006/relationships/image"/><Relationship Id="rId21" Target="../media/image175.png" Type="http://schemas.openxmlformats.org/officeDocument/2006/relationships/image"/><Relationship Id="rId22" Target="../media/image176.png" Type="http://schemas.openxmlformats.org/officeDocument/2006/relationships/image"/><Relationship Id="rId23" Target="../media/image177.png" Type="http://schemas.openxmlformats.org/officeDocument/2006/relationships/image"/><Relationship Id="rId24" Target="../media/image178.png" Type="http://schemas.openxmlformats.org/officeDocument/2006/relationships/image"/><Relationship Id="rId25" Target="../media/image179.png" Type="http://schemas.openxmlformats.org/officeDocument/2006/relationships/image"/><Relationship Id="rId26" Target="../media/image180.png" Type="http://schemas.openxmlformats.org/officeDocument/2006/relationships/image"/><Relationship Id="rId27" Target="../media/image181.png" Type="http://schemas.openxmlformats.org/officeDocument/2006/relationships/image"/><Relationship Id="rId28" Target="../media/image182.png" Type="http://schemas.openxmlformats.org/officeDocument/2006/relationships/image"/><Relationship Id="rId29" Target="../media/image183.png" Type="http://schemas.openxmlformats.org/officeDocument/2006/relationships/image"/><Relationship Id="rId3" Target="../media/image157.png" Type="http://schemas.openxmlformats.org/officeDocument/2006/relationships/image"/><Relationship Id="rId30" Target="../media/image184.png" Type="http://schemas.openxmlformats.org/officeDocument/2006/relationships/image"/><Relationship Id="rId31" Target="../media/image185.png" Type="http://schemas.openxmlformats.org/officeDocument/2006/relationships/image"/><Relationship Id="rId32" Target="../media/image186.png" Type="http://schemas.openxmlformats.org/officeDocument/2006/relationships/image"/><Relationship Id="rId33" Target="../media/image187.png" Type="http://schemas.openxmlformats.org/officeDocument/2006/relationships/image"/><Relationship Id="rId34" Target="../media/image188.png" Type="http://schemas.openxmlformats.org/officeDocument/2006/relationships/image"/><Relationship Id="rId35" Target="../media/image189.png" Type="http://schemas.openxmlformats.org/officeDocument/2006/relationships/image"/><Relationship Id="rId36" Target="../media/image190.png" Type="http://schemas.openxmlformats.org/officeDocument/2006/relationships/image"/><Relationship Id="rId37" Target="../media/image191.png" Type="http://schemas.openxmlformats.org/officeDocument/2006/relationships/image"/><Relationship Id="rId38" Target="../media/image192.png" Type="http://schemas.openxmlformats.org/officeDocument/2006/relationships/image"/><Relationship Id="rId39" Target="../media/image193.png" Type="http://schemas.openxmlformats.org/officeDocument/2006/relationships/image"/><Relationship Id="rId4" Target="../media/image158.png" Type="http://schemas.openxmlformats.org/officeDocument/2006/relationships/image"/><Relationship Id="rId40" Target="../media/image194.png" Type="http://schemas.openxmlformats.org/officeDocument/2006/relationships/image"/><Relationship Id="rId41" Target="../media/image195.png" Type="http://schemas.openxmlformats.org/officeDocument/2006/relationships/image"/><Relationship Id="rId42" Target="../media/image196.png" Type="http://schemas.openxmlformats.org/officeDocument/2006/relationships/image"/><Relationship Id="rId43" Target="../media/image197.png" Type="http://schemas.openxmlformats.org/officeDocument/2006/relationships/image"/><Relationship Id="rId44" Target="../media/image198.png" Type="http://schemas.openxmlformats.org/officeDocument/2006/relationships/image"/><Relationship Id="rId45" Target="../media/image199.png" Type="http://schemas.openxmlformats.org/officeDocument/2006/relationships/image"/><Relationship Id="rId46" Target="../media/image200.png" Type="http://schemas.openxmlformats.org/officeDocument/2006/relationships/image"/><Relationship Id="rId47" Target="../media/image201.png" Type="http://schemas.openxmlformats.org/officeDocument/2006/relationships/image"/><Relationship Id="rId48" Target="../media/image202.png" Type="http://schemas.openxmlformats.org/officeDocument/2006/relationships/image"/><Relationship Id="rId49" Target="../media/image203.png" Type="http://schemas.openxmlformats.org/officeDocument/2006/relationships/image"/><Relationship Id="rId5" Target="../media/image159.png" Type="http://schemas.openxmlformats.org/officeDocument/2006/relationships/image"/><Relationship Id="rId50" Target="../media/image204.png" Type="http://schemas.openxmlformats.org/officeDocument/2006/relationships/image"/><Relationship Id="rId51" Target="../media/image205.png" Type="http://schemas.openxmlformats.org/officeDocument/2006/relationships/image"/><Relationship Id="rId52" Target="../media/image206.png" Type="http://schemas.openxmlformats.org/officeDocument/2006/relationships/image"/><Relationship Id="rId53" Target="../media/image207.png" Type="http://schemas.openxmlformats.org/officeDocument/2006/relationships/image"/><Relationship Id="rId54" Target="../media/image208.png" Type="http://schemas.openxmlformats.org/officeDocument/2006/relationships/image"/><Relationship Id="rId55" Target="../media/image209.png" Type="http://schemas.openxmlformats.org/officeDocument/2006/relationships/image"/><Relationship Id="rId56" Target="../media/image210.png" Type="http://schemas.openxmlformats.org/officeDocument/2006/relationships/image"/><Relationship Id="rId57" Target="../media/image211.png" Type="http://schemas.openxmlformats.org/officeDocument/2006/relationships/image"/><Relationship Id="rId58" Target="../media/image212.png" Type="http://schemas.openxmlformats.org/officeDocument/2006/relationships/image"/><Relationship Id="rId59" Target="../media/image213.png" Type="http://schemas.openxmlformats.org/officeDocument/2006/relationships/image"/><Relationship Id="rId6" Target="../media/image160.png" Type="http://schemas.openxmlformats.org/officeDocument/2006/relationships/image"/><Relationship Id="rId60" Target="../media/image214.svg" Type="http://schemas.openxmlformats.org/officeDocument/2006/relationships/image"/><Relationship Id="rId61" Target="../media/image215.png" Type="http://schemas.openxmlformats.org/officeDocument/2006/relationships/image"/><Relationship Id="rId7" Target="../media/image161.png" Type="http://schemas.openxmlformats.org/officeDocument/2006/relationships/image"/><Relationship Id="rId8" Target="../media/image162.png" Type="http://schemas.openxmlformats.org/officeDocument/2006/relationships/image"/><Relationship Id="rId9" Target="../media/image16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24.png" Type="http://schemas.openxmlformats.org/officeDocument/2006/relationships/image"/><Relationship Id="rId11" Target="../media/image225.png" Type="http://schemas.openxmlformats.org/officeDocument/2006/relationships/image"/><Relationship Id="rId12" Target="../media/image226.png" Type="http://schemas.openxmlformats.org/officeDocument/2006/relationships/image"/><Relationship Id="rId13" Target="../media/image227.png" Type="http://schemas.openxmlformats.org/officeDocument/2006/relationships/image"/><Relationship Id="rId14" Target="../media/image228.png" Type="http://schemas.openxmlformats.org/officeDocument/2006/relationships/image"/><Relationship Id="rId15" Target="../media/image229.png" Type="http://schemas.openxmlformats.org/officeDocument/2006/relationships/image"/><Relationship Id="rId16" Target="../media/image230.png" Type="http://schemas.openxmlformats.org/officeDocument/2006/relationships/image"/><Relationship Id="rId17" Target="../media/image231.png" Type="http://schemas.openxmlformats.org/officeDocument/2006/relationships/image"/><Relationship Id="rId18" Target="../media/image232.png" Type="http://schemas.openxmlformats.org/officeDocument/2006/relationships/image"/><Relationship Id="rId19" Target="../media/image233.png" Type="http://schemas.openxmlformats.org/officeDocument/2006/relationships/image"/><Relationship Id="rId2" Target="../media/image216.png" Type="http://schemas.openxmlformats.org/officeDocument/2006/relationships/image"/><Relationship Id="rId20" Target="../media/image234.png" Type="http://schemas.openxmlformats.org/officeDocument/2006/relationships/image"/><Relationship Id="rId21" Target="../media/image235.png" Type="http://schemas.openxmlformats.org/officeDocument/2006/relationships/image"/><Relationship Id="rId3" Target="../media/image217.png" Type="http://schemas.openxmlformats.org/officeDocument/2006/relationships/image"/><Relationship Id="rId4" Target="../media/image218.png" Type="http://schemas.openxmlformats.org/officeDocument/2006/relationships/image"/><Relationship Id="rId5" Target="../media/image219.png" Type="http://schemas.openxmlformats.org/officeDocument/2006/relationships/image"/><Relationship Id="rId6" Target="../media/image220.png" Type="http://schemas.openxmlformats.org/officeDocument/2006/relationships/image"/><Relationship Id="rId7" Target="../media/image221.png" Type="http://schemas.openxmlformats.org/officeDocument/2006/relationships/image"/><Relationship Id="rId8" Target="../media/image222.png" Type="http://schemas.openxmlformats.org/officeDocument/2006/relationships/image"/><Relationship Id="rId9" Target="../media/image223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6.png" Type="http://schemas.openxmlformats.org/officeDocument/2006/relationships/image"/><Relationship Id="rId3" Target="../media/image237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68096" y="1219338"/>
            <a:ext cx="10533888" cy="3877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859"/>
              </a:lnSpc>
            </a:pPr>
            <a:r>
              <a:rPr lang="en-US" sz="11599" b="true">
                <a:solidFill>
                  <a:srgbClr val="FFFF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STRATEGIC</a:t>
            </a:r>
          </a:p>
          <a:p>
            <a:pPr algn="l">
              <a:lnSpc>
                <a:spcPts val="9859"/>
              </a:lnSpc>
            </a:pPr>
            <a:r>
              <a:rPr lang="en-US" sz="11599" b="true">
                <a:solidFill>
                  <a:srgbClr val="FFFF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DEAL INTELLIGENCE ASSISTANT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68096" y="5032248"/>
            <a:ext cx="7699248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00C2CB"/>
                </a:solidFill>
                <a:latin typeface="Roboto Bold"/>
                <a:ea typeface="Roboto Bold"/>
                <a:cs typeface="Roboto Bold"/>
                <a:sym typeface="Roboto Bold"/>
              </a:rPr>
              <a:t>Agentic AI Engineering Walkthrough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647700" y="5781675"/>
            <a:ext cx="1752600" cy="219075"/>
          </a:xfrm>
          <a:custGeom>
            <a:avLst/>
            <a:gdLst/>
            <a:ahLst/>
            <a:cxnLst/>
            <a:rect r="r" b="b" t="t" l="l"/>
            <a:pathLst>
              <a:path h="219075" w="1752600">
                <a:moveTo>
                  <a:pt x="0" y="0"/>
                </a:moveTo>
                <a:lnTo>
                  <a:pt x="1752600" y="0"/>
                </a:lnTo>
                <a:lnTo>
                  <a:pt x="175260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68096" y="6245543"/>
            <a:ext cx="1481328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8"/>
              </a:lnSpc>
            </a:pPr>
            <a:r>
              <a:rPr lang="en-US" sz="2632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Grounded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2390775" y="6210300"/>
            <a:ext cx="228600" cy="438150"/>
          </a:xfrm>
          <a:custGeom>
            <a:avLst/>
            <a:gdLst/>
            <a:ahLst/>
            <a:cxnLst/>
            <a:rect r="r" b="b" t="t" l="l"/>
            <a:pathLst>
              <a:path h="438150" w="228600">
                <a:moveTo>
                  <a:pt x="0" y="0"/>
                </a:moveTo>
                <a:lnTo>
                  <a:pt x="228600" y="0"/>
                </a:lnTo>
                <a:lnTo>
                  <a:pt x="22860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743200" y="6245543"/>
            <a:ext cx="2761488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8"/>
              </a:lnSpc>
            </a:pPr>
            <a:r>
              <a:rPr lang="en-US" sz="2632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Permission-Aware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5657850" y="6210300"/>
            <a:ext cx="228600" cy="438150"/>
          </a:xfrm>
          <a:custGeom>
            <a:avLst/>
            <a:gdLst/>
            <a:ahLst/>
            <a:cxnLst/>
            <a:rect r="r" b="b" t="t" l="l"/>
            <a:pathLst>
              <a:path h="438150" w="228600">
                <a:moveTo>
                  <a:pt x="0" y="0"/>
                </a:moveTo>
                <a:lnTo>
                  <a:pt x="228600" y="0"/>
                </a:lnTo>
                <a:lnTo>
                  <a:pt x="22860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6016752" y="6255067"/>
            <a:ext cx="1664208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52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Observable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7829550" y="6210300"/>
            <a:ext cx="228600" cy="438150"/>
          </a:xfrm>
          <a:custGeom>
            <a:avLst/>
            <a:gdLst/>
            <a:ahLst/>
            <a:cxnLst/>
            <a:rect r="r" b="b" t="t" l="l"/>
            <a:pathLst>
              <a:path h="438150" w="228600">
                <a:moveTo>
                  <a:pt x="0" y="0"/>
                </a:moveTo>
                <a:lnTo>
                  <a:pt x="228600" y="0"/>
                </a:lnTo>
                <a:lnTo>
                  <a:pt x="22860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8193024" y="6245543"/>
            <a:ext cx="2615184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58"/>
              </a:lnSpc>
            </a:pPr>
            <a:r>
              <a:rPr lang="en-US" sz="2632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Human-Approved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647700" y="6858000"/>
            <a:ext cx="1971675" cy="1933575"/>
          </a:xfrm>
          <a:custGeom>
            <a:avLst/>
            <a:gdLst/>
            <a:ahLst/>
            <a:cxnLst/>
            <a:rect r="r" b="b" t="t" l="l"/>
            <a:pathLst>
              <a:path h="1933575" w="1971675">
                <a:moveTo>
                  <a:pt x="0" y="0"/>
                </a:moveTo>
                <a:lnTo>
                  <a:pt x="1971675" y="0"/>
                </a:lnTo>
                <a:lnTo>
                  <a:pt x="1971675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2651760" y="7435405"/>
            <a:ext cx="3255264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12"/>
              </a:lnSpc>
            </a:pPr>
            <a:r>
              <a:rPr lang="en-US" sz="3760" b="true">
                <a:solidFill>
                  <a:srgbClr val="00C2CB"/>
                </a:solidFill>
                <a:latin typeface="Roboto Bold"/>
                <a:ea typeface="Roboto Bold"/>
                <a:cs typeface="Roboto Bold"/>
                <a:sym typeface="Roboto Bold"/>
              </a:rPr>
              <a:t>Oded Goldberg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651760" y="8075105"/>
            <a:ext cx="448056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0"/>
              </a:lnSpc>
            </a:pPr>
            <a:r>
              <a:rPr lang="en-US" sz="24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Candidate — Agentic AI Engineer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85216" y="547317"/>
            <a:ext cx="16751808" cy="9223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27"/>
              </a:lnSpc>
            </a:pPr>
            <a:r>
              <a:rPr lang="en-US" b="true" sz="7679" spc="-230">
                <a:solidFill>
                  <a:srgbClr val="FFFF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FROM FRAGMENTED CONTEXT TO DECISION SUPPORT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85216" y="1494282"/>
            <a:ext cx="12161520" cy="5646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30"/>
              </a:lnSpc>
            </a:pPr>
            <a:r>
              <a:rPr lang="en-US" sz="4230" spc="-126" b="true">
                <a:solidFill>
                  <a:srgbClr val="FFFFFF"/>
                </a:solidFill>
                <a:latin typeface="Barlow SemiCondensed Semi-Bold"/>
                <a:ea typeface="Barlow SemiCondensed Semi-Bold"/>
                <a:cs typeface="Barlow SemiCondensed Semi-Bold"/>
                <a:sym typeface="Barlow SemiCondensed Semi-Bold"/>
              </a:rPr>
              <a:t>The challenge is not missing data. It is disconnected context.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647700" y="2352675"/>
            <a:ext cx="5238750" cy="1295400"/>
          </a:xfrm>
          <a:custGeom>
            <a:avLst/>
            <a:gdLst/>
            <a:ahLst/>
            <a:cxnLst/>
            <a:rect r="r" b="b" t="t" l="l"/>
            <a:pathLst>
              <a:path h="1295400" w="5238750">
                <a:moveTo>
                  <a:pt x="0" y="0"/>
                </a:moveTo>
                <a:lnTo>
                  <a:pt x="5238750" y="0"/>
                </a:lnTo>
                <a:lnTo>
                  <a:pt x="523875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85850" y="2571750"/>
            <a:ext cx="1095375" cy="857250"/>
          </a:xfrm>
          <a:custGeom>
            <a:avLst/>
            <a:gdLst/>
            <a:ahLst/>
            <a:cxnLst/>
            <a:rect r="r" b="b" t="t" l="l"/>
            <a:pathLst>
              <a:path h="857250" w="1095375">
                <a:moveTo>
                  <a:pt x="0" y="0"/>
                </a:moveTo>
                <a:lnTo>
                  <a:pt x="1095375" y="0"/>
                </a:lnTo>
                <a:lnTo>
                  <a:pt x="109537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505456" y="2832164"/>
            <a:ext cx="1847088" cy="481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600" spc="-107" b="true">
                <a:solidFill>
                  <a:srgbClr val="FFFFFF"/>
                </a:solidFill>
                <a:latin typeface="Barlow SemiCondensed Semi-Bold"/>
                <a:ea typeface="Barlow SemiCondensed Semi-Bold"/>
                <a:cs typeface="Barlow SemiCondensed Semi-Bold"/>
                <a:sym typeface="Barlow SemiCondensed Semi-Bold"/>
              </a:rPr>
              <a:t>Salesforce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647700" y="3638550"/>
            <a:ext cx="5238750" cy="1295400"/>
          </a:xfrm>
          <a:custGeom>
            <a:avLst/>
            <a:gdLst/>
            <a:ahLst/>
            <a:cxnLst/>
            <a:rect r="r" b="b" t="t" l="l"/>
            <a:pathLst>
              <a:path h="1295400" w="5238750">
                <a:moveTo>
                  <a:pt x="0" y="0"/>
                </a:moveTo>
                <a:lnTo>
                  <a:pt x="5238750" y="0"/>
                </a:lnTo>
                <a:lnTo>
                  <a:pt x="523875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04925" y="3857625"/>
            <a:ext cx="876300" cy="857250"/>
          </a:xfrm>
          <a:custGeom>
            <a:avLst/>
            <a:gdLst/>
            <a:ahLst/>
            <a:cxnLst/>
            <a:rect r="r" b="b" t="t" l="l"/>
            <a:pathLst>
              <a:path h="857250" w="876300">
                <a:moveTo>
                  <a:pt x="0" y="0"/>
                </a:moveTo>
                <a:lnTo>
                  <a:pt x="876300" y="0"/>
                </a:lnTo>
                <a:lnTo>
                  <a:pt x="876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2505456" y="3994594"/>
            <a:ext cx="1810512" cy="481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600" spc="-107" b="true">
                <a:solidFill>
                  <a:srgbClr val="FFFFFF"/>
                </a:solidFill>
                <a:latin typeface="Barlow SemiCondensed Semi-Bold"/>
                <a:ea typeface="Barlow SemiCondensed Semi-Bold"/>
                <a:cs typeface="Barlow SemiCondensed Semi-Bold"/>
                <a:sym typeface="Barlow SemiCondensed Semi-Bold"/>
              </a:rPr>
              <a:t>Gong calls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647700" y="4714875"/>
            <a:ext cx="5238750" cy="1285875"/>
          </a:xfrm>
          <a:custGeom>
            <a:avLst/>
            <a:gdLst/>
            <a:ahLst/>
            <a:cxnLst/>
            <a:rect r="r" b="b" t="t" l="l"/>
            <a:pathLst>
              <a:path h="1285875" w="5238750">
                <a:moveTo>
                  <a:pt x="0" y="0"/>
                </a:moveTo>
                <a:lnTo>
                  <a:pt x="5238750" y="0"/>
                </a:lnTo>
                <a:lnTo>
                  <a:pt x="523875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304925" y="4924425"/>
            <a:ext cx="876300" cy="866775"/>
          </a:xfrm>
          <a:custGeom>
            <a:avLst/>
            <a:gdLst/>
            <a:ahLst/>
            <a:cxnLst/>
            <a:rect r="r" b="b" t="t" l="l"/>
            <a:pathLst>
              <a:path h="866775" w="876300">
                <a:moveTo>
                  <a:pt x="0" y="0"/>
                </a:moveTo>
                <a:lnTo>
                  <a:pt x="876300" y="0"/>
                </a:lnTo>
                <a:lnTo>
                  <a:pt x="8763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2505456" y="5146739"/>
            <a:ext cx="2414016" cy="481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600" spc="-107" b="true">
                <a:solidFill>
                  <a:srgbClr val="FFFFFF"/>
                </a:solidFill>
                <a:latin typeface="Barlow SemiCondensed Semi-Bold"/>
                <a:ea typeface="Barlow SemiCondensed Semi-Bold"/>
                <a:cs typeface="Barlow SemiCondensed Semi-Bold"/>
                <a:sym typeface="Barlow SemiCondensed Semi-Bold"/>
              </a:rPr>
              <a:t>Slack updates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647700" y="6000750"/>
            <a:ext cx="5238750" cy="1285875"/>
          </a:xfrm>
          <a:custGeom>
            <a:avLst/>
            <a:gdLst/>
            <a:ahLst/>
            <a:cxnLst/>
            <a:rect r="r" b="b" t="t" l="l"/>
            <a:pathLst>
              <a:path h="1285875" w="5238750">
                <a:moveTo>
                  <a:pt x="0" y="0"/>
                </a:moveTo>
                <a:lnTo>
                  <a:pt x="5238750" y="0"/>
                </a:lnTo>
                <a:lnTo>
                  <a:pt x="523875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304925" y="6000750"/>
            <a:ext cx="657225" cy="1076325"/>
          </a:xfrm>
          <a:custGeom>
            <a:avLst/>
            <a:gdLst/>
            <a:ahLst/>
            <a:cxnLst/>
            <a:rect r="r" b="b" t="t" l="l"/>
            <a:pathLst>
              <a:path h="1076325" w="657225">
                <a:moveTo>
                  <a:pt x="0" y="0"/>
                </a:moveTo>
                <a:lnTo>
                  <a:pt x="657225" y="0"/>
                </a:lnTo>
                <a:lnTo>
                  <a:pt x="65722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2505456" y="6350317"/>
            <a:ext cx="2249424" cy="481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600" spc="-107" b="true">
                <a:solidFill>
                  <a:srgbClr val="FFFFFF"/>
                </a:solidFill>
                <a:latin typeface="Barlow SemiCondensed Semi-Bold"/>
                <a:ea typeface="Barlow SemiCondensed Semi-Bold"/>
                <a:cs typeface="Barlow SemiCondensed Semi-Bold"/>
                <a:sym typeface="Barlow SemiCondensed Semi-Bold"/>
              </a:rPr>
              <a:t>Pricing notes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647700" y="7067550"/>
            <a:ext cx="5238750" cy="1295400"/>
          </a:xfrm>
          <a:custGeom>
            <a:avLst/>
            <a:gdLst/>
            <a:ahLst/>
            <a:cxnLst/>
            <a:rect r="r" b="b" t="t" l="l"/>
            <a:pathLst>
              <a:path h="1295400" w="5238750">
                <a:moveTo>
                  <a:pt x="0" y="0"/>
                </a:moveTo>
                <a:lnTo>
                  <a:pt x="5238750" y="0"/>
                </a:lnTo>
                <a:lnTo>
                  <a:pt x="523875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304925" y="7286625"/>
            <a:ext cx="876300" cy="857250"/>
          </a:xfrm>
          <a:custGeom>
            <a:avLst/>
            <a:gdLst/>
            <a:ahLst/>
            <a:cxnLst/>
            <a:rect r="r" b="b" t="t" l="l"/>
            <a:pathLst>
              <a:path h="857250" w="876300">
                <a:moveTo>
                  <a:pt x="0" y="0"/>
                </a:moveTo>
                <a:lnTo>
                  <a:pt x="876300" y="0"/>
                </a:lnTo>
                <a:lnTo>
                  <a:pt x="876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2505456" y="7512749"/>
            <a:ext cx="2816352" cy="481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600" spc="-107" b="true">
                <a:solidFill>
                  <a:srgbClr val="FFFFFF"/>
                </a:solidFill>
                <a:latin typeface="Barlow SemiCondensed Semi-Bold"/>
                <a:ea typeface="Barlow SemiCondensed Semi-Bold"/>
                <a:cs typeface="Barlow SemiCondensed Semi-Bold"/>
                <a:sym typeface="Barlow SemiCondensed Semi-Bold"/>
              </a:rPr>
              <a:t>Deal Desk policy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6305550" y="4286250"/>
            <a:ext cx="4152900" cy="2143125"/>
          </a:xfrm>
          <a:custGeom>
            <a:avLst/>
            <a:gdLst/>
            <a:ahLst/>
            <a:cxnLst/>
            <a:rect r="r" b="b" t="t" l="l"/>
            <a:pathLst>
              <a:path h="2143125" w="4152900">
                <a:moveTo>
                  <a:pt x="0" y="0"/>
                </a:moveTo>
                <a:lnTo>
                  <a:pt x="4152900" y="0"/>
                </a:lnTo>
                <a:lnTo>
                  <a:pt x="4152900" y="2143125"/>
                </a:lnTo>
                <a:lnTo>
                  <a:pt x="0" y="21431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0448925" y="2143125"/>
            <a:ext cx="7191375" cy="6648450"/>
          </a:xfrm>
          <a:custGeom>
            <a:avLst/>
            <a:gdLst/>
            <a:ahLst/>
            <a:cxnLst/>
            <a:rect r="r" b="b" t="t" l="l"/>
            <a:pathLst>
              <a:path h="6648450" w="7191375">
                <a:moveTo>
                  <a:pt x="0" y="0"/>
                </a:moveTo>
                <a:lnTo>
                  <a:pt x="7191375" y="0"/>
                </a:lnTo>
                <a:lnTo>
                  <a:pt x="7191375" y="6648450"/>
                </a:lnTo>
                <a:lnTo>
                  <a:pt x="0" y="664845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1649456" y="2666105"/>
            <a:ext cx="4736592" cy="11931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00"/>
              </a:lnSpc>
            </a:pPr>
            <a:r>
              <a:rPr lang="en-US" b="true" sz="4600" spc="-138">
                <a:solidFill>
                  <a:srgbClr val="4AFFE9"/>
                </a:solidFill>
                <a:latin typeface="Barlow SemiCondensed Bold"/>
                <a:ea typeface="Barlow SemiCondensed Bold"/>
                <a:cs typeface="Barlow SemiCondensed Bold"/>
                <a:sym typeface="Barlow SemiCondensed Bold"/>
              </a:rPr>
              <a:t>STRATEGIC DEAL INTELLIGENCE BRIEF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11096625" y="3857625"/>
            <a:ext cx="666750" cy="857250"/>
          </a:xfrm>
          <a:custGeom>
            <a:avLst/>
            <a:gdLst/>
            <a:ahLst/>
            <a:cxnLst/>
            <a:rect r="r" b="b" t="t" l="l"/>
            <a:pathLst>
              <a:path h="857250" w="666750">
                <a:moveTo>
                  <a:pt x="0" y="0"/>
                </a:moveTo>
                <a:lnTo>
                  <a:pt x="666750" y="0"/>
                </a:lnTo>
                <a:lnTo>
                  <a:pt x="6667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1096625" y="4495800"/>
            <a:ext cx="666750" cy="866775"/>
          </a:xfrm>
          <a:custGeom>
            <a:avLst/>
            <a:gdLst/>
            <a:ahLst/>
            <a:cxnLst/>
            <a:rect r="r" b="b" t="t" l="l"/>
            <a:pathLst>
              <a:path h="866775" w="666750">
                <a:moveTo>
                  <a:pt x="0" y="0"/>
                </a:moveTo>
                <a:lnTo>
                  <a:pt x="666750" y="0"/>
                </a:lnTo>
                <a:lnTo>
                  <a:pt x="6667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1096625" y="5143500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1096625" y="5781675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1096625" y="6429375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1096625" y="7067550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1096625" y="7715250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2505456" y="9192520"/>
            <a:ext cx="13277088" cy="669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99"/>
              </a:lnSpc>
            </a:pPr>
            <a:r>
              <a:rPr lang="en-US" b="true" sz="4999" spc="-149">
                <a:solidFill>
                  <a:srgbClr val="4AFFE9"/>
                </a:solidFill>
                <a:latin typeface="Barlow SemiCondensed Semi-Bold"/>
                <a:ea typeface="Barlow SemiCondensed Semi-Bold"/>
                <a:cs typeface="Barlow SemiCondensed Semi-Bold"/>
                <a:sym typeface="Barlow SemiCondensed Semi-Bold"/>
              </a:rPr>
              <a:t>Faster preparation. Better grounding. Safer decisions.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015216" y="4044039"/>
            <a:ext cx="4133088" cy="4109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3"/>
              </a:lnSpc>
            </a:pPr>
            <a:r>
              <a:rPr lang="en-US" sz="3135" spc="-94" b="true">
                <a:solidFill>
                  <a:srgbClr val="FFFFFF"/>
                </a:solidFill>
                <a:latin typeface="Barlow SemiCondensed Semi-Bold"/>
                <a:ea typeface="Barlow SemiCondensed Semi-Bold"/>
                <a:cs typeface="Barlow SemiCondensed Semi-Bold"/>
                <a:sym typeface="Barlow SemiCondensed Semi-Bold"/>
              </a:rPr>
              <a:t>Deal state</a:t>
            </a:r>
          </a:p>
          <a:p>
            <a:pPr algn="l">
              <a:lnSpc>
                <a:spcPts val="4703"/>
              </a:lnSpc>
            </a:pPr>
            <a:r>
              <a:rPr lang="en-US" sz="3135" spc="-94" b="true">
                <a:solidFill>
                  <a:srgbClr val="FFFFFF"/>
                </a:solidFill>
                <a:latin typeface="Barlow SemiCondensed Semi-Bold"/>
                <a:ea typeface="Barlow SemiCondensed Semi-Bold"/>
                <a:cs typeface="Barlow SemiCondensed Semi-Bold"/>
                <a:sym typeface="Barlow SemiCondensed Semi-Bold"/>
              </a:rPr>
              <a:t>Buyer goals</a:t>
            </a:r>
          </a:p>
          <a:p>
            <a:pPr algn="l">
              <a:lnSpc>
                <a:spcPts val="4703"/>
              </a:lnSpc>
            </a:pPr>
            <a:r>
              <a:rPr lang="en-US" sz="3135" spc="-94" b="true">
                <a:solidFill>
                  <a:srgbClr val="FFFFFF"/>
                </a:solidFill>
                <a:latin typeface="Barlow SemiCondensed Semi-Bold"/>
                <a:ea typeface="Barlow SemiCondensed Semi-Bold"/>
                <a:cs typeface="Barlow SemiCondensed Semi-Bold"/>
                <a:sym typeface="Barlow SemiCondensed Semi-Bold"/>
              </a:rPr>
              <a:t>Stakeholders</a:t>
            </a:r>
          </a:p>
          <a:p>
            <a:pPr algn="l">
              <a:lnSpc>
                <a:spcPts val="4703"/>
              </a:lnSpc>
            </a:pPr>
            <a:r>
              <a:rPr lang="en-US" sz="3135" spc="-94" b="true">
                <a:solidFill>
                  <a:srgbClr val="FFFFFF"/>
                </a:solidFill>
                <a:latin typeface="Barlow SemiCondensed Semi-Bold"/>
                <a:ea typeface="Barlow SemiCondensed Semi-Bold"/>
                <a:cs typeface="Barlow SemiCondensed Semi-Bold"/>
                <a:sym typeface="Barlow SemiCondensed Semi-Bold"/>
              </a:rPr>
              <a:t>Negotiation risks</a:t>
            </a:r>
          </a:p>
          <a:p>
            <a:pPr algn="l">
              <a:lnSpc>
                <a:spcPts val="4703"/>
              </a:lnSpc>
            </a:pPr>
            <a:r>
              <a:rPr lang="en-US" sz="3135" spc="-94" b="true">
                <a:solidFill>
                  <a:srgbClr val="FFFFFF"/>
                </a:solidFill>
                <a:latin typeface="Barlow SemiCondensed Semi-Bold"/>
                <a:ea typeface="Barlow SemiCondensed Semi-Bold"/>
                <a:cs typeface="Barlow SemiCondensed Semi-Bold"/>
                <a:sym typeface="Barlow SemiCondensed Semi-Bold"/>
              </a:rPr>
              <a:t>Recommended next actions</a:t>
            </a:r>
          </a:p>
          <a:p>
            <a:pPr algn="l">
              <a:lnSpc>
                <a:spcPts val="4703"/>
              </a:lnSpc>
            </a:pPr>
            <a:r>
              <a:rPr lang="en-US" sz="3135" spc="-94" b="true">
                <a:solidFill>
                  <a:srgbClr val="FFFFFF"/>
                </a:solidFill>
                <a:latin typeface="Barlow SemiCondensed Semi-Bold"/>
                <a:ea typeface="Barlow SemiCondensed Semi-Bold"/>
                <a:cs typeface="Barlow SemiCondensed Semi-Bold"/>
                <a:sym typeface="Barlow SemiCondensed Semi-Bold"/>
              </a:rPr>
              <a:t>Missing information</a:t>
            </a:r>
          </a:p>
          <a:p>
            <a:pPr algn="l">
              <a:lnSpc>
                <a:spcPts val="4703"/>
              </a:lnSpc>
            </a:pPr>
            <a:r>
              <a:rPr lang="en-US" sz="3135" spc="-94" b="true">
                <a:solidFill>
                  <a:srgbClr val="FFFFFF"/>
                </a:solidFill>
                <a:latin typeface="Barlow SemiCondensed Semi-Bold"/>
                <a:ea typeface="Barlow SemiCondensed Semi-Bold"/>
                <a:cs typeface="Barlow SemiCondensed Semi-Bold"/>
                <a:sym typeface="Barlow SemiCondensed Semi-Bold"/>
              </a:rPr>
              <a:t>Supporting evidence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75488" y="85725"/>
            <a:ext cx="9765792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16"/>
              </a:lnSpc>
            </a:pPr>
            <a:r>
              <a:rPr lang="en-US" sz="5263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LOCAL PROTOTYPE ARCHITECTURE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93776" y="819150"/>
            <a:ext cx="740664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1"/>
              </a:lnSpc>
            </a:pPr>
            <a:r>
              <a:rPr lang="en-US" sz="2376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A governed agent workflow around live LLM reasoning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75488" y="2520125"/>
            <a:ext cx="2761488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true">
                <a:solidFill>
                  <a:srgbClr val="00C2CB"/>
                </a:solidFill>
                <a:latin typeface="Roboto Bold"/>
                <a:ea typeface="Roboto Bold"/>
                <a:cs typeface="Roboto Bold"/>
                <a:sym typeface="Roboto Bold"/>
              </a:rPr>
              <a:t>CORE PRINCIPLES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75488" y="3455289"/>
            <a:ext cx="731520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11"/>
              </a:lnSpc>
            </a:pPr>
            <a:r>
              <a:rPr lang="en-US" sz="4759" b="true">
                <a:solidFill>
                  <a:srgbClr val="00C2CB"/>
                </a:solidFill>
                <a:latin typeface="Roboto Bold"/>
                <a:ea typeface="Roboto Bold"/>
                <a:cs typeface="Roboto Bold"/>
                <a:sym typeface="Roboto Bold"/>
              </a:rPr>
              <a:t>01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45920" y="3376041"/>
            <a:ext cx="1938528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0"/>
              </a:lnSpc>
            </a:pPr>
            <a:r>
              <a:rPr lang="en-US" sz="2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Authorization Before Retriev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428625" y="4286250"/>
            <a:ext cx="3933825" cy="219075"/>
          </a:xfrm>
          <a:custGeom>
            <a:avLst/>
            <a:gdLst/>
            <a:ahLst/>
            <a:cxnLst/>
            <a:rect r="r" b="b" t="t" l="l"/>
            <a:pathLst>
              <a:path h="219075" w="3933825">
                <a:moveTo>
                  <a:pt x="0" y="0"/>
                </a:moveTo>
                <a:lnTo>
                  <a:pt x="3933825" y="0"/>
                </a:lnTo>
                <a:lnTo>
                  <a:pt x="393382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475488" y="4772025"/>
            <a:ext cx="731520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11"/>
              </a:lnSpc>
            </a:pPr>
            <a:r>
              <a:rPr lang="en-US" sz="4759" b="true">
                <a:solidFill>
                  <a:srgbClr val="00C2CB"/>
                </a:solidFill>
                <a:latin typeface="Roboto Bold"/>
                <a:ea typeface="Roboto Bold"/>
                <a:cs typeface="Roboto Bold"/>
                <a:sym typeface="Roboto Bold"/>
              </a:rPr>
              <a:t>02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45920" y="4795647"/>
            <a:ext cx="1426464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0"/>
              </a:lnSpc>
            </a:pPr>
            <a:r>
              <a:rPr lang="en-US" sz="2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Specialized Agents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28625" y="5781675"/>
            <a:ext cx="3933825" cy="219075"/>
          </a:xfrm>
          <a:custGeom>
            <a:avLst/>
            <a:gdLst/>
            <a:ahLst/>
            <a:cxnLst/>
            <a:rect r="r" b="b" t="t" l="l"/>
            <a:pathLst>
              <a:path h="219075" w="3933825">
                <a:moveTo>
                  <a:pt x="0" y="0"/>
                </a:moveTo>
                <a:lnTo>
                  <a:pt x="3933825" y="0"/>
                </a:lnTo>
                <a:lnTo>
                  <a:pt x="393382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475488" y="6294501"/>
            <a:ext cx="731520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11"/>
              </a:lnSpc>
            </a:pPr>
            <a:r>
              <a:rPr lang="en-US" sz="4759" b="true">
                <a:solidFill>
                  <a:srgbClr val="00C2CB"/>
                </a:solidFill>
                <a:latin typeface="Roboto Bold"/>
                <a:ea typeface="Roboto Bold"/>
                <a:cs typeface="Roboto Bold"/>
                <a:sym typeface="Roboto Bold"/>
              </a:rPr>
              <a:t>03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645920" y="6307836"/>
            <a:ext cx="2450592" cy="68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0"/>
              </a:lnSpc>
            </a:pPr>
            <a:r>
              <a:rPr lang="en-US" sz="2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Human Approval</a:t>
            </a:r>
          </a:p>
          <a:p>
            <a:pPr algn="l">
              <a:lnSpc>
                <a:spcPts val="2730"/>
              </a:lnSpc>
            </a:pPr>
            <a:r>
              <a:rPr lang="en-US" sz="2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for Sensitive Actions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428625" y="7286625"/>
            <a:ext cx="3933825" cy="219075"/>
          </a:xfrm>
          <a:custGeom>
            <a:avLst/>
            <a:gdLst/>
            <a:ahLst/>
            <a:cxnLst/>
            <a:rect r="r" b="b" t="t" l="l"/>
            <a:pathLst>
              <a:path h="219075" w="3933825">
                <a:moveTo>
                  <a:pt x="0" y="0"/>
                </a:moveTo>
                <a:lnTo>
                  <a:pt x="3933825" y="0"/>
                </a:lnTo>
                <a:lnTo>
                  <a:pt x="393382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475488" y="7806690"/>
            <a:ext cx="731520" cy="733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11"/>
              </a:lnSpc>
            </a:pPr>
            <a:r>
              <a:rPr lang="en-US" sz="4759" b="true">
                <a:solidFill>
                  <a:srgbClr val="00C2CB"/>
                </a:solidFill>
                <a:latin typeface="Roboto Bold"/>
                <a:ea typeface="Roboto Bold"/>
                <a:cs typeface="Roboto Bold"/>
                <a:sym typeface="Roboto Bold"/>
              </a:rPr>
              <a:t>04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645920" y="7899053"/>
            <a:ext cx="2670048" cy="5509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615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Observable by Design Metrics • Traces • Audit Trail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4572000" y="1066800"/>
            <a:ext cx="13287375" cy="9220200"/>
          </a:xfrm>
          <a:custGeom>
            <a:avLst/>
            <a:gdLst/>
            <a:ahLst/>
            <a:cxnLst/>
            <a:rect r="r" b="b" t="t" l="l"/>
            <a:pathLst>
              <a:path h="9220200" w="13287375">
                <a:moveTo>
                  <a:pt x="0" y="0"/>
                </a:moveTo>
                <a:lnTo>
                  <a:pt x="13287375" y="0"/>
                </a:lnTo>
                <a:lnTo>
                  <a:pt x="13287375" y="9220200"/>
                </a:lnTo>
                <a:lnTo>
                  <a:pt x="0" y="92202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6400800" y="9698164"/>
            <a:ext cx="2999232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03"/>
              </a:lnSpc>
            </a:pPr>
            <a:r>
              <a:rPr lang="en-US" b="true" sz="1919">
                <a:solidFill>
                  <a:srgbClr val="00C2CB"/>
                </a:solidFill>
                <a:latin typeface="Roboto Bold"/>
                <a:ea typeface="Roboto Bold"/>
                <a:cs typeface="Roboto Bold"/>
                <a:sym typeface="Roboto Bold"/>
              </a:rPr>
              <a:t>DETERMINISTIC CONTROL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9572625" y="9639300"/>
            <a:ext cx="1533525" cy="438150"/>
          </a:xfrm>
          <a:custGeom>
            <a:avLst/>
            <a:gdLst/>
            <a:ahLst/>
            <a:cxnLst/>
            <a:rect r="r" b="b" t="t" l="l"/>
            <a:pathLst>
              <a:path h="438150" w="1533525">
                <a:moveTo>
                  <a:pt x="0" y="0"/>
                </a:moveTo>
                <a:lnTo>
                  <a:pt x="1533525" y="0"/>
                </a:lnTo>
                <a:lnTo>
                  <a:pt x="153352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1430000" y="9702927"/>
            <a:ext cx="1627632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351"/>
              </a:lnSpc>
            </a:pPr>
            <a:r>
              <a:rPr lang="en-US" b="true" sz="1959">
                <a:solidFill>
                  <a:srgbClr val="00C2CB"/>
                </a:solidFill>
                <a:latin typeface="Roboto Bold"/>
                <a:ea typeface="Roboto Bold"/>
                <a:cs typeface="Roboto Bold"/>
                <a:sym typeface="Roboto Bold"/>
              </a:rPr>
              <a:t>AI JUDGMENT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7181850" y="1285875"/>
            <a:ext cx="3924300" cy="857250"/>
          </a:xfrm>
          <a:custGeom>
            <a:avLst/>
            <a:gdLst/>
            <a:ahLst/>
            <a:cxnLst/>
            <a:rect r="r" b="b" t="t" l="l"/>
            <a:pathLst>
              <a:path h="857250" w="3924300">
                <a:moveTo>
                  <a:pt x="0" y="0"/>
                </a:moveTo>
                <a:lnTo>
                  <a:pt x="3924300" y="0"/>
                </a:lnTo>
                <a:lnTo>
                  <a:pt x="3924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7400925" y="1495425"/>
            <a:ext cx="657225" cy="438150"/>
          </a:xfrm>
          <a:custGeom>
            <a:avLst/>
            <a:gdLst/>
            <a:ahLst/>
            <a:cxnLst/>
            <a:rect r="r" b="b" t="t" l="l"/>
            <a:pathLst>
              <a:path h="438150" w="657225">
                <a:moveTo>
                  <a:pt x="0" y="0"/>
                </a:moveTo>
                <a:lnTo>
                  <a:pt x="657225" y="0"/>
                </a:lnTo>
                <a:lnTo>
                  <a:pt x="65722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8174736" y="1595247"/>
            <a:ext cx="1847088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0"/>
              </a:lnSpc>
            </a:pPr>
            <a:r>
              <a:rPr lang="en-US" sz="160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User /CLI / Demo UI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8924925" y="1924050"/>
            <a:ext cx="438150" cy="438150"/>
          </a:xfrm>
          <a:custGeom>
            <a:avLst/>
            <a:gdLst/>
            <a:ahLst/>
            <a:cxnLst/>
            <a:rect r="r" b="b" t="t" l="l"/>
            <a:pathLst>
              <a:path h="438150" w="438150">
                <a:moveTo>
                  <a:pt x="0" y="0"/>
                </a:moveTo>
                <a:lnTo>
                  <a:pt x="438150" y="0"/>
                </a:lnTo>
                <a:lnTo>
                  <a:pt x="4381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7181850" y="2143125"/>
            <a:ext cx="3924300" cy="1285875"/>
          </a:xfrm>
          <a:custGeom>
            <a:avLst/>
            <a:gdLst/>
            <a:ahLst/>
            <a:cxnLst/>
            <a:rect r="r" b="b" t="t" l="l"/>
            <a:pathLst>
              <a:path h="1285875" w="3924300">
                <a:moveTo>
                  <a:pt x="0" y="0"/>
                </a:moveTo>
                <a:lnTo>
                  <a:pt x="3924300" y="0"/>
                </a:lnTo>
                <a:lnTo>
                  <a:pt x="392430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7400925" y="2352675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8924925" y="3209925"/>
            <a:ext cx="438150" cy="219075"/>
          </a:xfrm>
          <a:custGeom>
            <a:avLst/>
            <a:gdLst/>
            <a:ahLst/>
            <a:cxnLst/>
            <a:rect r="r" b="b" t="t" l="l"/>
            <a:pathLst>
              <a:path h="219075" w="438150">
                <a:moveTo>
                  <a:pt x="0" y="0"/>
                </a:moveTo>
                <a:lnTo>
                  <a:pt x="438150" y="0"/>
                </a:lnTo>
                <a:lnTo>
                  <a:pt x="4381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7181850" y="3209925"/>
            <a:ext cx="3486150" cy="866775"/>
          </a:xfrm>
          <a:custGeom>
            <a:avLst/>
            <a:gdLst/>
            <a:ahLst/>
            <a:cxnLst/>
            <a:rect r="r" b="b" t="t" l="l"/>
            <a:pathLst>
              <a:path h="866775" w="3486150">
                <a:moveTo>
                  <a:pt x="0" y="0"/>
                </a:moveTo>
                <a:lnTo>
                  <a:pt x="3486150" y="0"/>
                </a:lnTo>
                <a:lnTo>
                  <a:pt x="34861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400925" y="3429000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8924925" y="3857625"/>
            <a:ext cx="438150" cy="647700"/>
          </a:xfrm>
          <a:custGeom>
            <a:avLst/>
            <a:gdLst/>
            <a:ahLst/>
            <a:cxnLst/>
            <a:rect r="r" b="b" t="t" l="l"/>
            <a:pathLst>
              <a:path h="647700" w="43815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0448925" y="3429000"/>
            <a:ext cx="1743075" cy="428625"/>
          </a:xfrm>
          <a:custGeom>
            <a:avLst/>
            <a:gdLst/>
            <a:ahLst/>
            <a:cxnLst/>
            <a:rect r="r" b="b" t="t" l="l"/>
            <a:pathLst>
              <a:path h="428625" w="1743075">
                <a:moveTo>
                  <a:pt x="0" y="0"/>
                </a:moveTo>
                <a:lnTo>
                  <a:pt x="1743075" y="0"/>
                </a:lnTo>
                <a:lnTo>
                  <a:pt x="174307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11972925" y="3209925"/>
            <a:ext cx="1962150" cy="866775"/>
          </a:xfrm>
          <a:custGeom>
            <a:avLst/>
            <a:gdLst/>
            <a:ahLst/>
            <a:cxnLst/>
            <a:rect r="r" b="b" t="t" l="l"/>
            <a:pathLst>
              <a:path h="866775" w="1962150">
                <a:moveTo>
                  <a:pt x="0" y="0"/>
                </a:moveTo>
                <a:lnTo>
                  <a:pt x="1962150" y="0"/>
                </a:lnTo>
                <a:lnTo>
                  <a:pt x="19621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12192000" y="3429000"/>
            <a:ext cx="438150" cy="428625"/>
          </a:xfrm>
          <a:custGeom>
            <a:avLst/>
            <a:gdLst/>
            <a:ahLst/>
            <a:cxnLst/>
            <a:rect r="r" b="b" t="t" l="l"/>
            <a:pathLst>
              <a:path h="428625" w="438150">
                <a:moveTo>
                  <a:pt x="0" y="0"/>
                </a:moveTo>
                <a:lnTo>
                  <a:pt x="438150" y="0"/>
                </a:lnTo>
                <a:lnTo>
                  <a:pt x="4381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7181850" y="4286250"/>
            <a:ext cx="3924300" cy="1076325"/>
          </a:xfrm>
          <a:custGeom>
            <a:avLst/>
            <a:gdLst/>
            <a:ahLst/>
            <a:cxnLst/>
            <a:rect r="r" b="b" t="t" l="l"/>
            <a:pathLst>
              <a:path h="1076325" w="3924300">
                <a:moveTo>
                  <a:pt x="0" y="0"/>
                </a:moveTo>
                <a:lnTo>
                  <a:pt x="3924300" y="0"/>
                </a:lnTo>
                <a:lnTo>
                  <a:pt x="39243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7589520" y="4492752"/>
            <a:ext cx="2724912" cy="69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43"/>
              </a:lnSpc>
            </a:pPr>
            <a:r>
              <a:rPr lang="en-US" sz="1536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Governed Retriev</a:t>
            </a:r>
          </a:p>
          <a:p>
            <a:pPr algn="l">
              <a:lnSpc>
                <a:spcPts val="1843"/>
              </a:lnSpc>
            </a:pPr>
            <a:r>
              <a:rPr lang="en-US" sz="1536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BM25 + Dense + RAF</a:t>
            </a:r>
          </a:p>
          <a:p>
            <a:pPr algn="l">
              <a:lnSpc>
                <a:spcPts val="1843"/>
              </a:lnSpc>
            </a:pPr>
            <a:r>
              <a:rPr lang="en-US" sz="1536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Permission + Metadata Filters</a:t>
            </a:r>
          </a:p>
        </p:txBody>
      </p:sp>
      <p:sp>
        <p:nvSpPr>
          <p:cNvPr name="Freeform 35" id="35"/>
          <p:cNvSpPr/>
          <p:nvPr/>
        </p:nvSpPr>
        <p:spPr>
          <a:xfrm flipH="false" flipV="false" rot="0">
            <a:off x="6743700" y="4714875"/>
            <a:ext cx="666750" cy="219075"/>
          </a:xfrm>
          <a:custGeom>
            <a:avLst/>
            <a:gdLst/>
            <a:ahLst/>
            <a:cxnLst/>
            <a:rect r="r" b="b" t="t" l="l"/>
            <a:pathLst>
              <a:path h="219075" w="666750">
                <a:moveTo>
                  <a:pt x="0" y="0"/>
                </a:moveTo>
                <a:lnTo>
                  <a:pt x="666750" y="0"/>
                </a:lnTo>
                <a:lnTo>
                  <a:pt x="666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5000625" y="4286250"/>
            <a:ext cx="1971675" cy="857250"/>
          </a:xfrm>
          <a:custGeom>
            <a:avLst/>
            <a:gdLst/>
            <a:ahLst/>
            <a:cxnLst/>
            <a:rect r="r" b="b" t="t" l="l"/>
            <a:pathLst>
              <a:path h="857250" w="1971675">
                <a:moveTo>
                  <a:pt x="0" y="0"/>
                </a:moveTo>
                <a:lnTo>
                  <a:pt x="1971675" y="0"/>
                </a:lnTo>
                <a:lnTo>
                  <a:pt x="197167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5219700" y="4495800"/>
            <a:ext cx="447675" cy="647700"/>
          </a:xfrm>
          <a:custGeom>
            <a:avLst/>
            <a:gdLst/>
            <a:ahLst/>
            <a:cxnLst/>
            <a:rect r="r" b="b" t="t" l="l"/>
            <a:pathLst>
              <a:path h="647700" w="447675">
                <a:moveTo>
                  <a:pt x="0" y="0"/>
                </a:moveTo>
                <a:lnTo>
                  <a:pt x="447675" y="0"/>
                </a:lnTo>
                <a:lnTo>
                  <a:pt x="4476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Freeform 38" id="38"/>
          <p:cNvSpPr/>
          <p:nvPr/>
        </p:nvSpPr>
        <p:spPr>
          <a:xfrm flipH="false" flipV="false" rot="0">
            <a:off x="8924925" y="5143500"/>
            <a:ext cx="438150" cy="647700"/>
          </a:xfrm>
          <a:custGeom>
            <a:avLst/>
            <a:gdLst/>
            <a:ahLst/>
            <a:cxnLst/>
            <a:rect r="r" b="b" t="t" l="l"/>
            <a:pathLst>
              <a:path h="647700" w="43815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5000625" y="5572125"/>
            <a:ext cx="2619375" cy="857250"/>
          </a:xfrm>
          <a:custGeom>
            <a:avLst/>
            <a:gdLst/>
            <a:ahLst/>
            <a:cxnLst/>
            <a:rect r="r" b="b" t="t" l="l"/>
            <a:pathLst>
              <a:path h="857250" w="2619375">
                <a:moveTo>
                  <a:pt x="0" y="0"/>
                </a:moveTo>
                <a:lnTo>
                  <a:pt x="2619375" y="0"/>
                </a:lnTo>
                <a:lnTo>
                  <a:pt x="261937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</p:sp>
      <p:sp>
        <p:nvSpPr>
          <p:cNvPr name="Freeform 40" id="40"/>
          <p:cNvSpPr/>
          <p:nvPr/>
        </p:nvSpPr>
        <p:spPr>
          <a:xfrm flipH="false" flipV="false" rot="0">
            <a:off x="5219700" y="5781675"/>
            <a:ext cx="666750" cy="438150"/>
          </a:xfrm>
          <a:custGeom>
            <a:avLst/>
            <a:gdLst/>
            <a:ahLst/>
            <a:cxnLst/>
            <a:rect r="r" b="b" t="t" l="l"/>
            <a:pathLst>
              <a:path h="438150" w="666750">
                <a:moveTo>
                  <a:pt x="0" y="0"/>
                </a:moveTo>
                <a:lnTo>
                  <a:pt x="666750" y="0"/>
                </a:lnTo>
                <a:lnTo>
                  <a:pt x="6667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l="0" t="0" r="0" b="0"/>
            </a:stretch>
          </a:blipFill>
        </p:spPr>
      </p:sp>
      <p:sp>
        <p:nvSpPr>
          <p:cNvPr name="TextBox 41" id="41"/>
          <p:cNvSpPr txBox="true"/>
          <p:nvPr/>
        </p:nvSpPr>
        <p:spPr>
          <a:xfrm rot="0">
            <a:off x="6016752" y="5776150"/>
            <a:ext cx="1225296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0"/>
              </a:lnSpc>
            </a:pPr>
            <a:r>
              <a:rPr lang="en-US" sz="160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Deal Context</a:t>
            </a:r>
          </a:p>
          <a:p>
            <a:pPr algn="l">
              <a:lnSpc>
                <a:spcPts val="1920"/>
              </a:lnSpc>
            </a:pPr>
            <a:r>
              <a:rPr lang="en-US" sz="160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Agent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8924925" y="5572125"/>
            <a:ext cx="438150" cy="428625"/>
          </a:xfrm>
          <a:custGeom>
            <a:avLst/>
            <a:gdLst/>
            <a:ahLst/>
            <a:cxnLst/>
            <a:rect r="r" b="b" t="t" l="l"/>
            <a:pathLst>
              <a:path h="428625" w="438150">
                <a:moveTo>
                  <a:pt x="0" y="0"/>
                </a:moveTo>
                <a:lnTo>
                  <a:pt x="438150" y="0"/>
                </a:lnTo>
                <a:lnTo>
                  <a:pt x="4381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7829550" y="5572125"/>
            <a:ext cx="2628900" cy="857250"/>
          </a:xfrm>
          <a:custGeom>
            <a:avLst/>
            <a:gdLst/>
            <a:ahLst/>
            <a:cxnLst/>
            <a:rect r="r" b="b" t="t" l="l"/>
            <a:pathLst>
              <a:path h="857250" w="2628900">
                <a:moveTo>
                  <a:pt x="0" y="0"/>
                </a:moveTo>
                <a:lnTo>
                  <a:pt x="2628900" y="0"/>
                </a:lnTo>
                <a:lnTo>
                  <a:pt x="26289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8048625" y="5781675"/>
            <a:ext cx="447675" cy="438150"/>
          </a:xfrm>
          <a:custGeom>
            <a:avLst/>
            <a:gdLst/>
            <a:ahLst/>
            <a:cxnLst/>
            <a:rect r="r" b="b" t="t" l="l"/>
            <a:pathLst>
              <a:path h="438150" w="447675">
                <a:moveTo>
                  <a:pt x="0" y="0"/>
                </a:moveTo>
                <a:lnTo>
                  <a:pt x="447675" y="0"/>
                </a:lnTo>
                <a:lnTo>
                  <a:pt x="44767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l="0" t="0" r="0" b="0"/>
            </a:stretch>
          </a:blipFill>
        </p:spPr>
      </p:sp>
      <p:sp>
        <p:nvSpPr>
          <p:cNvPr name="TextBox 45" id="45"/>
          <p:cNvSpPr txBox="true"/>
          <p:nvPr/>
        </p:nvSpPr>
        <p:spPr>
          <a:xfrm rot="0">
            <a:off x="8613648" y="5804725"/>
            <a:ext cx="1554480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8"/>
              </a:lnSpc>
            </a:pPr>
            <a:r>
              <a:rPr lang="en-US" sz="144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Conversation</a:t>
            </a:r>
          </a:p>
          <a:p>
            <a:pPr algn="l">
              <a:lnSpc>
                <a:spcPts val="1728"/>
              </a:lnSpc>
            </a:pPr>
            <a:r>
              <a:rPr lang="en-US" sz="144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Intelligence Agent</a:t>
            </a:r>
          </a:p>
        </p:txBody>
      </p:sp>
      <p:sp>
        <p:nvSpPr>
          <p:cNvPr name="Freeform 46" id="46"/>
          <p:cNvSpPr/>
          <p:nvPr/>
        </p:nvSpPr>
        <p:spPr>
          <a:xfrm flipH="false" flipV="false" rot="0">
            <a:off x="8924925" y="6210300"/>
            <a:ext cx="438150" cy="647700"/>
          </a:xfrm>
          <a:custGeom>
            <a:avLst/>
            <a:gdLst/>
            <a:ahLst/>
            <a:cxnLst/>
            <a:rect r="r" b="b" t="t" l="l"/>
            <a:pathLst>
              <a:path h="647700" w="43815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l="0" t="0" r="0" b="0"/>
            </a:stretch>
          </a:blipFill>
        </p:spPr>
      </p:sp>
      <p:sp>
        <p:nvSpPr>
          <p:cNvPr name="Freeform 47" id="47"/>
          <p:cNvSpPr/>
          <p:nvPr/>
        </p:nvSpPr>
        <p:spPr>
          <a:xfrm flipH="false" flipV="false" rot="0">
            <a:off x="6305550" y="6210300"/>
            <a:ext cx="5676900" cy="438150"/>
          </a:xfrm>
          <a:custGeom>
            <a:avLst/>
            <a:gdLst/>
            <a:ahLst/>
            <a:cxnLst/>
            <a:rect r="r" b="b" t="t" l="l"/>
            <a:pathLst>
              <a:path h="438150" w="5676900">
                <a:moveTo>
                  <a:pt x="0" y="0"/>
                </a:moveTo>
                <a:lnTo>
                  <a:pt x="5676900" y="0"/>
                </a:lnTo>
                <a:lnTo>
                  <a:pt x="567690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 l="0" t="0" r="0" b="0"/>
            </a:stretch>
          </a:blipFill>
        </p:spPr>
      </p:sp>
      <p:sp>
        <p:nvSpPr>
          <p:cNvPr name="Freeform 48" id="48"/>
          <p:cNvSpPr/>
          <p:nvPr/>
        </p:nvSpPr>
        <p:spPr>
          <a:xfrm flipH="false" flipV="false" rot="0">
            <a:off x="7181850" y="6638925"/>
            <a:ext cx="3924300" cy="866775"/>
          </a:xfrm>
          <a:custGeom>
            <a:avLst/>
            <a:gdLst/>
            <a:ahLst/>
            <a:cxnLst/>
            <a:rect r="r" b="b" t="t" l="l"/>
            <a:pathLst>
              <a:path h="866775" w="3924300">
                <a:moveTo>
                  <a:pt x="0" y="0"/>
                </a:moveTo>
                <a:lnTo>
                  <a:pt x="3924300" y="0"/>
                </a:lnTo>
                <a:lnTo>
                  <a:pt x="39243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 l="0" t="0" r="0" b="0"/>
            </a:stretch>
          </a:blipFill>
        </p:spPr>
      </p:sp>
      <p:sp>
        <p:nvSpPr>
          <p:cNvPr name="Freeform 49" id="49"/>
          <p:cNvSpPr/>
          <p:nvPr/>
        </p:nvSpPr>
        <p:spPr>
          <a:xfrm flipH="false" flipV="false" rot="0">
            <a:off x="7400925" y="6858000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>
              <a:fillRect l="0" t="0" r="0" b="0"/>
            </a:stretch>
          </a:blipFill>
        </p:spPr>
      </p:sp>
      <p:sp>
        <p:nvSpPr>
          <p:cNvPr name="Freeform 50" id="50"/>
          <p:cNvSpPr/>
          <p:nvPr/>
        </p:nvSpPr>
        <p:spPr>
          <a:xfrm flipH="false" flipV="false" rot="0">
            <a:off x="8924925" y="7286625"/>
            <a:ext cx="438150" cy="428625"/>
          </a:xfrm>
          <a:custGeom>
            <a:avLst/>
            <a:gdLst/>
            <a:ahLst/>
            <a:cxnLst/>
            <a:rect r="r" b="b" t="t" l="l"/>
            <a:pathLst>
              <a:path h="428625" w="438150">
                <a:moveTo>
                  <a:pt x="0" y="0"/>
                </a:moveTo>
                <a:lnTo>
                  <a:pt x="438150" y="0"/>
                </a:lnTo>
                <a:lnTo>
                  <a:pt x="4381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 l="0" t="0" r="0" b="0"/>
            </a:stretch>
          </a:blipFill>
        </p:spPr>
      </p:sp>
      <p:sp>
        <p:nvSpPr>
          <p:cNvPr name="Freeform 51" id="51"/>
          <p:cNvSpPr/>
          <p:nvPr/>
        </p:nvSpPr>
        <p:spPr>
          <a:xfrm flipH="false" flipV="false" rot="0">
            <a:off x="7181850" y="7496175"/>
            <a:ext cx="3924300" cy="866775"/>
          </a:xfrm>
          <a:custGeom>
            <a:avLst/>
            <a:gdLst/>
            <a:ahLst/>
            <a:cxnLst/>
            <a:rect r="r" b="b" t="t" l="l"/>
            <a:pathLst>
              <a:path h="866775" w="3924300">
                <a:moveTo>
                  <a:pt x="0" y="0"/>
                </a:moveTo>
                <a:lnTo>
                  <a:pt x="3924300" y="0"/>
                </a:lnTo>
                <a:lnTo>
                  <a:pt x="39243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>
              <a:fillRect l="0" t="0" r="0" b="0"/>
            </a:stretch>
          </a:blipFill>
        </p:spPr>
      </p:sp>
      <p:sp>
        <p:nvSpPr>
          <p:cNvPr name="Freeform 52" id="52"/>
          <p:cNvSpPr/>
          <p:nvPr/>
        </p:nvSpPr>
        <p:spPr>
          <a:xfrm flipH="false" flipV="false" rot="0">
            <a:off x="7400925" y="7496175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>
              <a:fillRect l="0" t="0" r="0" b="0"/>
            </a:stretch>
          </a:blipFill>
        </p:spPr>
      </p:sp>
      <p:sp>
        <p:nvSpPr>
          <p:cNvPr name="TextBox 53" id="53"/>
          <p:cNvSpPr txBox="true"/>
          <p:nvPr/>
        </p:nvSpPr>
        <p:spPr>
          <a:xfrm rot="0">
            <a:off x="8174736" y="7646099"/>
            <a:ext cx="2267712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8"/>
              </a:lnSpc>
            </a:pPr>
            <a:r>
              <a:rPr lang="en-US" sz="144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Citation + Policy Validation</a:t>
            </a:r>
          </a:p>
          <a:p>
            <a:pPr algn="l">
              <a:lnSpc>
                <a:spcPts val="1728"/>
              </a:lnSpc>
            </a:pPr>
            <a:r>
              <a:rPr lang="en-US" sz="144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↓ Risk Check</a:t>
            </a:r>
          </a:p>
        </p:txBody>
      </p:sp>
      <p:sp>
        <p:nvSpPr>
          <p:cNvPr name="Freeform 54" id="54"/>
          <p:cNvSpPr/>
          <p:nvPr/>
        </p:nvSpPr>
        <p:spPr>
          <a:xfrm flipH="false" flipV="false" rot="0">
            <a:off x="6305550" y="7715250"/>
            <a:ext cx="228600" cy="857250"/>
          </a:xfrm>
          <a:custGeom>
            <a:avLst/>
            <a:gdLst/>
            <a:ahLst/>
            <a:cxnLst/>
            <a:rect r="r" b="b" t="t" l="l"/>
            <a:pathLst>
              <a:path h="857250" w="228600">
                <a:moveTo>
                  <a:pt x="0" y="0"/>
                </a:moveTo>
                <a:lnTo>
                  <a:pt x="228600" y="0"/>
                </a:lnTo>
                <a:lnTo>
                  <a:pt x="2286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>
              <a:fillRect l="0" t="0" r="0" b="0"/>
            </a:stretch>
          </a:blipFill>
        </p:spPr>
      </p:sp>
      <p:sp>
        <p:nvSpPr>
          <p:cNvPr name="TextBox 55" id="55"/>
          <p:cNvSpPr txBox="true"/>
          <p:nvPr/>
        </p:nvSpPr>
        <p:spPr>
          <a:xfrm rot="0">
            <a:off x="5797296" y="8160449"/>
            <a:ext cx="512064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7"/>
              </a:lnSpc>
            </a:pPr>
            <a:r>
              <a:rPr lang="en-US" sz="1189" b="true">
                <a:solidFill>
                  <a:srgbClr val="00C2CB"/>
                </a:solidFill>
                <a:latin typeface="Roboto Bold"/>
                <a:ea typeface="Roboto Bold"/>
                <a:cs typeface="Roboto Bold"/>
                <a:sym typeface="Roboto Bold"/>
              </a:rPr>
              <a:t>Normal</a:t>
            </a:r>
          </a:p>
        </p:txBody>
      </p:sp>
      <p:sp>
        <p:nvSpPr>
          <p:cNvPr name="Freeform 56" id="56"/>
          <p:cNvSpPr/>
          <p:nvPr/>
        </p:nvSpPr>
        <p:spPr>
          <a:xfrm flipH="false" flipV="false" rot="0">
            <a:off x="5219700" y="8353425"/>
            <a:ext cx="2400300" cy="866775"/>
          </a:xfrm>
          <a:custGeom>
            <a:avLst/>
            <a:gdLst/>
            <a:ahLst/>
            <a:cxnLst/>
            <a:rect r="r" b="b" t="t" l="l"/>
            <a:pathLst>
              <a:path h="866775" w="2400300">
                <a:moveTo>
                  <a:pt x="0" y="0"/>
                </a:moveTo>
                <a:lnTo>
                  <a:pt x="2400300" y="0"/>
                </a:lnTo>
                <a:lnTo>
                  <a:pt x="24003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>
              <a:fillRect l="0" t="0" r="0" b="0"/>
            </a:stretch>
          </a:blipFill>
        </p:spPr>
      </p:sp>
      <p:sp>
        <p:nvSpPr>
          <p:cNvPr name="Freeform 57" id="57"/>
          <p:cNvSpPr/>
          <p:nvPr/>
        </p:nvSpPr>
        <p:spPr>
          <a:xfrm flipH="false" flipV="false" rot="0">
            <a:off x="5438775" y="8572500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>
              <a:fillRect l="0" t="0" r="0" b="0"/>
            </a:stretch>
          </a:blipFill>
        </p:spPr>
      </p:sp>
      <p:sp>
        <p:nvSpPr>
          <p:cNvPr name="TextBox 58" id="58"/>
          <p:cNvSpPr txBox="true"/>
          <p:nvPr/>
        </p:nvSpPr>
        <p:spPr>
          <a:xfrm rot="0">
            <a:off x="6016752" y="8641652"/>
            <a:ext cx="1298448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9"/>
              </a:lnSpc>
            </a:pPr>
            <a:r>
              <a:rPr lang="en-US" sz="1315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Strategic Deal</a:t>
            </a:r>
          </a:p>
          <a:p>
            <a:pPr algn="l">
              <a:lnSpc>
                <a:spcPts val="1579"/>
              </a:lnSpc>
            </a:pPr>
            <a:r>
              <a:rPr lang="en-US" sz="1315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Intelligence Brief</a:t>
            </a:r>
          </a:p>
        </p:txBody>
      </p:sp>
      <p:sp>
        <p:nvSpPr>
          <p:cNvPr name="Freeform 59" id="59"/>
          <p:cNvSpPr/>
          <p:nvPr/>
        </p:nvSpPr>
        <p:spPr>
          <a:xfrm flipH="false" flipV="false" rot="0">
            <a:off x="10877550" y="7715250"/>
            <a:ext cx="1104900" cy="428625"/>
          </a:xfrm>
          <a:custGeom>
            <a:avLst/>
            <a:gdLst/>
            <a:ahLst/>
            <a:cxnLst/>
            <a:rect r="r" b="b" t="t" l="l"/>
            <a:pathLst>
              <a:path h="428625" w="1104900">
                <a:moveTo>
                  <a:pt x="0" y="0"/>
                </a:moveTo>
                <a:lnTo>
                  <a:pt x="1104900" y="0"/>
                </a:lnTo>
                <a:lnTo>
                  <a:pt x="11049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>
              <a:fillRect l="0" t="0" r="0" b="0"/>
            </a:stretch>
          </a:blipFill>
        </p:spPr>
      </p:sp>
      <p:sp>
        <p:nvSpPr>
          <p:cNvPr name="Freeform 60" id="60"/>
          <p:cNvSpPr/>
          <p:nvPr/>
        </p:nvSpPr>
        <p:spPr>
          <a:xfrm flipH="false" flipV="false" rot="0">
            <a:off x="10668000" y="7924800"/>
            <a:ext cx="2400300" cy="866775"/>
          </a:xfrm>
          <a:custGeom>
            <a:avLst/>
            <a:gdLst/>
            <a:ahLst/>
            <a:cxnLst/>
            <a:rect r="r" b="b" t="t" l="l"/>
            <a:pathLst>
              <a:path h="866775" w="2400300">
                <a:moveTo>
                  <a:pt x="0" y="0"/>
                </a:moveTo>
                <a:lnTo>
                  <a:pt x="2400300" y="0"/>
                </a:lnTo>
                <a:lnTo>
                  <a:pt x="24003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>
              <a:fillRect l="0" t="0" r="0" b="0"/>
            </a:stretch>
          </a:blipFill>
        </p:spPr>
      </p:sp>
      <p:sp>
        <p:nvSpPr>
          <p:cNvPr name="Freeform 61" id="61"/>
          <p:cNvSpPr/>
          <p:nvPr/>
        </p:nvSpPr>
        <p:spPr>
          <a:xfrm flipH="false" flipV="false" rot="0">
            <a:off x="10668000" y="8143875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>
              <a:fillRect l="0" t="0" r="0" b="0"/>
            </a:stretch>
          </a:blipFill>
        </p:spPr>
      </p:sp>
      <p:sp>
        <p:nvSpPr>
          <p:cNvPr name="TextBox 62" id="62"/>
          <p:cNvSpPr txBox="true"/>
          <p:nvPr/>
        </p:nvSpPr>
        <p:spPr>
          <a:xfrm rot="0">
            <a:off x="11320272" y="8261795"/>
            <a:ext cx="1554480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46"/>
              </a:lnSpc>
            </a:pPr>
            <a:r>
              <a:rPr lang="en-US" sz="1371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Human-in-the-Loop</a:t>
            </a:r>
          </a:p>
          <a:p>
            <a:pPr algn="l">
              <a:lnSpc>
                <a:spcPts val="1646"/>
              </a:lnSpc>
            </a:pPr>
            <a:r>
              <a:rPr lang="en-US" sz="1371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Approval</a:t>
            </a:r>
          </a:p>
        </p:txBody>
      </p:sp>
      <p:sp>
        <p:nvSpPr>
          <p:cNvPr name="Freeform 63" id="63"/>
          <p:cNvSpPr/>
          <p:nvPr/>
        </p:nvSpPr>
        <p:spPr>
          <a:xfrm flipH="false" flipV="false" rot="0">
            <a:off x="11753850" y="7924800"/>
            <a:ext cx="228600" cy="1076325"/>
          </a:xfrm>
          <a:custGeom>
            <a:avLst/>
            <a:gdLst/>
            <a:ahLst/>
            <a:cxnLst/>
            <a:rect r="r" b="b" t="t" l="l"/>
            <a:pathLst>
              <a:path h="1076325" w="228600">
                <a:moveTo>
                  <a:pt x="0" y="0"/>
                </a:moveTo>
                <a:lnTo>
                  <a:pt x="228600" y="0"/>
                </a:lnTo>
                <a:lnTo>
                  <a:pt x="228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>
              <a:fillRect l="0" t="0" r="0" b="0"/>
            </a:stretch>
          </a:blipFill>
        </p:spPr>
      </p:sp>
      <p:sp>
        <p:nvSpPr>
          <p:cNvPr name="Freeform 64" id="64"/>
          <p:cNvSpPr/>
          <p:nvPr/>
        </p:nvSpPr>
        <p:spPr>
          <a:xfrm flipH="false" flipV="false" rot="0">
            <a:off x="10668000" y="8782050"/>
            <a:ext cx="2400300" cy="866775"/>
          </a:xfrm>
          <a:custGeom>
            <a:avLst/>
            <a:gdLst/>
            <a:ahLst/>
            <a:cxnLst/>
            <a:rect r="r" b="b" t="t" l="l"/>
            <a:pathLst>
              <a:path h="866775" w="2400300">
                <a:moveTo>
                  <a:pt x="0" y="0"/>
                </a:moveTo>
                <a:lnTo>
                  <a:pt x="2400300" y="0"/>
                </a:lnTo>
                <a:lnTo>
                  <a:pt x="24003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>
              <a:fillRect l="0" t="0" r="0" b="0"/>
            </a:stretch>
          </a:blipFill>
        </p:spPr>
      </p:sp>
      <p:sp>
        <p:nvSpPr>
          <p:cNvPr name="Freeform 65" id="65"/>
          <p:cNvSpPr/>
          <p:nvPr/>
        </p:nvSpPr>
        <p:spPr>
          <a:xfrm flipH="false" flipV="false" rot="0">
            <a:off x="10668000" y="9001125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>
              <a:fillRect l="0" t="0" r="0" b="0"/>
            </a:stretch>
          </a:blipFill>
        </p:spPr>
      </p:sp>
      <p:sp>
        <p:nvSpPr>
          <p:cNvPr name="TextBox 66" id="66"/>
          <p:cNvSpPr txBox="true"/>
          <p:nvPr/>
        </p:nvSpPr>
        <p:spPr>
          <a:xfrm rot="0">
            <a:off x="11320272" y="9011984"/>
            <a:ext cx="1298448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9"/>
              </a:lnSpc>
            </a:pPr>
            <a:r>
              <a:rPr lang="en-US" sz="1315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Strategic Deal</a:t>
            </a:r>
          </a:p>
          <a:p>
            <a:pPr algn="l">
              <a:lnSpc>
                <a:spcPts val="1579"/>
              </a:lnSpc>
            </a:pPr>
            <a:r>
              <a:rPr lang="en-US" sz="1315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Intelligence Brief</a:t>
            </a:r>
          </a:p>
        </p:txBody>
      </p:sp>
      <p:sp>
        <p:nvSpPr>
          <p:cNvPr name="Freeform 67" id="67"/>
          <p:cNvSpPr/>
          <p:nvPr/>
        </p:nvSpPr>
        <p:spPr>
          <a:xfrm flipH="false" flipV="false" rot="0">
            <a:off x="14363700" y="1495425"/>
            <a:ext cx="3276600" cy="1076325"/>
          </a:xfrm>
          <a:custGeom>
            <a:avLst/>
            <a:gdLst/>
            <a:ahLst/>
            <a:cxnLst/>
            <a:rect r="r" b="b" t="t" l="l"/>
            <a:pathLst>
              <a:path h="1076325" w="3276600">
                <a:moveTo>
                  <a:pt x="0" y="0"/>
                </a:moveTo>
                <a:lnTo>
                  <a:pt x="3276600" y="0"/>
                </a:lnTo>
                <a:lnTo>
                  <a:pt x="3276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>
              <a:fillRect l="0" t="0" r="0" b="0"/>
            </a:stretch>
          </a:blipFill>
        </p:spPr>
      </p:sp>
      <p:sp>
        <p:nvSpPr>
          <p:cNvPr name="Freeform 68" id="68"/>
          <p:cNvSpPr/>
          <p:nvPr/>
        </p:nvSpPr>
        <p:spPr>
          <a:xfrm flipH="false" flipV="false" rot="0">
            <a:off x="14582775" y="1714500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>
              <a:fillRect l="0" t="0" r="0" b="0"/>
            </a:stretch>
          </a:blipFill>
        </p:spPr>
      </p:sp>
      <p:sp>
        <p:nvSpPr>
          <p:cNvPr name="TextBox 69" id="69"/>
          <p:cNvSpPr txBox="true"/>
          <p:nvPr/>
        </p:nvSpPr>
        <p:spPr>
          <a:xfrm rot="0">
            <a:off x="15398496" y="1875853"/>
            <a:ext cx="1719072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43"/>
              </a:lnSpc>
            </a:pPr>
            <a:r>
              <a:rPr lang="en-US" sz="1536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Local Config . env</a:t>
            </a:r>
          </a:p>
          <a:p>
            <a:pPr algn="l">
              <a:lnSpc>
                <a:spcPts val="1843"/>
              </a:lnSpc>
            </a:pPr>
            <a:r>
              <a:rPr lang="en-US" sz="1536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API Keys - Settings</a:t>
            </a:r>
          </a:p>
        </p:txBody>
      </p:sp>
      <p:sp>
        <p:nvSpPr>
          <p:cNvPr name="Freeform 70" id="70"/>
          <p:cNvSpPr/>
          <p:nvPr/>
        </p:nvSpPr>
        <p:spPr>
          <a:xfrm flipH="false" flipV="false" rot="0">
            <a:off x="13925550" y="1924050"/>
            <a:ext cx="666750" cy="438150"/>
          </a:xfrm>
          <a:custGeom>
            <a:avLst/>
            <a:gdLst/>
            <a:ahLst/>
            <a:cxnLst/>
            <a:rect r="r" b="b" t="t" l="l"/>
            <a:pathLst>
              <a:path h="438150" w="666750">
                <a:moveTo>
                  <a:pt x="0" y="0"/>
                </a:moveTo>
                <a:lnTo>
                  <a:pt x="666750" y="0"/>
                </a:lnTo>
                <a:lnTo>
                  <a:pt x="6667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>
              <a:fillRect l="0" t="0" r="0" b="0"/>
            </a:stretch>
          </a:blipFill>
        </p:spPr>
      </p:sp>
      <p:sp>
        <p:nvSpPr>
          <p:cNvPr name="Freeform 71" id="71"/>
          <p:cNvSpPr/>
          <p:nvPr/>
        </p:nvSpPr>
        <p:spPr>
          <a:xfrm flipH="false" flipV="false" rot="0">
            <a:off x="14363700" y="2571750"/>
            <a:ext cx="3276600" cy="1076325"/>
          </a:xfrm>
          <a:custGeom>
            <a:avLst/>
            <a:gdLst/>
            <a:ahLst/>
            <a:cxnLst/>
            <a:rect r="r" b="b" t="t" l="l"/>
            <a:pathLst>
              <a:path h="1076325" w="3276600">
                <a:moveTo>
                  <a:pt x="0" y="0"/>
                </a:moveTo>
                <a:lnTo>
                  <a:pt x="3276600" y="0"/>
                </a:lnTo>
                <a:lnTo>
                  <a:pt x="3276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>
              <a:fillRect l="0" t="0" r="0" b="0"/>
            </a:stretch>
          </a:blipFill>
        </p:spPr>
      </p:sp>
      <p:sp>
        <p:nvSpPr>
          <p:cNvPr name="Freeform 72" id="72"/>
          <p:cNvSpPr/>
          <p:nvPr/>
        </p:nvSpPr>
        <p:spPr>
          <a:xfrm flipH="false" flipV="false" rot="0">
            <a:off x="14582775" y="2781300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>
              <a:fillRect l="0" t="0" r="0" b="0"/>
            </a:stretch>
          </a:blipFill>
        </p:spPr>
      </p:sp>
      <p:sp>
        <p:nvSpPr>
          <p:cNvPr name="TextBox 73" id="73"/>
          <p:cNvSpPr txBox="true"/>
          <p:nvPr/>
        </p:nvSpPr>
        <p:spPr>
          <a:xfrm rot="0">
            <a:off x="15398496" y="2983801"/>
            <a:ext cx="107899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6"/>
              </a:lnSpc>
            </a:pPr>
            <a:r>
              <a:rPr lang="en-US" sz="128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Local Logs</a:t>
            </a:r>
          </a:p>
          <a:p>
            <a:pPr algn="l">
              <a:lnSpc>
                <a:spcPts val="1536"/>
              </a:lnSpc>
            </a:pPr>
            <a:r>
              <a:rPr lang="en-US" sz="128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Logs - Metrics</a:t>
            </a:r>
          </a:p>
        </p:txBody>
      </p:sp>
      <p:sp>
        <p:nvSpPr>
          <p:cNvPr name="Freeform 74" id="74"/>
          <p:cNvSpPr/>
          <p:nvPr/>
        </p:nvSpPr>
        <p:spPr>
          <a:xfrm flipH="false" flipV="false" rot="0">
            <a:off x="13925550" y="3000375"/>
            <a:ext cx="666750" cy="219075"/>
          </a:xfrm>
          <a:custGeom>
            <a:avLst/>
            <a:gdLst/>
            <a:ahLst/>
            <a:cxnLst/>
            <a:rect r="r" b="b" t="t" l="l"/>
            <a:pathLst>
              <a:path h="219075" w="666750">
                <a:moveTo>
                  <a:pt x="0" y="0"/>
                </a:moveTo>
                <a:lnTo>
                  <a:pt x="666750" y="0"/>
                </a:lnTo>
                <a:lnTo>
                  <a:pt x="666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>
              <a:fillRect l="0" t="0" r="0" b="0"/>
            </a:stretch>
          </a:blipFill>
        </p:spPr>
      </p:sp>
      <p:sp>
        <p:nvSpPr>
          <p:cNvPr name="Freeform 75" id="75"/>
          <p:cNvSpPr/>
          <p:nvPr/>
        </p:nvSpPr>
        <p:spPr>
          <a:xfrm flipH="false" flipV="false" rot="0">
            <a:off x="14363700" y="3638550"/>
            <a:ext cx="3276600" cy="1076325"/>
          </a:xfrm>
          <a:custGeom>
            <a:avLst/>
            <a:gdLst/>
            <a:ahLst/>
            <a:cxnLst/>
            <a:rect r="r" b="b" t="t" l="l"/>
            <a:pathLst>
              <a:path h="1076325" w="3276600">
                <a:moveTo>
                  <a:pt x="0" y="0"/>
                </a:moveTo>
                <a:lnTo>
                  <a:pt x="3276600" y="0"/>
                </a:lnTo>
                <a:lnTo>
                  <a:pt x="3276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>
              <a:fillRect l="0" t="0" r="0" b="0"/>
            </a:stretch>
          </a:blipFill>
        </p:spPr>
      </p:sp>
      <p:sp>
        <p:nvSpPr>
          <p:cNvPr name="Freeform 76" id="76"/>
          <p:cNvSpPr/>
          <p:nvPr/>
        </p:nvSpPr>
        <p:spPr>
          <a:xfrm flipH="false" flipV="false" rot="0">
            <a:off x="14582775" y="3857625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>
              <a:fillRect l="0" t="0" r="0" b="0"/>
            </a:stretch>
          </a:blipFill>
        </p:spPr>
      </p:sp>
      <p:sp>
        <p:nvSpPr>
          <p:cNvPr name="TextBox 77" id="77"/>
          <p:cNvSpPr txBox="true"/>
          <p:nvPr/>
        </p:nvSpPr>
        <p:spPr>
          <a:xfrm rot="0">
            <a:off x="15398496" y="4014787"/>
            <a:ext cx="950976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8"/>
              </a:lnSpc>
            </a:pPr>
            <a:r>
              <a:rPr lang="en-US" sz="144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Trace Files</a:t>
            </a:r>
          </a:p>
          <a:p>
            <a:pPr algn="l">
              <a:lnSpc>
                <a:spcPts val="1728"/>
              </a:lnSpc>
            </a:pPr>
            <a:r>
              <a:rPr lang="en-US" sz="144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Run Traces</a:t>
            </a:r>
          </a:p>
        </p:txBody>
      </p:sp>
      <p:sp>
        <p:nvSpPr>
          <p:cNvPr name="Freeform 78" id="78"/>
          <p:cNvSpPr/>
          <p:nvPr/>
        </p:nvSpPr>
        <p:spPr>
          <a:xfrm flipH="false" flipV="false" rot="0">
            <a:off x="13925550" y="4067175"/>
            <a:ext cx="666750" cy="219075"/>
          </a:xfrm>
          <a:custGeom>
            <a:avLst/>
            <a:gdLst/>
            <a:ahLst/>
            <a:cxnLst/>
            <a:rect r="r" b="b" t="t" l="l"/>
            <a:pathLst>
              <a:path h="219075" w="666750">
                <a:moveTo>
                  <a:pt x="0" y="0"/>
                </a:moveTo>
                <a:lnTo>
                  <a:pt x="666750" y="0"/>
                </a:lnTo>
                <a:lnTo>
                  <a:pt x="666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53"/>
            <a:stretch>
              <a:fillRect l="0" t="0" r="0" b="0"/>
            </a:stretch>
          </a:blipFill>
        </p:spPr>
      </p:sp>
      <p:sp>
        <p:nvSpPr>
          <p:cNvPr name="Freeform 79" id="79"/>
          <p:cNvSpPr/>
          <p:nvPr/>
        </p:nvSpPr>
        <p:spPr>
          <a:xfrm flipH="false" flipV="false" rot="0">
            <a:off x="14363700" y="4714875"/>
            <a:ext cx="3276600" cy="1285875"/>
          </a:xfrm>
          <a:custGeom>
            <a:avLst/>
            <a:gdLst/>
            <a:ahLst/>
            <a:cxnLst/>
            <a:rect r="r" b="b" t="t" l="l"/>
            <a:pathLst>
              <a:path h="1285875" w="3276600">
                <a:moveTo>
                  <a:pt x="0" y="0"/>
                </a:moveTo>
                <a:lnTo>
                  <a:pt x="3276600" y="0"/>
                </a:lnTo>
                <a:lnTo>
                  <a:pt x="327660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54"/>
            <a:stretch>
              <a:fillRect l="0" t="0" r="0" b="0"/>
            </a:stretch>
          </a:blipFill>
        </p:spPr>
      </p:sp>
      <p:sp>
        <p:nvSpPr>
          <p:cNvPr name="Freeform 80" id="80"/>
          <p:cNvSpPr/>
          <p:nvPr/>
        </p:nvSpPr>
        <p:spPr>
          <a:xfrm flipH="false" flipV="false" rot="0">
            <a:off x="14582775" y="5143500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55"/>
            <a:stretch>
              <a:fillRect l="0" t="0" r="0" b="0"/>
            </a:stretch>
          </a:blipFill>
        </p:spPr>
      </p:sp>
      <p:sp>
        <p:nvSpPr>
          <p:cNvPr name="TextBox 81" id="81"/>
          <p:cNvSpPr txBox="true"/>
          <p:nvPr/>
        </p:nvSpPr>
        <p:spPr>
          <a:xfrm rot="0">
            <a:off x="15398496" y="5055108"/>
            <a:ext cx="1993392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32"/>
              </a:lnSpc>
            </a:pPr>
            <a:r>
              <a:rPr lang="en-US" sz="136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Local State Store</a:t>
            </a:r>
          </a:p>
          <a:p>
            <a:pPr algn="l">
              <a:lnSpc>
                <a:spcPts val="1632"/>
              </a:lnSpc>
            </a:pPr>
            <a:r>
              <a:rPr lang="en-US" sz="136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Approvals - Checkpoints - Run Metadata</a:t>
            </a:r>
          </a:p>
        </p:txBody>
      </p:sp>
      <p:sp>
        <p:nvSpPr>
          <p:cNvPr name="Freeform 82" id="82"/>
          <p:cNvSpPr/>
          <p:nvPr/>
        </p:nvSpPr>
        <p:spPr>
          <a:xfrm flipH="false" flipV="false" rot="0">
            <a:off x="13925550" y="5143500"/>
            <a:ext cx="666750" cy="428625"/>
          </a:xfrm>
          <a:custGeom>
            <a:avLst/>
            <a:gdLst/>
            <a:ahLst/>
            <a:cxnLst/>
            <a:rect r="r" b="b" t="t" l="l"/>
            <a:pathLst>
              <a:path h="428625" w="666750">
                <a:moveTo>
                  <a:pt x="0" y="0"/>
                </a:moveTo>
                <a:lnTo>
                  <a:pt x="666750" y="0"/>
                </a:lnTo>
                <a:lnTo>
                  <a:pt x="666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56"/>
            <a:stretch>
              <a:fillRect l="0" t="0" r="0" b="0"/>
            </a:stretch>
          </a:blipFill>
        </p:spPr>
      </p:sp>
      <p:sp>
        <p:nvSpPr>
          <p:cNvPr name="Freeform 83" id="83"/>
          <p:cNvSpPr/>
          <p:nvPr/>
        </p:nvSpPr>
        <p:spPr>
          <a:xfrm flipH="false" flipV="false" rot="0">
            <a:off x="14363700" y="6000750"/>
            <a:ext cx="3276600" cy="1285875"/>
          </a:xfrm>
          <a:custGeom>
            <a:avLst/>
            <a:gdLst/>
            <a:ahLst/>
            <a:cxnLst/>
            <a:rect r="r" b="b" t="t" l="l"/>
            <a:pathLst>
              <a:path h="1285875" w="3276600">
                <a:moveTo>
                  <a:pt x="0" y="0"/>
                </a:moveTo>
                <a:lnTo>
                  <a:pt x="3276600" y="0"/>
                </a:lnTo>
                <a:lnTo>
                  <a:pt x="327660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57"/>
            <a:stretch>
              <a:fillRect l="0" t="0" r="0" b="0"/>
            </a:stretch>
          </a:blipFill>
        </p:spPr>
      </p:sp>
      <p:sp>
        <p:nvSpPr>
          <p:cNvPr name="Freeform 84" id="84"/>
          <p:cNvSpPr/>
          <p:nvPr/>
        </p:nvSpPr>
        <p:spPr>
          <a:xfrm flipH="false" flipV="false" rot="0">
            <a:off x="14582775" y="6429375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58"/>
            <a:stretch>
              <a:fillRect l="0" t="0" r="0" b="0"/>
            </a:stretch>
          </a:blipFill>
        </p:spPr>
      </p:sp>
      <p:sp>
        <p:nvSpPr>
          <p:cNvPr name="TextBox 85" id="85"/>
          <p:cNvSpPr txBox="true"/>
          <p:nvPr/>
        </p:nvSpPr>
        <p:spPr>
          <a:xfrm rot="0">
            <a:off x="15398496" y="6191250"/>
            <a:ext cx="1719072" cy="971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1"/>
              </a:lnSpc>
            </a:pPr>
            <a:r>
              <a:rPr lang="en-US" sz="1584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Local Files</a:t>
            </a:r>
          </a:p>
          <a:p>
            <a:pPr algn="l">
              <a:lnSpc>
                <a:spcPts val="1901"/>
              </a:lnSpc>
            </a:pPr>
            <a:r>
              <a:rPr lang="en-US" sz="1584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Source Documents - Generated Briefs - Run Artifacts</a:t>
            </a:r>
          </a:p>
        </p:txBody>
      </p:sp>
      <p:sp>
        <p:nvSpPr>
          <p:cNvPr name="Freeform 86" id="86"/>
          <p:cNvSpPr/>
          <p:nvPr/>
        </p:nvSpPr>
        <p:spPr>
          <a:xfrm flipH="false" flipV="false" rot="0">
            <a:off x="13925550" y="6429375"/>
            <a:ext cx="666750" cy="428625"/>
          </a:xfrm>
          <a:custGeom>
            <a:avLst/>
            <a:gdLst/>
            <a:ahLst/>
            <a:cxnLst/>
            <a:rect r="r" b="b" t="t" l="l"/>
            <a:pathLst>
              <a:path h="428625" w="666750">
                <a:moveTo>
                  <a:pt x="0" y="0"/>
                </a:moveTo>
                <a:lnTo>
                  <a:pt x="666750" y="0"/>
                </a:lnTo>
                <a:lnTo>
                  <a:pt x="666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59"/>
            <a:stretch>
              <a:fillRect l="0" t="0" r="0" b="0"/>
            </a:stretch>
          </a:blipFill>
        </p:spPr>
      </p:sp>
      <p:sp>
        <p:nvSpPr>
          <p:cNvPr name="Freeform 87" id="87"/>
          <p:cNvSpPr/>
          <p:nvPr/>
        </p:nvSpPr>
        <p:spPr>
          <a:xfrm flipH="false" flipV="false" rot="0">
            <a:off x="14363700" y="7286625"/>
            <a:ext cx="3276600" cy="1285875"/>
          </a:xfrm>
          <a:custGeom>
            <a:avLst/>
            <a:gdLst/>
            <a:ahLst/>
            <a:cxnLst/>
            <a:rect r="r" b="b" t="t" l="l"/>
            <a:pathLst>
              <a:path h="1285875" w="3276600">
                <a:moveTo>
                  <a:pt x="0" y="0"/>
                </a:moveTo>
                <a:lnTo>
                  <a:pt x="3276600" y="0"/>
                </a:lnTo>
                <a:lnTo>
                  <a:pt x="3276600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60"/>
            <a:stretch>
              <a:fillRect l="0" t="0" r="0" b="0"/>
            </a:stretch>
          </a:blipFill>
        </p:spPr>
      </p:sp>
      <p:sp>
        <p:nvSpPr>
          <p:cNvPr name="Freeform 88" id="88"/>
          <p:cNvSpPr/>
          <p:nvPr/>
        </p:nvSpPr>
        <p:spPr>
          <a:xfrm flipH="false" flipV="false" rot="0">
            <a:off x="14582775" y="7715250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61"/>
            <a:stretch>
              <a:fillRect l="0" t="0" r="0" b="0"/>
            </a:stretch>
          </a:blipFill>
        </p:spPr>
      </p:sp>
      <p:sp>
        <p:nvSpPr>
          <p:cNvPr name="TextBox 89" id="89"/>
          <p:cNvSpPr txBox="true"/>
          <p:nvPr/>
        </p:nvSpPr>
        <p:spPr>
          <a:xfrm rot="0">
            <a:off x="15398496" y="7618857"/>
            <a:ext cx="1481328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8"/>
              </a:lnSpc>
            </a:pPr>
            <a:r>
              <a:rPr lang="en-US" sz="144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Live LLM Provider</a:t>
            </a:r>
          </a:p>
          <a:p>
            <a:pPr algn="l">
              <a:lnSpc>
                <a:spcPts val="1728"/>
              </a:lnSpc>
            </a:pPr>
            <a:r>
              <a:rPr lang="en-US" sz="1440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LLM Reasoning / Agent Calls</a:t>
            </a:r>
          </a:p>
        </p:txBody>
      </p:sp>
      <p:sp>
        <p:nvSpPr>
          <p:cNvPr name="Freeform 90" id="90"/>
          <p:cNvSpPr/>
          <p:nvPr/>
        </p:nvSpPr>
        <p:spPr>
          <a:xfrm flipH="false" flipV="false" rot="0">
            <a:off x="13925550" y="7715250"/>
            <a:ext cx="666750" cy="428625"/>
          </a:xfrm>
          <a:custGeom>
            <a:avLst/>
            <a:gdLst/>
            <a:ahLst/>
            <a:cxnLst/>
            <a:rect r="r" b="b" t="t" l="l"/>
            <a:pathLst>
              <a:path h="428625" w="666750">
                <a:moveTo>
                  <a:pt x="0" y="0"/>
                </a:moveTo>
                <a:lnTo>
                  <a:pt x="666750" y="0"/>
                </a:lnTo>
                <a:lnTo>
                  <a:pt x="6667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62"/>
            <a:stretch>
              <a:fillRect l="0" t="0" r="0" b="0"/>
            </a:stretch>
          </a:blipFill>
        </p:spPr>
      </p:sp>
      <p:sp>
        <p:nvSpPr>
          <p:cNvPr name="TextBox 91" id="91"/>
          <p:cNvSpPr txBox="true"/>
          <p:nvPr/>
        </p:nvSpPr>
        <p:spPr>
          <a:xfrm rot="0">
            <a:off x="8174736" y="2432113"/>
            <a:ext cx="2267712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2"/>
              </a:lnSpc>
            </a:pPr>
            <a:r>
              <a:rPr lang="en-US" sz="1568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Local Application Service</a:t>
            </a:r>
          </a:p>
          <a:p>
            <a:pPr algn="l">
              <a:lnSpc>
                <a:spcPts val="1882"/>
              </a:lnSpc>
            </a:pPr>
            <a:r>
              <a:rPr lang="en-US" sz="1568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LangGraph Orchestration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8174736" y="2940177"/>
            <a:ext cx="2395728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11"/>
              </a:lnSpc>
            </a:pPr>
            <a:r>
              <a:rPr lang="en-US" sz="1259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Typed State - Pydantic Contracts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8174736" y="3538728"/>
            <a:ext cx="1682496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2"/>
              </a:lnSpc>
            </a:pPr>
            <a:r>
              <a:rPr lang="en-US" sz="1568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Authorization Gate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8229600" y="4121277"/>
            <a:ext cx="1389888" cy="152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52"/>
              </a:lnSpc>
            </a:pPr>
            <a:r>
              <a:rPr lang="en-US" sz="960" b="true">
                <a:solidFill>
                  <a:srgbClr val="00C2CB"/>
                </a:solidFill>
                <a:latin typeface="Roboto Bold"/>
                <a:ea typeface="Roboto Bold"/>
                <a:cs typeface="Roboto Bold"/>
                <a:sym typeface="Roboto Bold"/>
              </a:rPr>
              <a:t>Authorized - Authorized</a:t>
            </a:r>
          </a:p>
        </p:txBody>
      </p:sp>
      <p:sp>
        <p:nvSpPr>
          <p:cNvPr name="TextBox 95" id="95"/>
          <p:cNvSpPr txBox="true"/>
          <p:nvPr/>
        </p:nvSpPr>
        <p:spPr>
          <a:xfrm rot="0">
            <a:off x="11521440" y="5776150"/>
            <a:ext cx="109728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1"/>
              </a:lnSpc>
            </a:pPr>
            <a:r>
              <a:rPr lang="en-US" sz="1584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Stakeholder</a:t>
            </a:r>
          </a:p>
          <a:p>
            <a:pPr algn="l">
              <a:lnSpc>
                <a:spcPts val="1901"/>
              </a:lnSpc>
            </a:pPr>
            <a:r>
              <a:rPr lang="en-US" sz="1584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Map Agent</a:t>
            </a:r>
          </a:p>
        </p:txBody>
      </p:sp>
      <p:sp>
        <p:nvSpPr>
          <p:cNvPr name="TextBox 96" id="96"/>
          <p:cNvSpPr txBox="true"/>
          <p:nvPr/>
        </p:nvSpPr>
        <p:spPr>
          <a:xfrm rot="0">
            <a:off x="8091297" y="6938200"/>
            <a:ext cx="2395728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43"/>
              </a:lnSpc>
            </a:pPr>
            <a:r>
              <a:rPr lang="en-US" sz="1536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Negotiation Strategy Agent</a:t>
            </a:r>
          </a:p>
        </p:txBody>
      </p:sp>
      <p:sp>
        <p:nvSpPr>
          <p:cNvPr name="TextBox 97" id="97"/>
          <p:cNvSpPr txBox="true"/>
          <p:nvPr/>
        </p:nvSpPr>
        <p:spPr>
          <a:xfrm rot="0">
            <a:off x="11100816" y="7882699"/>
            <a:ext cx="694944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79"/>
              </a:lnSpc>
            </a:pPr>
            <a:r>
              <a:rPr lang="en-US" sz="1315" b="true">
                <a:solidFill>
                  <a:srgbClr val="00C2CB"/>
                </a:solidFill>
                <a:latin typeface="Roboto Bold"/>
                <a:ea typeface="Roboto Bold"/>
                <a:cs typeface="Roboto Bold"/>
                <a:sym typeface="Roboto Bold"/>
              </a:rPr>
              <a:t>Sensitive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10789920" y="3521011"/>
            <a:ext cx="950976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427"/>
              </a:lnSpc>
            </a:pPr>
            <a:r>
              <a:rPr lang="en-US" sz="1189" b="true">
                <a:solidFill>
                  <a:srgbClr val="00C2CB"/>
                </a:solidFill>
                <a:latin typeface="Roboto Bold"/>
                <a:ea typeface="Roboto Bold"/>
                <a:cs typeface="Roboto Bold"/>
                <a:sym typeface="Roboto Bold"/>
              </a:rPr>
              <a:t>Unauthorized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12563856" y="3575559"/>
            <a:ext cx="950976" cy="2856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19"/>
              </a:lnSpc>
            </a:pPr>
            <a:r>
              <a:rPr lang="en-US" sz="1119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Access Denied</a:t>
            </a:r>
          </a:p>
          <a:p>
            <a:pPr algn="ctr">
              <a:lnSpc>
                <a:spcPts val="1119"/>
              </a:lnSpc>
            </a:pPr>
            <a:r>
              <a:rPr lang="en-US" sz="1119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→ End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5767388" y="4562475"/>
            <a:ext cx="1971675" cy="69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68"/>
              </a:lnSpc>
              <a:spcBef>
                <a:spcPct val="0"/>
              </a:spcBef>
            </a:pPr>
            <a:r>
              <a:rPr lang="en-US" b="true" sz="114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Qd</a:t>
            </a:r>
            <a:r>
              <a:rPr lang="en-US" b="true" sz="114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rant</a:t>
            </a:r>
          </a:p>
          <a:p>
            <a:pPr algn="l">
              <a:lnSpc>
                <a:spcPts val="1368"/>
              </a:lnSpc>
              <a:spcBef>
                <a:spcPct val="0"/>
              </a:spcBef>
            </a:pPr>
            <a:r>
              <a:rPr lang="en-US" b="true" sz="114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Evidence </a:t>
            </a:r>
          </a:p>
          <a:p>
            <a:pPr algn="l">
              <a:lnSpc>
                <a:spcPts val="1368"/>
              </a:lnSpc>
              <a:spcBef>
                <a:spcPct val="0"/>
              </a:spcBef>
            </a:pPr>
            <a:r>
              <a:rPr lang="en-US" b="true" sz="1140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Vector Store</a:t>
            </a:r>
          </a:p>
          <a:p>
            <a:pPr algn="l">
              <a:lnSpc>
                <a:spcPts val="1368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21792" y="644786"/>
            <a:ext cx="13185648" cy="1857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44"/>
              </a:lnSpc>
            </a:pPr>
            <a:r>
              <a:rPr lang="en-US" sz="7144" b="true">
                <a:solidFill>
                  <a:srgbClr val="FFFFFF"/>
                </a:solidFill>
                <a:latin typeface="Farro Bold"/>
                <a:ea typeface="Farro Bold"/>
                <a:cs typeface="Farro Bold"/>
                <a:sym typeface="Farro Bold"/>
              </a:rPr>
              <a:t>AUTHORIZATION BEFORE EVIDENCE REACHES THE MODEL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21792" y="2442356"/>
            <a:ext cx="12984480" cy="5315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00"/>
              </a:lnSpc>
            </a:pPr>
            <a:r>
              <a:rPr lang="en-US" sz="3071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Security is enforced before retrieval — not delegated to the prompt.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21792" y="3319139"/>
            <a:ext cx="4279392" cy="5473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9"/>
              </a:lnSpc>
            </a:pPr>
            <a:r>
              <a:rPr lang="en-US" sz="3199" b="true">
                <a:solidFill>
                  <a:srgbClr val="00D9F4"/>
                </a:solidFill>
                <a:latin typeface="DM Sans Bold"/>
                <a:ea typeface="DM Sans Bold"/>
                <a:cs typeface="DM Sans Bold"/>
                <a:sym typeface="DM Sans Bold"/>
              </a:rPr>
              <a:t>SECURITY PRINCIPLES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28625" y="3857625"/>
            <a:ext cx="5667375" cy="1504950"/>
          </a:xfrm>
          <a:custGeom>
            <a:avLst/>
            <a:gdLst/>
            <a:ahLst/>
            <a:cxnLst/>
            <a:rect r="r" b="b" t="t" l="l"/>
            <a:pathLst>
              <a:path h="1504950" w="5667375">
                <a:moveTo>
                  <a:pt x="0" y="0"/>
                </a:moveTo>
                <a:lnTo>
                  <a:pt x="5667375" y="0"/>
                </a:lnTo>
                <a:lnTo>
                  <a:pt x="56673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66775" y="4067175"/>
            <a:ext cx="657225" cy="866775"/>
          </a:xfrm>
          <a:custGeom>
            <a:avLst/>
            <a:gdLst/>
            <a:ahLst/>
            <a:cxnLst/>
            <a:rect r="r" b="b" t="t" l="l"/>
            <a:pathLst>
              <a:path h="866775" w="657225">
                <a:moveTo>
                  <a:pt x="0" y="0"/>
                </a:moveTo>
                <a:lnTo>
                  <a:pt x="657225" y="0"/>
                </a:lnTo>
                <a:lnTo>
                  <a:pt x="657225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792224" y="4440365"/>
            <a:ext cx="3401568" cy="2975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9"/>
              </a:lnSpc>
            </a:pPr>
            <a:r>
              <a:rPr lang="en-US" sz="1785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Authorization Before Retrieval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428625" y="5143500"/>
            <a:ext cx="5667375" cy="1504950"/>
          </a:xfrm>
          <a:custGeom>
            <a:avLst/>
            <a:gdLst/>
            <a:ahLst/>
            <a:cxnLst/>
            <a:rect r="r" b="b" t="t" l="l"/>
            <a:pathLst>
              <a:path h="1504950" w="5667375">
                <a:moveTo>
                  <a:pt x="0" y="0"/>
                </a:moveTo>
                <a:lnTo>
                  <a:pt x="5667375" y="0"/>
                </a:lnTo>
                <a:lnTo>
                  <a:pt x="56673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66775" y="5572125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428625" y="6429375"/>
            <a:ext cx="5667375" cy="1504950"/>
          </a:xfrm>
          <a:custGeom>
            <a:avLst/>
            <a:gdLst/>
            <a:ahLst/>
            <a:cxnLst/>
            <a:rect r="r" b="b" t="t" l="l"/>
            <a:pathLst>
              <a:path h="1504950" w="5667375">
                <a:moveTo>
                  <a:pt x="0" y="0"/>
                </a:moveTo>
                <a:lnTo>
                  <a:pt x="5667375" y="0"/>
                </a:lnTo>
                <a:lnTo>
                  <a:pt x="56673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866775" y="6858000"/>
            <a:ext cx="657225" cy="857250"/>
          </a:xfrm>
          <a:custGeom>
            <a:avLst/>
            <a:gdLst/>
            <a:ahLst/>
            <a:cxnLst/>
            <a:rect r="r" b="b" t="t" l="l"/>
            <a:pathLst>
              <a:path h="857250" w="657225">
                <a:moveTo>
                  <a:pt x="0" y="0"/>
                </a:moveTo>
                <a:lnTo>
                  <a:pt x="657225" y="0"/>
                </a:lnTo>
                <a:lnTo>
                  <a:pt x="6572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792224" y="6939153"/>
            <a:ext cx="3986784" cy="621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06"/>
              </a:lnSpc>
            </a:pPr>
            <a:r>
              <a:rPr lang="en-US" sz="179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Unauthorized Restricted Data Never Enters Model Context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428625" y="7924800"/>
            <a:ext cx="5667375" cy="1504950"/>
          </a:xfrm>
          <a:custGeom>
            <a:avLst/>
            <a:gdLst/>
            <a:ahLst/>
            <a:cxnLst/>
            <a:rect r="r" b="b" t="t" l="l"/>
            <a:pathLst>
              <a:path h="1504950" w="5667375">
                <a:moveTo>
                  <a:pt x="0" y="0"/>
                </a:moveTo>
                <a:lnTo>
                  <a:pt x="5667375" y="0"/>
                </a:lnTo>
                <a:lnTo>
                  <a:pt x="56673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866775" y="8353425"/>
            <a:ext cx="657225" cy="866775"/>
          </a:xfrm>
          <a:custGeom>
            <a:avLst/>
            <a:gdLst/>
            <a:ahLst/>
            <a:cxnLst/>
            <a:rect r="r" b="b" t="t" l="l"/>
            <a:pathLst>
              <a:path h="866775" w="657225">
                <a:moveTo>
                  <a:pt x="0" y="0"/>
                </a:moveTo>
                <a:lnTo>
                  <a:pt x="657225" y="0"/>
                </a:lnTo>
                <a:lnTo>
                  <a:pt x="657225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792224" y="8527161"/>
            <a:ext cx="3767328" cy="3234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5"/>
              </a:lnSpc>
            </a:pPr>
            <a:r>
              <a:rPr lang="en-US" sz="1889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Clean Denial • No Partial Answer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6305550" y="3000375"/>
            <a:ext cx="11334750" cy="6858000"/>
          </a:xfrm>
          <a:custGeom>
            <a:avLst/>
            <a:gdLst/>
            <a:ahLst/>
            <a:cxnLst/>
            <a:rect r="r" b="b" t="t" l="l"/>
            <a:pathLst>
              <a:path h="6858000" w="11334750">
                <a:moveTo>
                  <a:pt x="0" y="0"/>
                </a:moveTo>
                <a:lnTo>
                  <a:pt x="11334750" y="0"/>
                </a:lnTo>
                <a:lnTo>
                  <a:pt x="1133475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9710928" y="3484664"/>
            <a:ext cx="3675888" cy="3477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1"/>
              </a:lnSpc>
            </a:pPr>
            <a:r>
              <a:rPr lang="en-US" b="true" sz="2058">
                <a:solidFill>
                  <a:srgbClr val="00D9F4"/>
                </a:solidFill>
                <a:latin typeface="DM Sans Bold"/>
                <a:ea typeface="DM Sans Bold"/>
                <a:cs typeface="DM Sans Bold"/>
                <a:sym typeface="DM Sans Bold"/>
              </a:rPr>
              <a:t>ENFORCE BEFORE RETRIEVAL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6524625" y="3857625"/>
            <a:ext cx="2190750" cy="1933575"/>
          </a:xfrm>
          <a:custGeom>
            <a:avLst/>
            <a:gdLst/>
            <a:ahLst/>
            <a:cxnLst/>
            <a:rect r="r" b="b" t="t" l="l"/>
            <a:pathLst>
              <a:path h="1933575" w="2190750">
                <a:moveTo>
                  <a:pt x="0" y="0"/>
                </a:moveTo>
                <a:lnTo>
                  <a:pt x="2190750" y="0"/>
                </a:lnTo>
                <a:lnTo>
                  <a:pt x="219075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743700" y="4495800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7418451" y="4525137"/>
            <a:ext cx="841248" cy="789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6"/>
              </a:lnSpc>
            </a:pPr>
            <a:r>
              <a:rPr lang="en-US" sz="162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User /</a:t>
            </a:r>
          </a:p>
          <a:p>
            <a:pPr algn="ctr">
              <a:lnSpc>
                <a:spcPts val="2106"/>
              </a:lnSpc>
            </a:pPr>
            <a:r>
              <a:rPr lang="en-US" sz="162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CLI /</a:t>
            </a:r>
          </a:p>
          <a:p>
            <a:pPr algn="ctr">
              <a:lnSpc>
                <a:spcPts val="2106"/>
              </a:lnSpc>
            </a:pPr>
            <a:r>
              <a:rPr lang="en-US" sz="162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Demo UI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8924925" y="4067175"/>
            <a:ext cx="2619375" cy="1295400"/>
          </a:xfrm>
          <a:custGeom>
            <a:avLst/>
            <a:gdLst/>
            <a:ahLst/>
            <a:cxnLst/>
            <a:rect r="r" b="b" t="t" l="l"/>
            <a:pathLst>
              <a:path h="1295400" w="2619375">
                <a:moveTo>
                  <a:pt x="0" y="0"/>
                </a:moveTo>
                <a:lnTo>
                  <a:pt x="2619375" y="0"/>
                </a:lnTo>
                <a:lnTo>
                  <a:pt x="261937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9290304" y="4521898"/>
            <a:ext cx="1883664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b="true" sz="18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AUTHORIZATION CHECK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8486775" y="4495800"/>
            <a:ext cx="657225" cy="438150"/>
          </a:xfrm>
          <a:custGeom>
            <a:avLst/>
            <a:gdLst/>
            <a:ahLst/>
            <a:cxnLst/>
            <a:rect r="r" b="b" t="t" l="l"/>
            <a:pathLst>
              <a:path h="438150" w="657225">
                <a:moveTo>
                  <a:pt x="0" y="0"/>
                </a:moveTo>
                <a:lnTo>
                  <a:pt x="657225" y="0"/>
                </a:lnTo>
                <a:lnTo>
                  <a:pt x="65722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1315700" y="4495800"/>
            <a:ext cx="1533525" cy="438150"/>
          </a:xfrm>
          <a:custGeom>
            <a:avLst/>
            <a:gdLst/>
            <a:ahLst/>
            <a:cxnLst/>
            <a:rect r="r" b="b" t="t" l="l"/>
            <a:pathLst>
              <a:path h="438150" w="1533525">
                <a:moveTo>
                  <a:pt x="0" y="0"/>
                </a:moveTo>
                <a:lnTo>
                  <a:pt x="1533525" y="0"/>
                </a:lnTo>
                <a:lnTo>
                  <a:pt x="1533525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2620625" y="3857625"/>
            <a:ext cx="4581525" cy="1285875"/>
          </a:xfrm>
          <a:custGeom>
            <a:avLst/>
            <a:gdLst/>
            <a:ahLst/>
            <a:cxnLst/>
            <a:rect r="r" b="b" t="t" l="l"/>
            <a:pathLst>
              <a:path h="1285875" w="4581525">
                <a:moveTo>
                  <a:pt x="0" y="0"/>
                </a:moveTo>
                <a:lnTo>
                  <a:pt x="4581525" y="0"/>
                </a:lnTo>
                <a:lnTo>
                  <a:pt x="458152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3058775" y="4286250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14045184" y="4347020"/>
            <a:ext cx="2523744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b="true" sz="1800">
                <a:solidFill>
                  <a:srgbClr val="00D9F4"/>
                </a:solidFill>
                <a:latin typeface="DM Sans Bold"/>
                <a:ea typeface="DM Sans Bold"/>
                <a:cs typeface="DM Sans Bold"/>
                <a:sym typeface="DM Sans Bold"/>
              </a:rPr>
              <a:t>RETRIEVE PERMITTED EVIDENCE</a:t>
            </a:r>
          </a:p>
        </p:txBody>
      </p:sp>
      <p:sp>
        <p:nvSpPr>
          <p:cNvPr name="Freeform 28" id="28"/>
          <p:cNvSpPr/>
          <p:nvPr/>
        </p:nvSpPr>
        <p:spPr>
          <a:xfrm flipH="false" flipV="false" rot="0">
            <a:off x="15020925" y="4924425"/>
            <a:ext cx="438150" cy="647700"/>
          </a:xfrm>
          <a:custGeom>
            <a:avLst/>
            <a:gdLst/>
            <a:ahLst/>
            <a:cxnLst/>
            <a:rect r="r" b="b" t="t" l="l"/>
            <a:pathLst>
              <a:path h="647700" w="43815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12620625" y="5353050"/>
            <a:ext cx="4581525" cy="1076325"/>
          </a:xfrm>
          <a:custGeom>
            <a:avLst/>
            <a:gdLst/>
            <a:ahLst/>
            <a:cxnLst/>
            <a:rect r="r" b="b" t="t" l="l"/>
            <a:pathLst>
              <a:path h="1076325" w="4581525">
                <a:moveTo>
                  <a:pt x="0" y="0"/>
                </a:moveTo>
                <a:lnTo>
                  <a:pt x="4581525" y="0"/>
                </a:lnTo>
                <a:lnTo>
                  <a:pt x="458152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3058775" y="5572125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13935456" y="5663756"/>
            <a:ext cx="2761488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00D9F4"/>
                </a:solidFill>
                <a:latin typeface="DM Sans Bold"/>
                <a:ea typeface="DM Sans Bold"/>
                <a:cs typeface="DM Sans Bold"/>
                <a:sym typeface="DM Sans Bold"/>
              </a:rPr>
              <a:t>BUILD MODEL CONTEXT WITH PERMITTED DATA</a:t>
            </a:r>
          </a:p>
        </p:txBody>
      </p:sp>
      <p:sp>
        <p:nvSpPr>
          <p:cNvPr name="Freeform 32" id="32"/>
          <p:cNvSpPr/>
          <p:nvPr/>
        </p:nvSpPr>
        <p:spPr>
          <a:xfrm flipH="false" flipV="false" rot="0">
            <a:off x="15020925" y="6210300"/>
            <a:ext cx="438150" cy="647700"/>
          </a:xfrm>
          <a:custGeom>
            <a:avLst/>
            <a:gdLst/>
            <a:ahLst/>
            <a:cxnLst/>
            <a:rect r="r" b="b" t="t" l="l"/>
            <a:pathLst>
              <a:path h="647700" w="43815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12620625" y="6638925"/>
            <a:ext cx="4581525" cy="1295400"/>
          </a:xfrm>
          <a:custGeom>
            <a:avLst/>
            <a:gdLst/>
            <a:ahLst/>
            <a:cxnLst/>
            <a:rect r="r" b="b" t="t" l="l"/>
            <a:pathLst>
              <a:path h="1295400" w="4581525">
                <a:moveTo>
                  <a:pt x="0" y="0"/>
                </a:moveTo>
                <a:lnTo>
                  <a:pt x="4581525" y="0"/>
                </a:lnTo>
                <a:lnTo>
                  <a:pt x="458152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13058775" y="6858000"/>
            <a:ext cx="657225" cy="857250"/>
          </a:xfrm>
          <a:custGeom>
            <a:avLst/>
            <a:gdLst/>
            <a:ahLst/>
            <a:cxnLst/>
            <a:rect r="r" b="b" t="t" l="l"/>
            <a:pathLst>
              <a:path h="857250" w="657225">
                <a:moveTo>
                  <a:pt x="0" y="0"/>
                </a:moveTo>
                <a:lnTo>
                  <a:pt x="657225" y="0"/>
                </a:lnTo>
                <a:lnTo>
                  <a:pt x="6572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14045184" y="7176325"/>
            <a:ext cx="2523744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5"/>
              </a:lnSpc>
            </a:pPr>
            <a:r>
              <a:rPr lang="en-US" sz="1879" b="true">
                <a:solidFill>
                  <a:srgbClr val="00D9F4"/>
                </a:solidFill>
                <a:latin typeface="DM Sans Bold"/>
                <a:ea typeface="DM Sans Bold"/>
                <a:cs typeface="DM Sans Bold"/>
                <a:sym typeface="DM Sans Bold"/>
              </a:rPr>
              <a:t>GENERATE RESPONSE</a:t>
            </a:r>
          </a:p>
        </p:txBody>
      </p:sp>
      <p:sp>
        <p:nvSpPr>
          <p:cNvPr name="Freeform 36" id="36"/>
          <p:cNvSpPr/>
          <p:nvPr/>
        </p:nvSpPr>
        <p:spPr>
          <a:xfrm flipH="false" flipV="false" rot="0">
            <a:off x="10010775" y="5143500"/>
            <a:ext cx="447675" cy="647700"/>
          </a:xfrm>
          <a:custGeom>
            <a:avLst/>
            <a:gdLst/>
            <a:ahLst/>
            <a:cxnLst/>
            <a:rect r="r" b="b" t="t" l="l"/>
            <a:pathLst>
              <a:path h="647700" w="447675">
                <a:moveTo>
                  <a:pt x="0" y="0"/>
                </a:moveTo>
                <a:lnTo>
                  <a:pt x="447675" y="0"/>
                </a:lnTo>
                <a:lnTo>
                  <a:pt x="4476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10010775" y="6000750"/>
            <a:ext cx="447675" cy="428625"/>
          </a:xfrm>
          <a:custGeom>
            <a:avLst/>
            <a:gdLst/>
            <a:ahLst/>
            <a:cxnLst/>
            <a:rect r="r" b="b" t="t" l="l"/>
            <a:pathLst>
              <a:path h="428625" w="447675">
                <a:moveTo>
                  <a:pt x="0" y="0"/>
                </a:moveTo>
                <a:lnTo>
                  <a:pt x="447675" y="0"/>
                </a:lnTo>
                <a:lnTo>
                  <a:pt x="44767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l="0" t="0" r="0" b="0"/>
            </a:stretch>
          </a:blipFill>
        </p:spPr>
      </p:sp>
      <p:sp>
        <p:nvSpPr>
          <p:cNvPr name="Freeform 38" id="38"/>
          <p:cNvSpPr/>
          <p:nvPr/>
        </p:nvSpPr>
        <p:spPr>
          <a:xfrm flipH="false" flipV="false" rot="0">
            <a:off x="9144000" y="6210300"/>
            <a:ext cx="2181225" cy="1933575"/>
          </a:xfrm>
          <a:custGeom>
            <a:avLst/>
            <a:gdLst/>
            <a:ahLst/>
            <a:cxnLst/>
            <a:rect r="r" b="b" t="t" l="l"/>
            <a:pathLst>
              <a:path h="1933575" w="2181225">
                <a:moveTo>
                  <a:pt x="0" y="0"/>
                </a:moveTo>
                <a:lnTo>
                  <a:pt x="2181225" y="0"/>
                </a:lnTo>
                <a:lnTo>
                  <a:pt x="2181225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10010775" y="6429375"/>
            <a:ext cx="447675" cy="647700"/>
          </a:xfrm>
          <a:custGeom>
            <a:avLst/>
            <a:gdLst/>
            <a:ahLst/>
            <a:cxnLst/>
            <a:rect r="r" b="b" t="t" l="l"/>
            <a:pathLst>
              <a:path h="647700" w="447675">
                <a:moveTo>
                  <a:pt x="0" y="0"/>
                </a:moveTo>
                <a:lnTo>
                  <a:pt x="447675" y="0"/>
                </a:lnTo>
                <a:lnTo>
                  <a:pt x="4476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9436608" y="7079551"/>
            <a:ext cx="1572768" cy="882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0"/>
              </a:lnSpc>
            </a:pPr>
            <a:r>
              <a:rPr lang="en-US" b="true" sz="180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TERMINATE</a:t>
            </a:r>
          </a:p>
          <a:p>
            <a:pPr algn="ctr">
              <a:lnSpc>
                <a:spcPts val="2340"/>
              </a:lnSpc>
            </a:pPr>
            <a:r>
              <a:rPr lang="en-US" b="true" sz="1800">
                <a:solidFill>
                  <a:srgbClr val="E63131"/>
                </a:solidFill>
                <a:latin typeface="DM Sans Bold"/>
                <a:ea typeface="DM Sans Bold"/>
                <a:cs typeface="DM Sans Bold"/>
                <a:sym typeface="DM Sans Bold"/>
              </a:rPr>
              <a:t>NO RETRIEVAL</a:t>
            </a:r>
          </a:p>
          <a:p>
            <a:pPr algn="ctr">
              <a:lnSpc>
                <a:spcPts val="2340"/>
              </a:lnSpc>
            </a:pPr>
            <a:r>
              <a:rPr lang="en-US" b="true" sz="1800">
                <a:solidFill>
                  <a:srgbClr val="E63131"/>
                </a:solidFill>
                <a:latin typeface="DM Sans Bold"/>
                <a:ea typeface="DM Sans Bold"/>
                <a:cs typeface="DM Sans Bold"/>
                <a:sym typeface="DM Sans Bold"/>
              </a:rPr>
              <a:t>NO CONTEXT</a:t>
            </a:r>
          </a:p>
        </p:txBody>
      </p:sp>
      <p:sp>
        <p:nvSpPr>
          <p:cNvPr name="Freeform 41" id="41"/>
          <p:cNvSpPr/>
          <p:nvPr/>
        </p:nvSpPr>
        <p:spPr>
          <a:xfrm flipH="false" flipV="false" rot="0">
            <a:off x="6524625" y="8143875"/>
            <a:ext cx="10677525" cy="1285875"/>
          </a:xfrm>
          <a:custGeom>
            <a:avLst/>
            <a:gdLst/>
            <a:ahLst/>
            <a:cxnLst/>
            <a:rect r="r" b="b" t="t" l="l"/>
            <a:pathLst>
              <a:path h="1285875" w="10677525">
                <a:moveTo>
                  <a:pt x="0" y="0"/>
                </a:moveTo>
                <a:lnTo>
                  <a:pt x="10677525" y="0"/>
                </a:lnTo>
                <a:lnTo>
                  <a:pt x="1067752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l="0" t="0" r="0" b="0"/>
            </a:stretch>
          </a:blipFill>
        </p:spPr>
      </p:sp>
      <p:sp>
        <p:nvSpPr>
          <p:cNvPr name="Freeform 42" id="42"/>
          <p:cNvSpPr/>
          <p:nvPr/>
        </p:nvSpPr>
        <p:spPr>
          <a:xfrm flipH="false" flipV="false" rot="0">
            <a:off x="6962775" y="8353425"/>
            <a:ext cx="876300" cy="1076325"/>
          </a:xfrm>
          <a:custGeom>
            <a:avLst/>
            <a:gdLst/>
            <a:ahLst/>
            <a:cxnLst/>
            <a:rect r="r" b="b" t="t" l="l"/>
            <a:pathLst>
              <a:path h="1076325" w="876300">
                <a:moveTo>
                  <a:pt x="0" y="0"/>
                </a:moveTo>
                <a:lnTo>
                  <a:pt x="876300" y="0"/>
                </a:lnTo>
                <a:lnTo>
                  <a:pt x="8763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l="0" t="0" r="0" b="0"/>
            </a:stretch>
          </a:blipFill>
        </p:spPr>
      </p:sp>
      <p:sp>
        <p:nvSpPr>
          <p:cNvPr name="TextBox 43" id="43"/>
          <p:cNvSpPr txBox="true"/>
          <p:nvPr/>
        </p:nvSpPr>
        <p:spPr>
          <a:xfrm rot="0">
            <a:off x="7991856" y="8531162"/>
            <a:ext cx="8193024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b="true" sz="2400">
                <a:solidFill>
                  <a:srgbClr val="00D9F4"/>
                </a:solidFill>
                <a:latin typeface="DM Sans Bold"/>
                <a:ea typeface="DM Sans Bold"/>
                <a:cs typeface="DM Sans Bold"/>
                <a:sym typeface="DM Sans Bold"/>
              </a:rPr>
              <a:t>AUTHORIZATION IS A CODE-LEVEL SECURITY BOUNDARY, NOT A PROMPT INSTRUCTION.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792224" y="5533644"/>
            <a:ext cx="3127248" cy="3234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5"/>
              </a:lnSpc>
            </a:pPr>
            <a:r>
              <a:rPr lang="en-US" sz="1889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Permission Aware Filtering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792224" y="5927979"/>
            <a:ext cx="3986784" cy="263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8"/>
              </a:lnSpc>
            </a:pPr>
            <a:r>
              <a:rPr lang="en-US" sz="162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User • Opportunity • Source • Metadata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1649456" y="4302442"/>
            <a:ext cx="841248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0D9F4"/>
                </a:solidFill>
                <a:latin typeface="DM Sans Bold"/>
                <a:ea typeface="DM Sans Bold"/>
                <a:cs typeface="DM Sans Bold"/>
                <a:sym typeface="DM Sans Bold"/>
              </a:rPr>
              <a:t>ALLOW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875520" y="5687816"/>
            <a:ext cx="640080" cy="3237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1"/>
              </a:lnSpc>
            </a:pPr>
            <a:r>
              <a:rPr lang="en-US" b="true" sz="1879">
                <a:solidFill>
                  <a:srgbClr val="E63131"/>
                </a:solidFill>
                <a:latin typeface="DM Sans Bold"/>
                <a:ea typeface="DM Sans Bold"/>
                <a:cs typeface="DM Sans Bold"/>
                <a:sym typeface="DM Sans Bold"/>
              </a:rPr>
              <a:t>DENY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03504" y="474154"/>
            <a:ext cx="6839712" cy="853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0"/>
              </a:lnSpc>
            </a:pPr>
            <a:r>
              <a:rPr lang="en-US" b="true" sz="7200" spc="-215">
                <a:solidFill>
                  <a:srgbClr val="FFFF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SPECIALIZED AGENTS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7620000" y="428625"/>
            <a:ext cx="876300" cy="647700"/>
          </a:xfrm>
          <a:custGeom>
            <a:avLst/>
            <a:gdLst/>
            <a:ahLst/>
            <a:cxnLst/>
            <a:rect r="r" b="b" t="t" l="l"/>
            <a:pathLst>
              <a:path h="647700" w="876300">
                <a:moveTo>
                  <a:pt x="0" y="0"/>
                </a:moveTo>
                <a:lnTo>
                  <a:pt x="876300" y="0"/>
                </a:lnTo>
                <a:lnTo>
                  <a:pt x="8763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8577072" y="474154"/>
            <a:ext cx="6967728" cy="853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0"/>
              </a:lnSpc>
            </a:pPr>
            <a:r>
              <a:rPr lang="en-US" b="true" sz="7200" spc="-215">
                <a:solidFill>
                  <a:srgbClr val="FFFFFF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ONE STRATEGIC BRIEF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03504" y="1331405"/>
            <a:ext cx="13551408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62"/>
              </a:lnSpc>
            </a:pPr>
            <a:r>
              <a:rPr lang="en-US" sz="3135" spc="-94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Focused responsibilities make reasoning easier to control, validate and evaluate.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647700" y="2143125"/>
            <a:ext cx="8286750" cy="1933575"/>
          </a:xfrm>
          <a:custGeom>
            <a:avLst/>
            <a:gdLst/>
            <a:ahLst/>
            <a:cxnLst/>
            <a:rect r="r" b="b" t="t" l="l"/>
            <a:pathLst>
              <a:path h="1933575" w="8286750">
                <a:moveTo>
                  <a:pt x="0" y="0"/>
                </a:moveTo>
                <a:lnTo>
                  <a:pt x="8286750" y="0"/>
                </a:lnTo>
                <a:lnTo>
                  <a:pt x="828675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78992" y="2819157"/>
            <a:ext cx="768096" cy="9556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99"/>
              </a:lnSpc>
            </a:pPr>
            <a:r>
              <a:rPr lang="en-US" b="true" sz="7999" spc="-239">
                <a:solidFill>
                  <a:srgbClr val="00C2E4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395728" y="2468118"/>
            <a:ext cx="3108960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spc="-89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Deal Context Agent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395728" y="3050286"/>
            <a:ext cx="2633472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22"/>
              </a:lnSpc>
            </a:pPr>
            <a:r>
              <a:rPr lang="en-US" sz="2352" spc="-7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Canonical CRM facts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95728" y="3535490"/>
            <a:ext cx="5138928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67"/>
              </a:lnSpc>
            </a:pPr>
            <a:r>
              <a:rPr lang="en-US" sz="1889" spc="-56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Opportunity • Stage • Amount • Close Date • Owner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647700" y="4067175"/>
            <a:ext cx="8286750" cy="1724025"/>
          </a:xfrm>
          <a:custGeom>
            <a:avLst/>
            <a:gdLst/>
            <a:ahLst/>
            <a:cxnLst/>
            <a:rect r="r" b="b" t="t" l="l"/>
            <a:pathLst>
              <a:path h="1724025" w="8286750">
                <a:moveTo>
                  <a:pt x="0" y="0"/>
                </a:moveTo>
                <a:lnTo>
                  <a:pt x="8286750" y="0"/>
                </a:lnTo>
                <a:lnTo>
                  <a:pt x="8286750" y="1724025"/>
                </a:lnTo>
                <a:lnTo>
                  <a:pt x="0" y="17240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078992" y="4702884"/>
            <a:ext cx="768096" cy="862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119"/>
              </a:lnSpc>
            </a:pPr>
            <a:r>
              <a:rPr lang="en-US" b="true" sz="7199" spc="-215">
                <a:solidFill>
                  <a:srgbClr val="00C2E4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02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395728" y="4591241"/>
            <a:ext cx="512064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sz="2970" spc="-89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Conversation Intelligence Agent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395728" y="5186934"/>
            <a:ext cx="5980176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8"/>
              </a:lnSpc>
            </a:pPr>
            <a:r>
              <a:rPr lang="en-US" sz="1974" spc="-59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Goals • Objections • Urgency • Competitors • Action Items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647700" y="5781675"/>
            <a:ext cx="8286750" cy="1933575"/>
          </a:xfrm>
          <a:custGeom>
            <a:avLst/>
            <a:gdLst/>
            <a:ahLst/>
            <a:cxnLst/>
            <a:rect r="r" b="b" t="t" l="l"/>
            <a:pathLst>
              <a:path h="1933575" w="8286750">
                <a:moveTo>
                  <a:pt x="0" y="0"/>
                </a:moveTo>
                <a:lnTo>
                  <a:pt x="8286750" y="0"/>
                </a:lnTo>
                <a:lnTo>
                  <a:pt x="828675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078992" y="6482535"/>
            <a:ext cx="768096" cy="862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119"/>
              </a:lnSpc>
            </a:pPr>
            <a:r>
              <a:rPr lang="en-US" b="true" sz="7199" spc="-215">
                <a:solidFill>
                  <a:srgbClr val="00C2E4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03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395728" y="6185725"/>
            <a:ext cx="3767328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sz="2970" spc="-89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Stakeholder Map Agent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395728" y="6810185"/>
            <a:ext cx="4535424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spc="-63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Economic Buyer • Champion • Blockers • Procurement • Unknowns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647700" y="7715250"/>
            <a:ext cx="8286750" cy="1933575"/>
          </a:xfrm>
          <a:custGeom>
            <a:avLst/>
            <a:gdLst/>
            <a:ahLst/>
            <a:cxnLst/>
            <a:rect r="r" b="b" t="t" l="l"/>
            <a:pathLst>
              <a:path h="1933575" w="8286750">
                <a:moveTo>
                  <a:pt x="0" y="0"/>
                </a:moveTo>
                <a:lnTo>
                  <a:pt x="8286750" y="0"/>
                </a:lnTo>
                <a:lnTo>
                  <a:pt x="828675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078992" y="8393757"/>
            <a:ext cx="768096" cy="816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79"/>
              </a:lnSpc>
            </a:pPr>
            <a:r>
              <a:rPr lang="en-US" b="true" sz="6799" spc="-203">
                <a:solidFill>
                  <a:srgbClr val="00C2E4"/>
                </a:solidFill>
                <a:latin typeface="Barlow Condensed Bold"/>
                <a:ea typeface="Barlow Condensed Bold"/>
                <a:cs typeface="Barlow Condensed Bold"/>
                <a:sym typeface="Barlow Condensed Bold"/>
              </a:rPr>
              <a:t>04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395728" y="8146542"/>
            <a:ext cx="4535424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spc="-89" b="true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Negotiation Strategy Agent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10877550" y="1924050"/>
            <a:ext cx="4800600" cy="1295400"/>
          </a:xfrm>
          <a:custGeom>
            <a:avLst/>
            <a:gdLst/>
            <a:ahLst/>
            <a:cxnLst/>
            <a:rect r="r" b="b" t="t" l="l"/>
            <a:pathLst>
              <a:path h="1295400" w="4800600">
                <a:moveTo>
                  <a:pt x="0" y="0"/>
                </a:moveTo>
                <a:lnTo>
                  <a:pt x="4800600" y="0"/>
                </a:lnTo>
                <a:lnTo>
                  <a:pt x="4800600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2015216" y="2396681"/>
            <a:ext cx="256032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b="true" sz="2400" spc="-72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Governed Evidence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10448925" y="3209925"/>
            <a:ext cx="6105525" cy="647700"/>
          </a:xfrm>
          <a:custGeom>
            <a:avLst/>
            <a:gdLst/>
            <a:ahLst/>
            <a:cxnLst/>
            <a:rect r="r" b="b" t="t" l="l"/>
            <a:pathLst>
              <a:path h="647700" w="6105525">
                <a:moveTo>
                  <a:pt x="0" y="0"/>
                </a:moveTo>
                <a:lnTo>
                  <a:pt x="6105525" y="0"/>
                </a:lnTo>
                <a:lnTo>
                  <a:pt x="61055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277850" y="2781300"/>
            <a:ext cx="228600" cy="1076325"/>
          </a:xfrm>
          <a:custGeom>
            <a:avLst/>
            <a:gdLst/>
            <a:ahLst/>
            <a:cxnLst/>
            <a:rect r="r" b="b" t="t" l="l"/>
            <a:pathLst>
              <a:path h="1076325" w="228600">
                <a:moveTo>
                  <a:pt x="0" y="0"/>
                </a:moveTo>
                <a:lnTo>
                  <a:pt x="228600" y="0"/>
                </a:lnTo>
                <a:lnTo>
                  <a:pt x="228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9144000" y="3638550"/>
            <a:ext cx="2838450" cy="1504950"/>
          </a:xfrm>
          <a:custGeom>
            <a:avLst/>
            <a:gdLst/>
            <a:ahLst/>
            <a:cxnLst/>
            <a:rect r="r" b="b" t="t" l="l"/>
            <a:pathLst>
              <a:path h="1504950" w="2838450">
                <a:moveTo>
                  <a:pt x="0" y="0"/>
                </a:moveTo>
                <a:lnTo>
                  <a:pt x="2838450" y="0"/>
                </a:lnTo>
                <a:lnTo>
                  <a:pt x="28384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9613964" y="4084320"/>
            <a:ext cx="1891665" cy="641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b="true" sz="2400" spc="-72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Deal Context Agent</a:t>
            </a:r>
          </a:p>
        </p:txBody>
      </p:sp>
      <p:sp>
        <p:nvSpPr>
          <p:cNvPr name="Freeform 28" id="28"/>
          <p:cNvSpPr/>
          <p:nvPr/>
        </p:nvSpPr>
        <p:spPr>
          <a:xfrm flipH="false" flipV="false" rot="0">
            <a:off x="11972925" y="3638550"/>
            <a:ext cx="2838450" cy="1504950"/>
          </a:xfrm>
          <a:custGeom>
            <a:avLst/>
            <a:gdLst/>
            <a:ahLst/>
            <a:cxnLst/>
            <a:rect r="r" b="b" t="t" l="l"/>
            <a:pathLst>
              <a:path h="1504950" w="2838450">
                <a:moveTo>
                  <a:pt x="0" y="0"/>
                </a:moveTo>
                <a:lnTo>
                  <a:pt x="2838450" y="0"/>
                </a:lnTo>
                <a:lnTo>
                  <a:pt x="28384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12135993" y="4095750"/>
            <a:ext cx="2740914" cy="641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b="true" sz="2400" spc="-72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Conversation    </a:t>
            </a:r>
          </a:p>
          <a:p>
            <a:pPr algn="ctr">
              <a:lnSpc>
                <a:spcPts val="2400"/>
              </a:lnSpc>
            </a:pPr>
            <a:r>
              <a:rPr lang="en-US" b="true" sz="2400" spc="-72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Agent</a:t>
            </a:r>
          </a:p>
        </p:txBody>
      </p:sp>
      <p:sp>
        <p:nvSpPr>
          <p:cNvPr name="Freeform 30" id="30"/>
          <p:cNvSpPr/>
          <p:nvPr/>
        </p:nvSpPr>
        <p:spPr>
          <a:xfrm flipH="false" flipV="false" rot="0">
            <a:off x="14801850" y="3638550"/>
            <a:ext cx="2838450" cy="1504950"/>
          </a:xfrm>
          <a:custGeom>
            <a:avLst/>
            <a:gdLst/>
            <a:ahLst/>
            <a:cxnLst/>
            <a:rect r="r" b="b" t="t" l="l"/>
            <a:pathLst>
              <a:path h="1504950" w="2838450">
                <a:moveTo>
                  <a:pt x="0" y="0"/>
                </a:moveTo>
                <a:lnTo>
                  <a:pt x="2838450" y="0"/>
                </a:lnTo>
                <a:lnTo>
                  <a:pt x="28384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15108936" y="4126103"/>
            <a:ext cx="2397395" cy="641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b="true" sz="2400" spc="-72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Stakeholder Map Agent</a:t>
            </a:r>
          </a:p>
        </p:txBody>
      </p:sp>
      <p:sp>
        <p:nvSpPr>
          <p:cNvPr name="Freeform 32" id="32"/>
          <p:cNvSpPr/>
          <p:nvPr/>
        </p:nvSpPr>
        <p:spPr>
          <a:xfrm flipH="false" flipV="false" rot="0">
            <a:off x="10448925" y="4924425"/>
            <a:ext cx="5886450" cy="438150"/>
          </a:xfrm>
          <a:custGeom>
            <a:avLst/>
            <a:gdLst/>
            <a:ahLst/>
            <a:cxnLst/>
            <a:rect r="r" b="b" t="t" l="l"/>
            <a:pathLst>
              <a:path h="438150" w="5886450">
                <a:moveTo>
                  <a:pt x="0" y="0"/>
                </a:moveTo>
                <a:lnTo>
                  <a:pt x="5886450" y="0"/>
                </a:lnTo>
                <a:lnTo>
                  <a:pt x="58864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13277850" y="4924425"/>
            <a:ext cx="438150" cy="866775"/>
          </a:xfrm>
          <a:custGeom>
            <a:avLst/>
            <a:gdLst/>
            <a:ahLst/>
            <a:cxnLst/>
            <a:rect r="r" b="b" t="t" l="l"/>
            <a:pathLst>
              <a:path h="866775" w="438150">
                <a:moveTo>
                  <a:pt x="0" y="0"/>
                </a:moveTo>
                <a:lnTo>
                  <a:pt x="438150" y="0"/>
                </a:lnTo>
                <a:lnTo>
                  <a:pt x="4381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10877550" y="5572125"/>
            <a:ext cx="5019675" cy="1285875"/>
          </a:xfrm>
          <a:custGeom>
            <a:avLst/>
            <a:gdLst/>
            <a:ahLst/>
            <a:cxnLst/>
            <a:rect r="r" b="b" t="t" l="l"/>
            <a:pathLst>
              <a:path h="1285875" w="5019675">
                <a:moveTo>
                  <a:pt x="0" y="0"/>
                </a:moveTo>
                <a:lnTo>
                  <a:pt x="5019675" y="0"/>
                </a:lnTo>
                <a:lnTo>
                  <a:pt x="501967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13277850" y="6638925"/>
            <a:ext cx="438150" cy="647700"/>
          </a:xfrm>
          <a:custGeom>
            <a:avLst/>
            <a:gdLst/>
            <a:ahLst/>
            <a:cxnLst/>
            <a:rect r="r" b="b" t="t" l="l"/>
            <a:pathLst>
              <a:path h="647700" w="43815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10877550" y="7067550"/>
            <a:ext cx="5019675" cy="1295400"/>
          </a:xfrm>
          <a:custGeom>
            <a:avLst/>
            <a:gdLst/>
            <a:ahLst/>
            <a:cxnLst/>
            <a:rect r="r" b="b" t="t" l="l"/>
            <a:pathLst>
              <a:path h="1295400" w="5019675">
                <a:moveTo>
                  <a:pt x="0" y="0"/>
                </a:moveTo>
                <a:lnTo>
                  <a:pt x="5019675" y="0"/>
                </a:lnTo>
                <a:lnTo>
                  <a:pt x="5019675" y="1295400"/>
                </a:lnTo>
                <a:lnTo>
                  <a:pt x="0" y="129540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TextBox 37" id="37"/>
          <p:cNvSpPr txBox="true"/>
          <p:nvPr/>
        </p:nvSpPr>
        <p:spPr>
          <a:xfrm rot="0">
            <a:off x="11905488" y="7550467"/>
            <a:ext cx="3072384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b="true" sz="2400" spc="-72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Validation + Risk Check</a:t>
            </a:r>
          </a:p>
        </p:txBody>
      </p:sp>
      <p:sp>
        <p:nvSpPr>
          <p:cNvPr name="Freeform 38" id="38"/>
          <p:cNvSpPr/>
          <p:nvPr/>
        </p:nvSpPr>
        <p:spPr>
          <a:xfrm flipH="false" flipV="false" rot="0">
            <a:off x="13277850" y="8143875"/>
            <a:ext cx="438150" cy="647700"/>
          </a:xfrm>
          <a:custGeom>
            <a:avLst/>
            <a:gdLst/>
            <a:ahLst/>
            <a:cxnLst/>
            <a:rect r="r" b="b" t="t" l="l"/>
            <a:pathLst>
              <a:path h="647700" w="438150">
                <a:moveTo>
                  <a:pt x="0" y="0"/>
                </a:moveTo>
                <a:lnTo>
                  <a:pt x="438150" y="0"/>
                </a:lnTo>
                <a:lnTo>
                  <a:pt x="4381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10229850" y="8572500"/>
            <a:ext cx="6534150" cy="1076325"/>
          </a:xfrm>
          <a:custGeom>
            <a:avLst/>
            <a:gdLst/>
            <a:ahLst/>
            <a:cxnLst/>
            <a:rect r="r" b="b" t="t" l="l"/>
            <a:pathLst>
              <a:path h="1076325" w="6534150">
                <a:moveTo>
                  <a:pt x="0" y="0"/>
                </a:moveTo>
                <a:lnTo>
                  <a:pt x="6534150" y="0"/>
                </a:lnTo>
                <a:lnTo>
                  <a:pt x="65341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11375136" y="8954071"/>
            <a:ext cx="4133088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62"/>
              </a:lnSpc>
            </a:pPr>
            <a:r>
              <a:rPr lang="en-US" b="true" sz="3135" spc="-94">
                <a:solidFill>
                  <a:srgbClr val="000033"/>
                </a:solidFill>
                <a:latin typeface="Roboto Bold"/>
                <a:ea typeface="Roboto Bold"/>
                <a:cs typeface="Roboto Bold"/>
                <a:sym typeface="Roboto Bold"/>
              </a:rPr>
              <a:t>STRATEGIC DEAL BRIEF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1649456" y="6063435"/>
            <a:ext cx="356616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b="true" sz="2400" spc="-72">
                <a:solidFill>
                  <a:srgbClr val="FFFFFF"/>
                </a:solidFill>
                <a:latin typeface="Roboto Bold"/>
                <a:ea typeface="Roboto Bold"/>
                <a:cs typeface="Roboto Bold"/>
                <a:sym typeface="Roboto Bold"/>
              </a:rPr>
              <a:t>Negotiation Strategy Agent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2395728" y="8746998"/>
            <a:ext cx="5193792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 spc="-63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Prioritized Next Actions • Owners • Rationale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F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03504" y="480282"/>
            <a:ext cx="14648688" cy="7394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87"/>
              </a:lnSpc>
            </a:pPr>
            <a:r>
              <a:rPr lang="en-US" b="true" sz="5487" spc="-219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EVALUATION — CAN I TRUST THE BEHAVIOR?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03504" y="1263777"/>
            <a:ext cx="14081760" cy="466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spc="-1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 evaluate the system around business critical failure modes, not only answer quality.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28625" y="1924050"/>
            <a:ext cx="4143375" cy="4933950"/>
          </a:xfrm>
          <a:custGeom>
            <a:avLst/>
            <a:gdLst/>
            <a:ahLst/>
            <a:cxnLst/>
            <a:rect r="r" b="b" t="t" l="l"/>
            <a:pathLst>
              <a:path h="4933950" w="4143375">
                <a:moveTo>
                  <a:pt x="0" y="0"/>
                </a:moveTo>
                <a:lnTo>
                  <a:pt x="4143375" y="0"/>
                </a:lnTo>
                <a:lnTo>
                  <a:pt x="4143375" y="4933950"/>
                </a:lnTo>
                <a:lnTo>
                  <a:pt x="0" y="49339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78992" y="2459164"/>
            <a:ext cx="292608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58"/>
              </a:lnSpc>
            </a:pPr>
            <a:r>
              <a:rPr lang="en-US" b="true" sz="2632" spc="-105">
                <a:solidFill>
                  <a:srgbClr val="00C9FF"/>
                </a:solidFill>
                <a:latin typeface="Inter Bold"/>
                <a:ea typeface="Inter Bold"/>
                <a:cs typeface="Inter Bold"/>
                <a:sym typeface="Inter Bold"/>
              </a:rPr>
              <a:t>ACCESS CONTROL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952625" y="3000375"/>
            <a:ext cx="1095375" cy="1076325"/>
          </a:xfrm>
          <a:custGeom>
            <a:avLst/>
            <a:gdLst/>
            <a:ahLst/>
            <a:cxnLst/>
            <a:rect r="r" b="b" t="t" l="l"/>
            <a:pathLst>
              <a:path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243584" y="4328731"/>
            <a:ext cx="2688336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34"/>
              </a:lnSpc>
            </a:pPr>
            <a:r>
              <a:rPr lang="en-US" b="true" sz="2112" spc="-84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Unauthorized request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2171700" y="4714875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335024" y="5882068"/>
            <a:ext cx="246888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0"/>
              </a:lnSpc>
            </a:pPr>
            <a:r>
              <a:rPr lang="en-US" b="true" sz="2200" spc="-88">
                <a:solidFill>
                  <a:srgbClr val="00C2E4"/>
                </a:solidFill>
                <a:latin typeface="Inter Bold"/>
                <a:ea typeface="Inter Bold"/>
                <a:cs typeface="Inter Bold"/>
                <a:sym typeface="Inter Bold"/>
              </a:rPr>
              <a:t>restricted evidence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572000" y="1924050"/>
            <a:ext cx="4362450" cy="4933950"/>
          </a:xfrm>
          <a:custGeom>
            <a:avLst/>
            <a:gdLst/>
            <a:ahLst/>
            <a:cxnLst/>
            <a:rect r="r" b="b" t="t" l="l"/>
            <a:pathLst>
              <a:path h="4933950" w="4362450">
                <a:moveTo>
                  <a:pt x="0" y="0"/>
                </a:moveTo>
                <a:lnTo>
                  <a:pt x="4362450" y="0"/>
                </a:lnTo>
                <a:lnTo>
                  <a:pt x="4362450" y="4933950"/>
                </a:lnTo>
                <a:lnTo>
                  <a:pt x="0" y="49339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5705856" y="2440114"/>
            <a:ext cx="2084832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b="true" sz="2800" spc="-112">
                <a:solidFill>
                  <a:srgbClr val="00C9FF"/>
                </a:solidFill>
                <a:latin typeface="Inter Bold"/>
                <a:ea typeface="Inter Bold"/>
                <a:cs typeface="Inter Bold"/>
                <a:sym typeface="Inter Bold"/>
              </a:rPr>
              <a:t>GROUNDING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6096000" y="3000375"/>
            <a:ext cx="1314450" cy="1076325"/>
          </a:xfrm>
          <a:custGeom>
            <a:avLst/>
            <a:gdLst/>
            <a:ahLst/>
            <a:cxnLst/>
            <a:rect r="r" b="b" t="t" l="l"/>
            <a:pathLst>
              <a:path h="1076325" w="1314450">
                <a:moveTo>
                  <a:pt x="0" y="0"/>
                </a:moveTo>
                <a:lnTo>
                  <a:pt x="1314450" y="0"/>
                </a:lnTo>
                <a:lnTo>
                  <a:pt x="13144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650992" y="4328732"/>
            <a:ext cx="2139696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0"/>
              </a:lnSpc>
            </a:pPr>
            <a:r>
              <a:rPr lang="en-US" b="true" sz="2200" spc="-88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Important claims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6305550" y="5143500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4781550" y="5728785"/>
            <a:ext cx="3940302" cy="763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b="true" sz="2199" spc="-87">
                <a:solidFill>
                  <a:srgbClr val="00C9FF"/>
                </a:solidFill>
                <a:latin typeface="Inter Bold"/>
                <a:ea typeface="Inter Bold"/>
                <a:cs typeface="Inter Bold"/>
                <a:sym typeface="Inter Bold"/>
              </a:rPr>
              <a:t>Validated against retrieved evidence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924925" y="1924050"/>
            <a:ext cx="4362450" cy="4933950"/>
          </a:xfrm>
          <a:custGeom>
            <a:avLst/>
            <a:gdLst/>
            <a:ahLst/>
            <a:cxnLst/>
            <a:rect r="r" b="b" t="t" l="l"/>
            <a:pathLst>
              <a:path h="4933950" w="4362450">
                <a:moveTo>
                  <a:pt x="0" y="0"/>
                </a:moveTo>
                <a:lnTo>
                  <a:pt x="4362450" y="0"/>
                </a:lnTo>
                <a:lnTo>
                  <a:pt x="4362450" y="4933950"/>
                </a:lnTo>
                <a:lnTo>
                  <a:pt x="0" y="4933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0222992" y="2444877"/>
            <a:ext cx="1755648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6"/>
              </a:lnSpc>
            </a:pPr>
            <a:r>
              <a:rPr lang="en-US" b="true" sz="2688" spc="-107">
                <a:solidFill>
                  <a:srgbClr val="00C9FF"/>
                </a:solidFill>
                <a:latin typeface="Inter Bold"/>
                <a:ea typeface="Inter Bold"/>
                <a:cs typeface="Inter Bold"/>
                <a:sym typeface="Inter Bold"/>
              </a:rPr>
              <a:t>RETRIEVER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0668000" y="3000375"/>
            <a:ext cx="1095375" cy="1076325"/>
          </a:xfrm>
          <a:custGeom>
            <a:avLst/>
            <a:gdLst/>
            <a:ahLst/>
            <a:cxnLst/>
            <a:rect r="r" b="b" t="t" l="l"/>
            <a:pathLst>
              <a:path h="1076325" w="1095375">
                <a:moveTo>
                  <a:pt x="0" y="0"/>
                </a:moveTo>
                <a:lnTo>
                  <a:pt x="1095375" y="0"/>
                </a:lnTo>
                <a:lnTo>
                  <a:pt x="10953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9400032" y="4289914"/>
            <a:ext cx="3474720" cy="754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9"/>
              </a:lnSpc>
            </a:pPr>
            <a:r>
              <a:rPr lang="en-US" b="true" sz="2178" spc="-87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Relevant evidence survives hybrid retrieval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10877550" y="5143500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3277850" y="1924050"/>
            <a:ext cx="4581525" cy="4933950"/>
          </a:xfrm>
          <a:custGeom>
            <a:avLst/>
            <a:gdLst/>
            <a:ahLst/>
            <a:cxnLst/>
            <a:rect r="r" b="b" t="t" l="l"/>
            <a:pathLst>
              <a:path h="4933950" w="4581525">
                <a:moveTo>
                  <a:pt x="0" y="0"/>
                </a:moveTo>
                <a:lnTo>
                  <a:pt x="4581525" y="0"/>
                </a:lnTo>
                <a:lnTo>
                  <a:pt x="4581525" y="4933950"/>
                </a:lnTo>
                <a:lnTo>
                  <a:pt x="0" y="493395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4801850" y="3209925"/>
            <a:ext cx="1314450" cy="866775"/>
          </a:xfrm>
          <a:custGeom>
            <a:avLst/>
            <a:gdLst/>
            <a:ahLst/>
            <a:cxnLst/>
            <a:rect r="r" b="b" t="t" l="l"/>
            <a:pathLst>
              <a:path h="866775" w="1314450">
                <a:moveTo>
                  <a:pt x="0" y="0"/>
                </a:moveTo>
                <a:lnTo>
                  <a:pt x="1314450" y="0"/>
                </a:lnTo>
                <a:lnTo>
                  <a:pt x="13144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4319504" y="4211636"/>
            <a:ext cx="2231136" cy="947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30"/>
              </a:lnSpc>
            </a:pPr>
            <a:r>
              <a:rPr lang="en-US" b="true" sz="2200" spc="-88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Golden scenarios remain stable across changes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15240000" y="5143500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3743051" y="5705856"/>
            <a:ext cx="3621024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b="true" sz="2199" spc="-87">
                <a:solidFill>
                  <a:srgbClr val="00C9FF"/>
                </a:solidFill>
                <a:latin typeface="Inter Bold"/>
                <a:ea typeface="Inter Bold"/>
                <a:cs typeface="Inter Bold"/>
                <a:sym typeface="Inter Bold"/>
              </a:rPr>
              <a:t>Slack evidence • conflicts • sensitive actions • injection cases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428625" y="6858000"/>
            <a:ext cx="17430750" cy="2362200"/>
          </a:xfrm>
          <a:custGeom>
            <a:avLst/>
            <a:gdLst/>
            <a:ahLst/>
            <a:cxnLst/>
            <a:rect r="r" b="b" t="t" l="l"/>
            <a:pathLst>
              <a:path h="2362200" w="17430750">
                <a:moveTo>
                  <a:pt x="0" y="0"/>
                </a:moveTo>
                <a:lnTo>
                  <a:pt x="17430750" y="0"/>
                </a:lnTo>
                <a:lnTo>
                  <a:pt x="17430750" y="2362200"/>
                </a:lnTo>
                <a:lnTo>
                  <a:pt x="0" y="236220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914400" y="7484554"/>
            <a:ext cx="2304288" cy="1047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b="true" sz="3499" spc="-139">
                <a:solidFill>
                  <a:srgbClr val="00C9FF"/>
                </a:solidFill>
                <a:latin typeface="Inter Bold"/>
                <a:ea typeface="Inter Bold"/>
                <a:cs typeface="Inter Bold"/>
                <a:sym typeface="Inter Bold"/>
              </a:rPr>
              <a:t>FINAL RUN RESULTS</a:t>
            </a:r>
          </a:p>
        </p:txBody>
      </p:sp>
      <p:sp>
        <p:nvSpPr>
          <p:cNvPr name="Freeform 28" id="28"/>
          <p:cNvSpPr/>
          <p:nvPr/>
        </p:nvSpPr>
        <p:spPr>
          <a:xfrm flipH="false" flipV="false" rot="0">
            <a:off x="3476625" y="7067550"/>
            <a:ext cx="228600" cy="1933575"/>
          </a:xfrm>
          <a:custGeom>
            <a:avLst/>
            <a:gdLst/>
            <a:ahLst/>
            <a:cxnLst/>
            <a:rect r="r" b="b" t="t" l="l"/>
            <a:pathLst>
              <a:path h="1933575" w="228600">
                <a:moveTo>
                  <a:pt x="0" y="0"/>
                </a:moveTo>
                <a:lnTo>
                  <a:pt x="228600" y="0"/>
                </a:lnTo>
                <a:lnTo>
                  <a:pt x="22860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4553712" y="7222998"/>
            <a:ext cx="1517904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99"/>
              </a:lnSpc>
            </a:pPr>
            <a:r>
              <a:rPr lang="en-US" b="true" sz="1999" spc="-79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Golden Tests</a:t>
            </a:r>
          </a:p>
        </p:txBody>
      </p:sp>
      <p:sp>
        <p:nvSpPr>
          <p:cNvPr name="Freeform 30" id="30"/>
          <p:cNvSpPr/>
          <p:nvPr/>
        </p:nvSpPr>
        <p:spPr>
          <a:xfrm flipH="false" flipV="false" rot="0">
            <a:off x="4781550" y="7496175"/>
            <a:ext cx="885825" cy="866775"/>
          </a:xfrm>
          <a:custGeom>
            <a:avLst/>
            <a:gdLst/>
            <a:ahLst/>
            <a:cxnLst/>
            <a:rect r="r" b="b" t="t" l="l"/>
            <a:pathLst>
              <a:path h="866775" w="885825">
                <a:moveTo>
                  <a:pt x="0" y="0"/>
                </a:moveTo>
                <a:lnTo>
                  <a:pt x="885825" y="0"/>
                </a:lnTo>
                <a:lnTo>
                  <a:pt x="885825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4535424" y="8590788"/>
            <a:ext cx="1536192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0"/>
              </a:lnSpc>
            </a:pPr>
            <a:r>
              <a:rPr lang="en-US" b="true" sz="1900" spc="-76">
                <a:solidFill>
                  <a:srgbClr val="00C9FF"/>
                </a:solidFill>
                <a:latin typeface="Inter Bold"/>
                <a:ea typeface="Inter Bold"/>
                <a:cs typeface="Inter Bold"/>
                <a:sym typeface="Inter Bold"/>
              </a:rPr>
              <a:t>10/10 passed</a:t>
            </a:r>
          </a:p>
        </p:txBody>
      </p:sp>
      <p:sp>
        <p:nvSpPr>
          <p:cNvPr name="Freeform 32" id="32"/>
          <p:cNvSpPr/>
          <p:nvPr/>
        </p:nvSpPr>
        <p:spPr>
          <a:xfrm flipH="false" flipV="false" rot="0">
            <a:off x="6962775" y="7067550"/>
            <a:ext cx="228600" cy="1933575"/>
          </a:xfrm>
          <a:custGeom>
            <a:avLst/>
            <a:gdLst/>
            <a:ahLst/>
            <a:cxnLst/>
            <a:rect r="r" b="b" t="t" l="l"/>
            <a:pathLst>
              <a:path h="1933575" w="228600">
                <a:moveTo>
                  <a:pt x="0" y="0"/>
                </a:moveTo>
                <a:lnTo>
                  <a:pt x="228600" y="0"/>
                </a:lnTo>
                <a:lnTo>
                  <a:pt x="22860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TextBox 33" id="33"/>
          <p:cNvSpPr txBox="true"/>
          <p:nvPr/>
        </p:nvSpPr>
        <p:spPr>
          <a:xfrm rot="0">
            <a:off x="7589520" y="7227760"/>
            <a:ext cx="2487168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5"/>
              </a:lnSpc>
            </a:pPr>
            <a:r>
              <a:rPr lang="en-US" b="true" sz="1879" spc="-75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Unauthorized Leakage</a:t>
            </a:r>
          </a:p>
        </p:txBody>
      </p:sp>
      <p:sp>
        <p:nvSpPr>
          <p:cNvPr name="Freeform 34" id="34"/>
          <p:cNvSpPr/>
          <p:nvPr/>
        </p:nvSpPr>
        <p:spPr>
          <a:xfrm flipH="false" flipV="false" rot="0">
            <a:off x="8267700" y="7496175"/>
            <a:ext cx="876300" cy="866775"/>
          </a:xfrm>
          <a:custGeom>
            <a:avLst/>
            <a:gdLst/>
            <a:ahLst/>
            <a:cxnLst/>
            <a:rect r="r" b="b" t="t" l="l"/>
            <a:pathLst>
              <a:path h="866775" w="876300">
                <a:moveTo>
                  <a:pt x="0" y="0"/>
                </a:moveTo>
                <a:lnTo>
                  <a:pt x="876300" y="0"/>
                </a:lnTo>
                <a:lnTo>
                  <a:pt x="8763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7223760" y="8590788"/>
            <a:ext cx="3072384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0"/>
              </a:lnSpc>
            </a:pPr>
            <a:r>
              <a:rPr lang="en-US" b="true" sz="1900" spc="-76">
                <a:solidFill>
                  <a:srgbClr val="00C9FF"/>
                </a:solidFill>
                <a:latin typeface="Inter Bold"/>
                <a:ea typeface="Inter Bold"/>
                <a:cs typeface="Inter Bold"/>
                <a:sym typeface="Inter Bold"/>
              </a:rPr>
              <a:t>0 retricted evidence leaked</a:t>
            </a:r>
          </a:p>
        </p:txBody>
      </p:sp>
      <p:sp>
        <p:nvSpPr>
          <p:cNvPr name="Freeform 36" id="36"/>
          <p:cNvSpPr/>
          <p:nvPr/>
        </p:nvSpPr>
        <p:spPr>
          <a:xfrm flipH="false" flipV="false" rot="0">
            <a:off x="10448925" y="7067550"/>
            <a:ext cx="219075" cy="1933575"/>
          </a:xfrm>
          <a:custGeom>
            <a:avLst/>
            <a:gdLst/>
            <a:ahLst/>
            <a:cxnLst/>
            <a:rect r="r" b="b" t="t" l="l"/>
            <a:pathLst>
              <a:path h="1933575" w="219075">
                <a:moveTo>
                  <a:pt x="0" y="0"/>
                </a:moveTo>
                <a:lnTo>
                  <a:pt x="219075" y="0"/>
                </a:lnTo>
                <a:lnTo>
                  <a:pt x="219075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TextBox 37" id="37"/>
          <p:cNvSpPr txBox="true"/>
          <p:nvPr/>
        </p:nvSpPr>
        <p:spPr>
          <a:xfrm rot="0">
            <a:off x="11137392" y="7218235"/>
            <a:ext cx="2029968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3"/>
              </a:lnSpc>
            </a:pPr>
            <a:r>
              <a:rPr lang="en-US" b="true" sz="1919" spc="-76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Citation Validation</a:t>
            </a:r>
          </a:p>
        </p:txBody>
      </p:sp>
      <p:sp>
        <p:nvSpPr>
          <p:cNvPr name="Freeform 38" id="38"/>
          <p:cNvSpPr/>
          <p:nvPr/>
        </p:nvSpPr>
        <p:spPr>
          <a:xfrm flipH="false" flipV="false" rot="0">
            <a:off x="11753850" y="7496175"/>
            <a:ext cx="876300" cy="866775"/>
          </a:xfrm>
          <a:custGeom>
            <a:avLst/>
            <a:gdLst/>
            <a:ahLst/>
            <a:cxnLst/>
            <a:rect r="r" b="b" t="t" l="l"/>
            <a:pathLst>
              <a:path h="866775" w="876300">
                <a:moveTo>
                  <a:pt x="0" y="0"/>
                </a:moveTo>
                <a:lnTo>
                  <a:pt x="876300" y="0"/>
                </a:lnTo>
                <a:lnTo>
                  <a:pt x="8763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13716000" y="7067550"/>
            <a:ext cx="219075" cy="1933575"/>
          </a:xfrm>
          <a:custGeom>
            <a:avLst/>
            <a:gdLst/>
            <a:ahLst/>
            <a:cxnLst/>
            <a:rect r="r" b="b" t="t" l="l"/>
            <a:pathLst>
              <a:path h="1933575" w="219075">
                <a:moveTo>
                  <a:pt x="0" y="0"/>
                </a:moveTo>
                <a:lnTo>
                  <a:pt x="219075" y="0"/>
                </a:lnTo>
                <a:lnTo>
                  <a:pt x="219075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14410944" y="7227760"/>
            <a:ext cx="2688336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5"/>
              </a:lnSpc>
            </a:pPr>
            <a:r>
              <a:rPr lang="en-US" b="true" sz="1879" spc="-75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Required Slack Evidence</a:t>
            </a:r>
          </a:p>
        </p:txBody>
      </p:sp>
      <p:sp>
        <p:nvSpPr>
          <p:cNvPr name="Freeform 41" id="41"/>
          <p:cNvSpPr/>
          <p:nvPr/>
        </p:nvSpPr>
        <p:spPr>
          <a:xfrm flipH="false" flipV="false" rot="0">
            <a:off x="15240000" y="7496175"/>
            <a:ext cx="876300" cy="866775"/>
          </a:xfrm>
          <a:custGeom>
            <a:avLst/>
            <a:gdLst/>
            <a:ahLst/>
            <a:cxnLst/>
            <a:rect r="r" b="b" t="t" l="l"/>
            <a:pathLst>
              <a:path h="866775" w="876300">
                <a:moveTo>
                  <a:pt x="0" y="0"/>
                </a:moveTo>
                <a:lnTo>
                  <a:pt x="876300" y="0"/>
                </a:lnTo>
                <a:lnTo>
                  <a:pt x="8763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14209776" y="8345043"/>
            <a:ext cx="3145536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0"/>
              </a:lnSpc>
            </a:pPr>
            <a:r>
              <a:rPr lang="en-US" b="true" sz="1900" spc="-76">
                <a:solidFill>
                  <a:srgbClr val="00C9FF"/>
                </a:solidFill>
                <a:latin typeface="Inter Bold"/>
                <a:ea typeface="Inter Bold"/>
                <a:cs typeface="Inter Bold"/>
                <a:sym typeface="Inter Bold"/>
              </a:rPr>
              <a:t>7 synthetic updates indexed Slack citations verified</a:t>
            </a:r>
          </a:p>
        </p:txBody>
      </p:sp>
      <p:sp>
        <p:nvSpPr>
          <p:cNvPr name="Freeform 43" id="43"/>
          <p:cNvSpPr/>
          <p:nvPr/>
        </p:nvSpPr>
        <p:spPr>
          <a:xfrm flipH="false" flipV="false" rot="0">
            <a:off x="428625" y="9210675"/>
            <a:ext cx="17430750" cy="866775"/>
          </a:xfrm>
          <a:custGeom>
            <a:avLst/>
            <a:gdLst/>
            <a:ahLst/>
            <a:cxnLst/>
            <a:rect r="r" b="b" t="t" l="l"/>
            <a:pathLst>
              <a:path h="866775" w="17430750">
                <a:moveTo>
                  <a:pt x="0" y="0"/>
                </a:moveTo>
                <a:lnTo>
                  <a:pt x="17430750" y="0"/>
                </a:lnTo>
                <a:lnTo>
                  <a:pt x="174307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866775" y="9429750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</p:sp>
      <p:sp>
        <p:nvSpPr>
          <p:cNvPr name="TextBox 45" id="45"/>
          <p:cNvSpPr txBox="true"/>
          <p:nvPr/>
        </p:nvSpPr>
        <p:spPr>
          <a:xfrm rot="0">
            <a:off x="1591056" y="9537573"/>
            <a:ext cx="15837408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99"/>
              </a:lnSpc>
            </a:pPr>
            <a:r>
              <a:rPr lang="en-US" b="true" sz="1999" spc="-79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 CONVINCING 11M RESPONSE IS INSUFFICIENT — CRITICAL SYSTEM BEHAVIOR MUST BE MEASURABLE AND REGRESSION-TESTED.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3496544" y="2440114"/>
            <a:ext cx="4174779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b="true" sz="2700" spc="-108">
                <a:solidFill>
                  <a:srgbClr val="00C9FF"/>
                </a:solidFill>
                <a:latin typeface="Inter Bold"/>
                <a:ea typeface="Inter Bold"/>
                <a:cs typeface="Inter Bold"/>
                <a:sym typeface="Inter Bold"/>
              </a:rPr>
              <a:t>BEHAVIOR REGRESSION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9692640" y="5943790"/>
            <a:ext cx="2834640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0"/>
              </a:lnSpc>
            </a:pPr>
            <a:r>
              <a:rPr lang="en-US" b="true" sz="2200" spc="-88">
                <a:solidFill>
                  <a:srgbClr val="00C9FF"/>
                </a:solidFill>
                <a:latin typeface="Inter Bold"/>
                <a:ea typeface="Inter Bold"/>
                <a:cs typeface="Inter Bold"/>
                <a:sym typeface="Inter Bold"/>
              </a:rPr>
              <a:t>BM25 + Dense + RAF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0750391" y="8590788"/>
            <a:ext cx="3005138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0"/>
              </a:lnSpc>
            </a:pPr>
            <a:r>
              <a:rPr lang="en-US" b="true" sz="1900" spc="-76">
                <a:solidFill>
                  <a:srgbClr val="00C9FF"/>
                </a:solidFill>
                <a:latin typeface="Inter Bold"/>
                <a:ea typeface="Inter Bold"/>
                <a:cs typeface="Inter Bold"/>
                <a:sym typeface="Inter Bold"/>
              </a:rPr>
              <a:t>10/10 citations validated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86740" y="640080"/>
            <a:ext cx="7644384" cy="488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The prototype validates the workflow. Production adds a durable data plane, incremental ingest, security, and operational scale.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428625" y="1066800"/>
            <a:ext cx="7191375" cy="4295775"/>
          </a:xfrm>
          <a:custGeom>
            <a:avLst/>
            <a:gdLst/>
            <a:ahLst/>
            <a:cxnLst/>
            <a:rect r="r" b="b" t="t" l="l"/>
            <a:pathLst>
              <a:path h="4295775" w="7191375">
                <a:moveTo>
                  <a:pt x="0" y="0"/>
                </a:moveTo>
                <a:lnTo>
                  <a:pt x="7191375" y="0"/>
                </a:lnTo>
                <a:lnTo>
                  <a:pt x="7191375" y="4295775"/>
                </a:lnTo>
                <a:lnTo>
                  <a:pt x="0" y="42957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28625" y="2143125"/>
            <a:ext cx="6981825" cy="219075"/>
          </a:xfrm>
          <a:custGeom>
            <a:avLst/>
            <a:gdLst/>
            <a:ahLst/>
            <a:cxnLst/>
            <a:rect r="r" b="b" t="t" l="l"/>
            <a:pathLst>
              <a:path h="219075" w="6981825">
                <a:moveTo>
                  <a:pt x="0" y="0"/>
                </a:moveTo>
                <a:lnTo>
                  <a:pt x="6981825" y="0"/>
                </a:lnTo>
                <a:lnTo>
                  <a:pt x="698182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66775" y="2143125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66775" y="2571750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66775" y="3000375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866775" y="3429000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66775" y="3857625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66775" y="4286250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866775" y="4714875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7620000" y="1066800"/>
            <a:ext cx="10239375" cy="4295775"/>
          </a:xfrm>
          <a:custGeom>
            <a:avLst/>
            <a:gdLst/>
            <a:ahLst/>
            <a:cxnLst/>
            <a:rect r="r" b="b" t="t" l="l"/>
            <a:pathLst>
              <a:path h="4295775" w="10239375">
                <a:moveTo>
                  <a:pt x="0" y="0"/>
                </a:moveTo>
                <a:lnTo>
                  <a:pt x="10239375" y="0"/>
                </a:lnTo>
                <a:lnTo>
                  <a:pt x="10239375" y="4295775"/>
                </a:lnTo>
                <a:lnTo>
                  <a:pt x="0" y="4295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7829550" y="2143125"/>
            <a:ext cx="9810750" cy="219075"/>
          </a:xfrm>
          <a:custGeom>
            <a:avLst/>
            <a:gdLst/>
            <a:ahLst/>
            <a:cxnLst/>
            <a:rect r="r" b="b" t="t" l="l"/>
            <a:pathLst>
              <a:path h="219075" w="9810750">
                <a:moveTo>
                  <a:pt x="0" y="0"/>
                </a:moveTo>
                <a:lnTo>
                  <a:pt x="9810750" y="0"/>
                </a:lnTo>
                <a:lnTo>
                  <a:pt x="9810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0229850" y="2143125"/>
            <a:ext cx="228600" cy="428625"/>
          </a:xfrm>
          <a:custGeom>
            <a:avLst/>
            <a:gdLst/>
            <a:ahLst/>
            <a:cxnLst/>
            <a:rect r="r" b="b" t="t" l="l"/>
            <a:pathLst>
              <a:path h="428625" w="228600">
                <a:moveTo>
                  <a:pt x="0" y="0"/>
                </a:moveTo>
                <a:lnTo>
                  <a:pt x="228600" y="0"/>
                </a:lnTo>
                <a:lnTo>
                  <a:pt x="2286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0229850" y="2571750"/>
            <a:ext cx="228600" cy="428625"/>
          </a:xfrm>
          <a:custGeom>
            <a:avLst/>
            <a:gdLst/>
            <a:ahLst/>
            <a:cxnLst/>
            <a:rect r="r" b="b" t="t" l="l"/>
            <a:pathLst>
              <a:path h="428625" w="228600">
                <a:moveTo>
                  <a:pt x="0" y="0"/>
                </a:moveTo>
                <a:lnTo>
                  <a:pt x="228600" y="0"/>
                </a:lnTo>
                <a:lnTo>
                  <a:pt x="2286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0229850" y="3000375"/>
            <a:ext cx="228600" cy="428625"/>
          </a:xfrm>
          <a:custGeom>
            <a:avLst/>
            <a:gdLst/>
            <a:ahLst/>
            <a:cxnLst/>
            <a:rect r="r" b="b" t="t" l="l"/>
            <a:pathLst>
              <a:path h="428625" w="228600">
                <a:moveTo>
                  <a:pt x="0" y="0"/>
                </a:moveTo>
                <a:lnTo>
                  <a:pt x="228600" y="0"/>
                </a:lnTo>
                <a:lnTo>
                  <a:pt x="2286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0229850" y="3429000"/>
            <a:ext cx="228600" cy="428625"/>
          </a:xfrm>
          <a:custGeom>
            <a:avLst/>
            <a:gdLst/>
            <a:ahLst/>
            <a:cxnLst/>
            <a:rect r="r" b="b" t="t" l="l"/>
            <a:pathLst>
              <a:path h="428625" w="228600">
                <a:moveTo>
                  <a:pt x="0" y="0"/>
                </a:moveTo>
                <a:lnTo>
                  <a:pt x="228600" y="0"/>
                </a:lnTo>
                <a:lnTo>
                  <a:pt x="2286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0229850" y="3857625"/>
            <a:ext cx="228600" cy="428625"/>
          </a:xfrm>
          <a:custGeom>
            <a:avLst/>
            <a:gdLst/>
            <a:ahLst/>
            <a:cxnLst/>
            <a:rect r="r" b="b" t="t" l="l"/>
            <a:pathLst>
              <a:path h="428625" w="228600">
                <a:moveTo>
                  <a:pt x="0" y="0"/>
                </a:moveTo>
                <a:lnTo>
                  <a:pt x="228600" y="0"/>
                </a:lnTo>
                <a:lnTo>
                  <a:pt x="2286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0229850" y="4286250"/>
            <a:ext cx="228600" cy="428625"/>
          </a:xfrm>
          <a:custGeom>
            <a:avLst/>
            <a:gdLst/>
            <a:ahLst/>
            <a:cxnLst/>
            <a:rect r="r" b="b" t="t" l="l"/>
            <a:pathLst>
              <a:path h="428625" w="228600">
                <a:moveTo>
                  <a:pt x="0" y="0"/>
                </a:moveTo>
                <a:lnTo>
                  <a:pt x="228600" y="0"/>
                </a:lnTo>
                <a:lnTo>
                  <a:pt x="2286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0229850" y="4714875"/>
            <a:ext cx="228600" cy="428625"/>
          </a:xfrm>
          <a:custGeom>
            <a:avLst/>
            <a:gdLst/>
            <a:ahLst/>
            <a:cxnLst/>
            <a:rect r="r" b="b" t="t" l="l"/>
            <a:pathLst>
              <a:path h="428625" w="228600">
                <a:moveTo>
                  <a:pt x="0" y="0"/>
                </a:moveTo>
                <a:lnTo>
                  <a:pt x="228600" y="0"/>
                </a:lnTo>
                <a:lnTo>
                  <a:pt x="2286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428625" y="5143500"/>
            <a:ext cx="17430750" cy="1933575"/>
          </a:xfrm>
          <a:custGeom>
            <a:avLst/>
            <a:gdLst/>
            <a:ahLst/>
            <a:cxnLst/>
            <a:rect r="r" b="b" t="t" l="l"/>
            <a:pathLst>
              <a:path h="1933575" w="17430750">
                <a:moveTo>
                  <a:pt x="0" y="0"/>
                </a:moveTo>
                <a:lnTo>
                  <a:pt x="17430750" y="0"/>
                </a:lnTo>
                <a:lnTo>
                  <a:pt x="1743075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664464" y="5676900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3695700" y="5572125"/>
            <a:ext cx="2619375" cy="857250"/>
          </a:xfrm>
          <a:custGeom>
            <a:avLst/>
            <a:gdLst/>
            <a:ahLst/>
            <a:cxnLst/>
            <a:rect r="r" b="b" t="t" l="l"/>
            <a:pathLst>
              <a:path h="857250" w="2619375">
                <a:moveTo>
                  <a:pt x="0" y="0"/>
                </a:moveTo>
                <a:lnTo>
                  <a:pt x="2619375" y="0"/>
                </a:lnTo>
                <a:lnTo>
                  <a:pt x="261937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4133850" y="5781675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6524625" y="5572125"/>
            <a:ext cx="2838450" cy="857250"/>
          </a:xfrm>
          <a:custGeom>
            <a:avLst/>
            <a:gdLst/>
            <a:ahLst/>
            <a:cxnLst/>
            <a:rect r="r" b="b" t="t" l="l"/>
            <a:pathLst>
              <a:path h="857250" w="2838450">
                <a:moveTo>
                  <a:pt x="0" y="0"/>
                </a:moveTo>
                <a:lnTo>
                  <a:pt x="2838450" y="0"/>
                </a:lnTo>
                <a:lnTo>
                  <a:pt x="28384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6743700" y="5781675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9353550" y="5572125"/>
            <a:ext cx="3276600" cy="857250"/>
          </a:xfrm>
          <a:custGeom>
            <a:avLst/>
            <a:gdLst/>
            <a:ahLst/>
            <a:cxnLst/>
            <a:rect r="r" b="b" t="t" l="l"/>
            <a:pathLst>
              <a:path h="857250" w="3276600">
                <a:moveTo>
                  <a:pt x="0" y="0"/>
                </a:moveTo>
                <a:lnTo>
                  <a:pt x="3276600" y="0"/>
                </a:lnTo>
                <a:lnTo>
                  <a:pt x="32766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9791700" y="5781675"/>
            <a:ext cx="447675" cy="647700"/>
          </a:xfrm>
          <a:custGeom>
            <a:avLst/>
            <a:gdLst/>
            <a:ahLst/>
            <a:cxnLst/>
            <a:rect r="r" b="b" t="t" l="l"/>
            <a:pathLst>
              <a:path h="647700" w="447675">
                <a:moveTo>
                  <a:pt x="0" y="0"/>
                </a:moveTo>
                <a:lnTo>
                  <a:pt x="447675" y="0"/>
                </a:lnTo>
                <a:lnTo>
                  <a:pt x="4476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12401550" y="5353050"/>
            <a:ext cx="1104900" cy="1504950"/>
          </a:xfrm>
          <a:custGeom>
            <a:avLst/>
            <a:gdLst/>
            <a:ahLst/>
            <a:cxnLst/>
            <a:rect r="r" b="b" t="t" l="l"/>
            <a:pathLst>
              <a:path h="1504950" w="1104900">
                <a:moveTo>
                  <a:pt x="0" y="0"/>
                </a:moveTo>
                <a:lnTo>
                  <a:pt x="1104900" y="0"/>
                </a:lnTo>
                <a:lnTo>
                  <a:pt x="110490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3277850" y="5353050"/>
            <a:ext cx="4362450" cy="647700"/>
          </a:xfrm>
          <a:custGeom>
            <a:avLst/>
            <a:gdLst/>
            <a:ahLst/>
            <a:cxnLst/>
            <a:rect r="r" b="b" t="t" l="l"/>
            <a:pathLst>
              <a:path h="647700" w="4362450">
                <a:moveTo>
                  <a:pt x="0" y="0"/>
                </a:moveTo>
                <a:lnTo>
                  <a:pt x="4362450" y="0"/>
                </a:lnTo>
                <a:lnTo>
                  <a:pt x="43624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13496925" y="5353050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13277850" y="5781675"/>
            <a:ext cx="4362450" cy="647700"/>
          </a:xfrm>
          <a:custGeom>
            <a:avLst/>
            <a:gdLst/>
            <a:ahLst/>
            <a:cxnLst/>
            <a:rect r="r" b="b" t="t" l="l"/>
            <a:pathLst>
              <a:path h="647700" w="4362450">
                <a:moveTo>
                  <a:pt x="0" y="0"/>
                </a:moveTo>
                <a:lnTo>
                  <a:pt x="4362450" y="0"/>
                </a:lnTo>
                <a:lnTo>
                  <a:pt x="43624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13496925" y="5781675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14136624" y="6099277"/>
            <a:ext cx="1975104" cy="1435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2"/>
              </a:lnSpc>
            </a:pPr>
            <a:r>
              <a:rPr lang="en-US" sz="115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Qdrant – Filtered retrieval</a:t>
            </a:r>
          </a:p>
        </p:txBody>
      </p:sp>
      <p:sp>
        <p:nvSpPr>
          <p:cNvPr name="Freeform 35" id="35"/>
          <p:cNvSpPr/>
          <p:nvPr/>
        </p:nvSpPr>
        <p:spPr>
          <a:xfrm flipH="false" flipV="false" rot="0">
            <a:off x="13277850" y="6210300"/>
            <a:ext cx="4362450" cy="866775"/>
          </a:xfrm>
          <a:custGeom>
            <a:avLst/>
            <a:gdLst/>
            <a:ahLst/>
            <a:cxnLst/>
            <a:rect r="r" b="b" t="t" l="l"/>
            <a:pathLst>
              <a:path h="866775" w="4362450">
                <a:moveTo>
                  <a:pt x="0" y="0"/>
                </a:moveTo>
                <a:lnTo>
                  <a:pt x="4362450" y="0"/>
                </a:lnTo>
                <a:lnTo>
                  <a:pt x="43624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>
              <a:fillRect l="0" t="0" r="0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13496925" y="6429375"/>
            <a:ext cx="657225" cy="428625"/>
          </a:xfrm>
          <a:custGeom>
            <a:avLst/>
            <a:gdLst/>
            <a:ahLst/>
            <a:cxnLst/>
            <a:rect r="r" b="b" t="t" l="l"/>
            <a:pathLst>
              <a:path h="428625" w="657225">
                <a:moveTo>
                  <a:pt x="0" y="0"/>
                </a:moveTo>
                <a:lnTo>
                  <a:pt x="657225" y="0"/>
                </a:lnTo>
                <a:lnTo>
                  <a:pt x="657225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>
              <a:fillRect l="0" t="0" r="0" b="0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428625" y="6858000"/>
            <a:ext cx="17430750" cy="1076325"/>
          </a:xfrm>
          <a:custGeom>
            <a:avLst/>
            <a:gdLst/>
            <a:ahLst/>
            <a:cxnLst/>
            <a:rect r="r" b="b" t="t" l="l"/>
            <a:pathLst>
              <a:path h="1076325" w="17430750">
                <a:moveTo>
                  <a:pt x="0" y="0"/>
                </a:moveTo>
                <a:lnTo>
                  <a:pt x="17430750" y="0"/>
                </a:lnTo>
                <a:lnTo>
                  <a:pt x="174307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>
              <a:fillRect l="0" t="0" r="0" b="0"/>
            </a:stretch>
          </a:blipFill>
        </p:spPr>
      </p:sp>
      <p:sp>
        <p:nvSpPr>
          <p:cNvPr name="Freeform 38" id="38"/>
          <p:cNvSpPr/>
          <p:nvPr/>
        </p:nvSpPr>
        <p:spPr>
          <a:xfrm flipH="false" flipV="false" rot="0">
            <a:off x="657225" y="7086600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>
              <a:fillRect l="0" t="0" r="0" b="0"/>
            </a:stretch>
          </a:blipFill>
        </p:spPr>
      </p:sp>
      <p:sp>
        <p:nvSpPr>
          <p:cNvPr name="TextBox 39" id="39"/>
          <p:cNvSpPr txBox="true"/>
          <p:nvPr/>
        </p:nvSpPr>
        <p:spPr>
          <a:xfrm rot="0">
            <a:off x="6172200" y="7315200"/>
            <a:ext cx="1507998" cy="1713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37"/>
              </a:lnSpc>
            </a:pPr>
            <a:r>
              <a:rPr lang="en-US" sz="1337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Secrets Manager</a:t>
            </a:r>
          </a:p>
        </p:txBody>
      </p:sp>
      <p:sp>
        <p:nvSpPr>
          <p:cNvPr name="Freeform 40" id="40"/>
          <p:cNvSpPr/>
          <p:nvPr/>
        </p:nvSpPr>
        <p:spPr>
          <a:xfrm flipH="false" flipV="false" rot="0">
            <a:off x="5000625" y="6858000"/>
            <a:ext cx="3933825" cy="857250"/>
          </a:xfrm>
          <a:custGeom>
            <a:avLst/>
            <a:gdLst/>
            <a:ahLst/>
            <a:cxnLst/>
            <a:rect r="r" b="b" t="t" l="l"/>
            <a:pathLst>
              <a:path h="857250" w="3933825">
                <a:moveTo>
                  <a:pt x="0" y="0"/>
                </a:moveTo>
                <a:lnTo>
                  <a:pt x="3933825" y="0"/>
                </a:lnTo>
                <a:lnTo>
                  <a:pt x="39338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>
              <a:fillRect l="0" t="0" r="0" b="0"/>
            </a:stretch>
          </a:blipFill>
        </p:spPr>
      </p:sp>
      <p:sp>
        <p:nvSpPr>
          <p:cNvPr name="Freeform 41" id="41"/>
          <p:cNvSpPr/>
          <p:nvPr/>
        </p:nvSpPr>
        <p:spPr>
          <a:xfrm flipH="false" flipV="false" rot="0">
            <a:off x="5438775" y="7067550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>
              <a:fillRect l="0" t="0" r="0" b="0"/>
            </a:stretch>
          </a:blipFill>
        </p:spPr>
      </p:sp>
      <p:sp>
        <p:nvSpPr>
          <p:cNvPr name="Freeform 42" id="42"/>
          <p:cNvSpPr/>
          <p:nvPr/>
        </p:nvSpPr>
        <p:spPr>
          <a:xfrm flipH="false" flipV="false" rot="0">
            <a:off x="9353550" y="6858000"/>
            <a:ext cx="4152900" cy="857250"/>
          </a:xfrm>
          <a:custGeom>
            <a:avLst/>
            <a:gdLst/>
            <a:ahLst/>
            <a:cxnLst/>
            <a:rect r="r" b="b" t="t" l="l"/>
            <a:pathLst>
              <a:path h="857250" w="4152900">
                <a:moveTo>
                  <a:pt x="0" y="0"/>
                </a:moveTo>
                <a:lnTo>
                  <a:pt x="4152900" y="0"/>
                </a:lnTo>
                <a:lnTo>
                  <a:pt x="41529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>
              <a:fillRect l="0" t="0" r="0" b="0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9791700" y="7067550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428625" y="7715250"/>
            <a:ext cx="17430750" cy="1504950"/>
          </a:xfrm>
          <a:custGeom>
            <a:avLst/>
            <a:gdLst/>
            <a:ahLst/>
            <a:cxnLst/>
            <a:rect r="r" b="b" t="t" l="l"/>
            <a:pathLst>
              <a:path h="1504950" w="17430750">
                <a:moveTo>
                  <a:pt x="0" y="0"/>
                </a:moveTo>
                <a:lnTo>
                  <a:pt x="17430750" y="0"/>
                </a:lnTo>
                <a:lnTo>
                  <a:pt x="1743075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>
              <a:fillRect l="0" t="0" r="0" b="0"/>
            </a:stretch>
          </a:blipFill>
        </p:spPr>
      </p:sp>
      <p:sp>
        <p:nvSpPr>
          <p:cNvPr name="Freeform 45" id="45"/>
          <p:cNvSpPr/>
          <p:nvPr/>
        </p:nvSpPr>
        <p:spPr>
          <a:xfrm flipH="false" flipV="false" rot="0">
            <a:off x="673703" y="8139112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>
              <a:fillRect l="0" t="0" r="0" b="0"/>
            </a:stretch>
          </a:blipFill>
        </p:spPr>
      </p:sp>
      <p:sp>
        <p:nvSpPr>
          <p:cNvPr name="Freeform 46" id="46"/>
          <p:cNvSpPr/>
          <p:nvPr/>
        </p:nvSpPr>
        <p:spPr>
          <a:xfrm flipH="false" flipV="false" rot="0">
            <a:off x="3048000" y="7924800"/>
            <a:ext cx="3267075" cy="1076325"/>
          </a:xfrm>
          <a:custGeom>
            <a:avLst/>
            <a:gdLst/>
            <a:ahLst/>
            <a:cxnLst/>
            <a:rect r="r" b="b" t="t" l="l"/>
            <a:pathLst>
              <a:path h="1076325" w="3267075">
                <a:moveTo>
                  <a:pt x="0" y="0"/>
                </a:moveTo>
                <a:lnTo>
                  <a:pt x="3267075" y="0"/>
                </a:lnTo>
                <a:lnTo>
                  <a:pt x="32670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>
              <a:fillRect l="0" t="0" r="0" b="0"/>
            </a:stretch>
          </a:blipFill>
        </p:spPr>
      </p:sp>
      <p:sp>
        <p:nvSpPr>
          <p:cNvPr name="Freeform 47" id="47"/>
          <p:cNvSpPr/>
          <p:nvPr/>
        </p:nvSpPr>
        <p:spPr>
          <a:xfrm flipH="false" flipV="false" rot="0">
            <a:off x="3476625" y="7924800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>
              <a:fillRect l="0" t="0" r="0" b="0"/>
            </a:stretch>
          </a:blipFill>
        </p:spPr>
      </p:sp>
      <p:sp>
        <p:nvSpPr>
          <p:cNvPr name="Freeform 48" id="48"/>
          <p:cNvSpPr/>
          <p:nvPr/>
        </p:nvSpPr>
        <p:spPr>
          <a:xfrm flipH="false" flipV="false" rot="0">
            <a:off x="4133850" y="7924800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>
              <a:fillRect l="0" t="0" r="0" b="0"/>
            </a:stretch>
          </a:blipFill>
        </p:spPr>
      </p:sp>
      <p:sp>
        <p:nvSpPr>
          <p:cNvPr name="Freeform 49" id="49"/>
          <p:cNvSpPr/>
          <p:nvPr/>
        </p:nvSpPr>
        <p:spPr>
          <a:xfrm flipH="false" flipV="false" rot="0">
            <a:off x="4781550" y="7924800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>
              <a:fillRect l="0" t="0" r="0" b="0"/>
            </a:stretch>
          </a:blipFill>
        </p:spPr>
      </p:sp>
      <p:sp>
        <p:nvSpPr>
          <p:cNvPr name="Freeform 50" id="50"/>
          <p:cNvSpPr/>
          <p:nvPr/>
        </p:nvSpPr>
        <p:spPr>
          <a:xfrm flipH="false" flipV="false" rot="0">
            <a:off x="5438775" y="7924800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>
              <a:fillRect l="0" t="0" r="0" b="0"/>
            </a:stretch>
          </a:blipFill>
        </p:spPr>
      </p:sp>
      <p:sp>
        <p:nvSpPr>
          <p:cNvPr name="Freeform 51" id="51"/>
          <p:cNvSpPr/>
          <p:nvPr/>
        </p:nvSpPr>
        <p:spPr>
          <a:xfrm flipH="false" flipV="false" rot="0">
            <a:off x="6524625" y="7924800"/>
            <a:ext cx="2838450" cy="1076325"/>
          </a:xfrm>
          <a:custGeom>
            <a:avLst/>
            <a:gdLst/>
            <a:ahLst/>
            <a:cxnLst/>
            <a:rect r="r" b="b" t="t" l="l"/>
            <a:pathLst>
              <a:path h="1076325" w="2838450">
                <a:moveTo>
                  <a:pt x="0" y="0"/>
                </a:moveTo>
                <a:lnTo>
                  <a:pt x="2838450" y="0"/>
                </a:lnTo>
                <a:lnTo>
                  <a:pt x="28384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>
              <a:fillRect l="0" t="0" r="0" b="0"/>
            </a:stretch>
          </a:blipFill>
        </p:spPr>
      </p:sp>
      <p:sp>
        <p:nvSpPr>
          <p:cNvPr name="Freeform 52" id="52"/>
          <p:cNvSpPr/>
          <p:nvPr/>
        </p:nvSpPr>
        <p:spPr>
          <a:xfrm flipH="false" flipV="false" rot="0">
            <a:off x="6524625" y="8143875"/>
            <a:ext cx="885825" cy="647700"/>
          </a:xfrm>
          <a:custGeom>
            <a:avLst/>
            <a:gdLst/>
            <a:ahLst/>
            <a:cxnLst/>
            <a:rect r="r" b="b" t="t" l="l"/>
            <a:pathLst>
              <a:path h="647700" w="885825">
                <a:moveTo>
                  <a:pt x="0" y="0"/>
                </a:moveTo>
                <a:lnTo>
                  <a:pt x="885825" y="0"/>
                </a:lnTo>
                <a:lnTo>
                  <a:pt x="8858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>
              <a:fillRect l="0" t="0" r="0" b="0"/>
            </a:stretch>
          </a:blipFill>
        </p:spPr>
      </p:sp>
      <p:sp>
        <p:nvSpPr>
          <p:cNvPr name="Freeform 53" id="53"/>
          <p:cNvSpPr/>
          <p:nvPr/>
        </p:nvSpPr>
        <p:spPr>
          <a:xfrm flipH="false" flipV="false" rot="0">
            <a:off x="9353550" y="7924800"/>
            <a:ext cx="2409825" cy="1076325"/>
          </a:xfrm>
          <a:custGeom>
            <a:avLst/>
            <a:gdLst/>
            <a:ahLst/>
            <a:cxnLst/>
            <a:rect r="r" b="b" t="t" l="l"/>
            <a:pathLst>
              <a:path h="1076325" w="2409825">
                <a:moveTo>
                  <a:pt x="0" y="0"/>
                </a:moveTo>
                <a:lnTo>
                  <a:pt x="2409825" y="0"/>
                </a:lnTo>
                <a:lnTo>
                  <a:pt x="240982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>
              <a:fillRect l="0" t="0" r="0" b="0"/>
            </a:stretch>
          </a:blipFill>
        </p:spPr>
      </p:sp>
      <p:sp>
        <p:nvSpPr>
          <p:cNvPr name="Freeform 54" id="54"/>
          <p:cNvSpPr/>
          <p:nvPr/>
        </p:nvSpPr>
        <p:spPr>
          <a:xfrm flipH="false" flipV="false" rot="0">
            <a:off x="9572625" y="8143875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>
              <a:fillRect l="0" t="0" r="0" b="0"/>
            </a:stretch>
          </a:blipFill>
        </p:spPr>
      </p:sp>
      <p:sp>
        <p:nvSpPr>
          <p:cNvPr name="Freeform 55" id="55"/>
          <p:cNvSpPr/>
          <p:nvPr/>
        </p:nvSpPr>
        <p:spPr>
          <a:xfrm flipH="false" flipV="false" rot="0">
            <a:off x="11972925" y="7924800"/>
            <a:ext cx="2400300" cy="1076325"/>
          </a:xfrm>
          <a:custGeom>
            <a:avLst/>
            <a:gdLst/>
            <a:ahLst/>
            <a:cxnLst/>
            <a:rect r="r" b="b" t="t" l="l"/>
            <a:pathLst>
              <a:path h="1076325" w="2400300">
                <a:moveTo>
                  <a:pt x="0" y="0"/>
                </a:moveTo>
                <a:lnTo>
                  <a:pt x="2400300" y="0"/>
                </a:lnTo>
                <a:lnTo>
                  <a:pt x="24003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>
              <a:fillRect l="0" t="0" r="0" b="0"/>
            </a:stretch>
          </a:blipFill>
        </p:spPr>
      </p:sp>
      <p:sp>
        <p:nvSpPr>
          <p:cNvPr name="Freeform 56" id="56"/>
          <p:cNvSpPr/>
          <p:nvPr/>
        </p:nvSpPr>
        <p:spPr>
          <a:xfrm flipH="false" flipV="false" rot="0">
            <a:off x="11972925" y="8143875"/>
            <a:ext cx="657225" cy="647700"/>
          </a:xfrm>
          <a:custGeom>
            <a:avLst/>
            <a:gdLst/>
            <a:ahLst/>
            <a:cxnLst/>
            <a:rect r="r" b="b" t="t" l="l"/>
            <a:pathLst>
              <a:path h="647700" w="657225">
                <a:moveTo>
                  <a:pt x="0" y="0"/>
                </a:moveTo>
                <a:lnTo>
                  <a:pt x="657225" y="0"/>
                </a:lnTo>
                <a:lnTo>
                  <a:pt x="65722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53"/>
            <a:stretch>
              <a:fillRect l="0" t="0" r="0" b="0"/>
            </a:stretch>
          </a:blipFill>
        </p:spPr>
      </p:sp>
      <p:sp>
        <p:nvSpPr>
          <p:cNvPr name="Freeform 57" id="57"/>
          <p:cNvSpPr/>
          <p:nvPr/>
        </p:nvSpPr>
        <p:spPr>
          <a:xfrm flipH="false" flipV="false" rot="0">
            <a:off x="14363700" y="7924800"/>
            <a:ext cx="447675" cy="1076325"/>
          </a:xfrm>
          <a:custGeom>
            <a:avLst/>
            <a:gdLst/>
            <a:ahLst/>
            <a:cxnLst/>
            <a:rect r="r" b="b" t="t" l="l"/>
            <a:pathLst>
              <a:path h="1076325" w="447675">
                <a:moveTo>
                  <a:pt x="0" y="0"/>
                </a:moveTo>
                <a:lnTo>
                  <a:pt x="447675" y="0"/>
                </a:lnTo>
                <a:lnTo>
                  <a:pt x="447675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54"/>
            <a:stretch>
              <a:fillRect l="0" t="0" r="0" b="0"/>
            </a:stretch>
          </a:blipFill>
        </p:spPr>
      </p:sp>
      <p:sp>
        <p:nvSpPr>
          <p:cNvPr name="Freeform 58" id="58"/>
          <p:cNvSpPr/>
          <p:nvPr/>
        </p:nvSpPr>
        <p:spPr>
          <a:xfrm flipH="false" flipV="false" rot="0">
            <a:off x="14582775" y="7715250"/>
            <a:ext cx="3057525" cy="857250"/>
          </a:xfrm>
          <a:custGeom>
            <a:avLst/>
            <a:gdLst/>
            <a:ahLst/>
            <a:cxnLst/>
            <a:rect r="r" b="b" t="t" l="l"/>
            <a:pathLst>
              <a:path h="857250" w="3057525">
                <a:moveTo>
                  <a:pt x="0" y="0"/>
                </a:moveTo>
                <a:lnTo>
                  <a:pt x="3057525" y="0"/>
                </a:lnTo>
                <a:lnTo>
                  <a:pt x="30575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55"/>
            <a:stretch>
              <a:fillRect l="0" t="0" r="0" b="0"/>
            </a:stretch>
          </a:blipFill>
        </p:spPr>
      </p:sp>
      <p:sp>
        <p:nvSpPr>
          <p:cNvPr name="Freeform 59" id="59"/>
          <p:cNvSpPr/>
          <p:nvPr/>
        </p:nvSpPr>
        <p:spPr>
          <a:xfrm flipH="false" flipV="false" rot="0">
            <a:off x="14582775" y="8353425"/>
            <a:ext cx="3057525" cy="866775"/>
          </a:xfrm>
          <a:custGeom>
            <a:avLst/>
            <a:gdLst/>
            <a:ahLst/>
            <a:cxnLst/>
            <a:rect r="r" b="b" t="t" l="l"/>
            <a:pathLst>
              <a:path h="866775" w="3057525">
                <a:moveTo>
                  <a:pt x="0" y="0"/>
                </a:moveTo>
                <a:lnTo>
                  <a:pt x="3057525" y="0"/>
                </a:lnTo>
                <a:lnTo>
                  <a:pt x="3057525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56"/>
            <a:stretch>
              <a:fillRect l="0" t="0" r="0" b="0"/>
            </a:stretch>
          </a:blipFill>
        </p:spPr>
      </p:sp>
      <p:sp>
        <p:nvSpPr>
          <p:cNvPr name="Freeform 60" id="60"/>
          <p:cNvSpPr/>
          <p:nvPr/>
        </p:nvSpPr>
        <p:spPr>
          <a:xfrm flipH="false" flipV="false" rot="0">
            <a:off x="428625" y="9210675"/>
            <a:ext cx="17430750" cy="1076325"/>
          </a:xfrm>
          <a:custGeom>
            <a:avLst/>
            <a:gdLst/>
            <a:ahLst/>
            <a:cxnLst/>
            <a:rect r="r" b="b" t="t" l="l"/>
            <a:pathLst>
              <a:path h="1076325" w="17430750">
                <a:moveTo>
                  <a:pt x="0" y="0"/>
                </a:moveTo>
                <a:lnTo>
                  <a:pt x="17430750" y="0"/>
                </a:lnTo>
                <a:lnTo>
                  <a:pt x="1743075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blipFill>
            <a:blip r:embed="rId57"/>
            <a:stretch>
              <a:fillRect l="0" t="0" r="0" b="0"/>
            </a:stretch>
          </a:blipFill>
        </p:spPr>
      </p:sp>
      <p:sp>
        <p:nvSpPr>
          <p:cNvPr name="Freeform 61" id="61"/>
          <p:cNvSpPr/>
          <p:nvPr/>
        </p:nvSpPr>
        <p:spPr>
          <a:xfrm flipH="false" flipV="false" rot="0">
            <a:off x="673703" y="9319522"/>
            <a:ext cx="682562" cy="675142"/>
          </a:xfrm>
          <a:custGeom>
            <a:avLst/>
            <a:gdLst/>
            <a:ahLst/>
            <a:cxnLst/>
            <a:rect r="r" b="b" t="t" l="l"/>
            <a:pathLst>
              <a:path h="675142" w="682562">
                <a:moveTo>
                  <a:pt x="0" y="0"/>
                </a:moveTo>
                <a:lnTo>
                  <a:pt x="682562" y="0"/>
                </a:lnTo>
                <a:lnTo>
                  <a:pt x="682562" y="675142"/>
                </a:lnTo>
                <a:lnTo>
                  <a:pt x="0" y="675142"/>
                </a:lnTo>
                <a:lnTo>
                  <a:pt x="0" y="0"/>
                </a:lnTo>
                <a:close/>
              </a:path>
            </a:pathLst>
          </a:custGeom>
          <a:blipFill>
            <a:blip r:embed="rId58"/>
            <a:stretch>
              <a:fillRect l="0" t="0" r="0" b="0"/>
            </a:stretch>
          </a:blipFill>
        </p:spPr>
      </p:sp>
      <p:sp>
        <p:nvSpPr>
          <p:cNvPr name="Freeform 62" id="62"/>
          <p:cNvSpPr/>
          <p:nvPr/>
        </p:nvSpPr>
        <p:spPr>
          <a:xfrm flipH="false" flipV="false" rot="0">
            <a:off x="14835473" y="8572500"/>
            <a:ext cx="487921" cy="584336"/>
          </a:xfrm>
          <a:custGeom>
            <a:avLst/>
            <a:gdLst/>
            <a:ahLst/>
            <a:cxnLst/>
            <a:rect r="r" b="b" t="t" l="l"/>
            <a:pathLst>
              <a:path h="584336" w="487921">
                <a:moveTo>
                  <a:pt x="0" y="0"/>
                </a:moveTo>
                <a:lnTo>
                  <a:pt x="487921" y="0"/>
                </a:lnTo>
                <a:lnTo>
                  <a:pt x="487921" y="584336"/>
                </a:lnTo>
                <a:lnTo>
                  <a:pt x="0" y="584336"/>
                </a:lnTo>
                <a:lnTo>
                  <a:pt x="0" y="0"/>
                </a:lnTo>
                <a:close/>
              </a:path>
            </a:pathLst>
          </a:custGeom>
          <a:blipFill>
            <a:blip r:embed="rId59">
              <a:extLst>
                <a:ext uri="{96DAC541-7B7A-43D3-8B79-37D633B846F1}">
                  <asvg:svgBlip xmlns:asvg="http://schemas.microsoft.com/office/drawing/2016/SVG/main" r:embed="rId6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3" id="63"/>
          <p:cNvSpPr/>
          <p:nvPr/>
        </p:nvSpPr>
        <p:spPr>
          <a:xfrm flipH="false" flipV="false" rot="0">
            <a:off x="14909387" y="7915084"/>
            <a:ext cx="378619" cy="504825"/>
          </a:xfrm>
          <a:custGeom>
            <a:avLst/>
            <a:gdLst/>
            <a:ahLst/>
            <a:cxnLst/>
            <a:rect r="r" b="b" t="t" l="l"/>
            <a:pathLst>
              <a:path h="504825" w="378619">
                <a:moveTo>
                  <a:pt x="0" y="0"/>
                </a:moveTo>
                <a:lnTo>
                  <a:pt x="378619" y="0"/>
                </a:lnTo>
                <a:lnTo>
                  <a:pt x="378619" y="504825"/>
                </a:lnTo>
                <a:lnTo>
                  <a:pt x="0" y="504825"/>
                </a:lnTo>
                <a:lnTo>
                  <a:pt x="0" y="0"/>
                </a:lnTo>
                <a:close/>
              </a:path>
            </a:pathLst>
          </a:custGeom>
          <a:blipFill>
            <a:blip r:embed="rId61"/>
            <a:stretch>
              <a:fillRect l="0" t="0" r="0" b="0"/>
            </a:stretch>
          </a:blipFill>
        </p:spPr>
      </p:sp>
      <p:sp>
        <p:nvSpPr>
          <p:cNvPr name="TextBox 64" id="64"/>
          <p:cNvSpPr txBox="true"/>
          <p:nvPr/>
        </p:nvSpPr>
        <p:spPr>
          <a:xfrm rot="0">
            <a:off x="548640" y="204025"/>
            <a:ext cx="6382512" cy="389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970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WHAT BREAKS IN PRODUCTION?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2304288" y="1804987"/>
            <a:ext cx="3127248" cy="132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0"/>
              </a:lnSpc>
            </a:pPr>
            <a:r>
              <a:rPr lang="en-US" sz="1080" b="true">
                <a:solidFill>
                  <a:srgbClr val="00FFFF"/>
                </a:solidFill>
                <a:latin typeface="Garet Bold"/>
                <a:ea typeface="Garet Bold"/>
                <a:cs typeface="Garet Bold"/>
                <a:sym typeface="Garet Bold"/>
              </a:rPr>
              <a:t>CURRENT / LOCAL RUNNABLE PROTOTYPE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0405872" y="1491577"/>
            <a:ext cx="2962656" cy="234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28"/>
              </a:lnSpc>
            </a:pPr>
            <a:r>
              <a:rPr lang="en-US" sz="1728" b="true">
                <a:solidFill>
                  <a:srgbClr val="00FFFF"/>
                </a:solidFill>
                <a:latin typeface="Garet Bold"/>
                <a:ea typeface="Garet Bold"/>
                <a:cs typeface="Garet Bold"/>
                <a:sym typeface="Garet Bold"/>
              </a:rPr>
              <a:t>PRODUCTION EVOLUTION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10533888" y="1804987"/>
            <a:ext cx="1536192" cy="132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0"/>
              </a:lnSpc>
            </a:pPr>
            <a:r>
              <a:rPr lang="en-US" sz="1080" b="true">
                <a:solidFill>
                  <a:srgbClr val="00FFFF"/>
                </a:solidFill>
                <a:latin typeface="Garet Bold"/>
                <a:ea typeface="Garet Bold"/>
                <a:cs typeface="Garet Bold"/>
                <a:sym typeface="Garet Bold"/>
              </a:rPr>
              <a:t>FUTURE / PROPOSED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3456432" y="8601074"/>
            <a:ext cx="2601468" cy="119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0"/>
              </a:lnSpc>
            </a:pPr>
            <a:r>
              <a:rPr lang="en-US" sz="96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Salesforce / Gong / Slack / Pricing APIs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7343013" y="8290522"/>
            <a:ext cx="1691164" cy="287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8"/>
              </a:lnSpc>
            </a:pPr>
            <a:r>
              <a:rPr lang="en-US" sz="1188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Connectors /</a:t>
            </a:r>
          </a:p>
          <a:p>
            <a:pPr algn="l">
              <a:lnSpc>
                <a:spcPts val="1188"/>
              </a:lnSpc>
            </a:pPr>
            <a:r>
              <a:rPr lang="en-US" sz="1188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Webhooks / Polling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10229850" y="8290522"/>
            <a:ext cx="1066800" cy="287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8"/>
              </a:lnSpc>
            </a:pPr>
            <a:r>
              <a:rPr lang="en-US" sz="1188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SQS / EventBridge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5489936" y="8003248"/>
            <a:ext cx="1321011" cy="499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87"/>
              </a:lnSpc>
            </a:pPr>
            <a:r>
              <a:rPr lang="en-US" sz="1287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Qdrant</a:t>
            </a:r>
          </a:p>
          <a:p>
            <a:pPr algn="l">
              <a:lnSpc>
                <a:spcPts val="1287"/>
              </a:lnSpc>
            </a:pPr>
            <a:r>
              <a:rPr lang="en-US" sz="1287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Hot Search Index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5489936" y="8734493"/>
            <a:ext cx="1677924" cy="2794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0"/>
              </a:lnSpc>
            </a:pPr>
            <a:r>
              <a:rPr lang="en-US" sz="100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S3 Raw Archive + Replay</a:t>
            </a:r>
          </a:p>
          <a:p>
            <a:pPr algn="l">
              <a:lnSpc>
                <a:spcPts val="1100"/>
              </a:lnSpc>
            </a:pPr>
          </a:p>
        </p:txBody>
      </p:sp>
      <p:sp>
        <p:nvSpPr>
          <p:cNvPr name="TextBox 73" id="73"/>
          <p:cNvSpPr txBox="true"/>
          <p:nvPr/>
        </p:nvSpPr>
        <p:spPr>
          <a:xfrm rot="0">
            <a:off x="1389126" y="9601200"/>
            <a:ext cx="475488" cy="144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8"/>
              </a:lnSpc>
            </a:pPr>
            <a:r>
              <a:rPr lang="en-US" sz="1188" b="true">
                <a:solidFill>
                  <a:srgbClr val="00FFFF"/>
                </a:solidFill>
                <a:latin typeface="Garet Bold"/>
                <a:ea typeface="Garet Bold"/>
                <a:cs typeface="Garet Bold"/>
                <a:sym typeface="Garet Bold"/>
              </a:rPr>
              <a:t>RISK: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1956626" y="9511360"/>
            <a:ext cx="15683674" cy="248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9"/>
              </a:lnSpc>
            </a:pPr>
            <a:r>
              <a:rPr lang="en-US" sz="1299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A local snapshot is not a production data platform. Without incremental ingestion, durable state, replay, and authorization-aware indexing, freshness and concurrency fail at scale.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2304288" y="1508379"/>
            <a:ext cx="1298448" cy="2007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0"/>
              </a:lnSpc>
            </a:pPr>
            <a:r>
              <a:rPr lang="en-US" sz="1530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PROTOTYPE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1956816" y="2364638"/>
            <a:ext cx="3355848" cy="190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87"/>
              </a:lnSpc>
            </a:pPr>
            <a:r>
              <a:rPr lang="en-US" sz="1487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Local single-process application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956816" y="2817266"/>
            <a:ext cx="2505646" cy="190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87"/>
              </a:lnSpc>
            </a:pPr>
            <a:r>
              <a:rPr lang="en-US" sz="1487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Local Qdrant index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1956816" y="3218459"/>
            <a:ext cx="2194560" cy="190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87"/>
              </a:lnSpc>
            </a:pPr>
            <a:r>
              <a:rPr lang="en-US" sz="1487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Local workflow state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1956816" y="3629939"/>
            <a:ext cx="2067497" cy="190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87"/>
              </a:lnSpc>
            </a:pPr>
            <a:r>
              <a:rPr lang="en-US" sz="1487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Local run artifacts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1956816" y="4041419"/>
            <a:ext cx="1853184" cy="190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87"/>
              </a:lnSpc>
            </a:pPr>
            <a:r>
              <a:rPr lang="en-US" sz="1487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Static file ingest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1956816" y="4483760"/>
            <a:ext cx="2800350" cy="190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87"/>
              </a:lnSpc>
            </a:pPr>
            <a:r>
              <a:rPr lang="en-US" sz="1487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Single application instance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956816" y="4884953"/>
            <a:ext cx="1853184" cy="1901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87"/>
              </a:lnSpc>
            </a:pPr>
            <a:r>
              <a:rPr lang="en-US" sz="1487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Live LLM provider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7973568" y="2364638"/>
            <a:ext cx="1729757" cy="195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0"/>
              </a:lnSpc>
            </a:pPr>
            <a:r>
              <a:rPr lang="en-US" sz="1490" b="true">
                <a:solidFill>
                  <a:srgbClr val="00FFFF"/>
                </a:solidFill>
                <a:latin typeface="Garet Bold"/>
                <a:ea typeface="Garet Bold"/>
                <a:cs typeface="Garet Bold"/>
                <a:sym typeface="Garet Bold"/>
              </a:rPr>
              <a:t>Data Ingestion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10588752" y="2364638"/>
            <a:ext cx="6358946" cy="3759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0"/>
              </a:lnSpc>
            </a:pPr>
            <a:r>
              <a:rPr lang="en-US" sz="1490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Connectors, webhooks, polling, SQS/EventBridge</a:t>
            </a:r>
          </a:p>
          <a:p>
            <a:pPr algn="l">
              <a:lnSpc>
                <a:spcPts val="1490"/>
              </a:lnSpc>
            </a:pPr>
          </a:p>
        </p:txBody>
      </p:sp>
      <p:sp>
        <p:nvSpPr>
          <p:cNvPr name="TextBox 85" id="85"/>
          <p:cNvSpPr txBox="true"/>
          <p:nvPr/>
        </p:nvSpPr>
        <p:spPr>
          <a:xfrm rot="0">
            <a:off x="7973568" y="2817266"/>
            <a:ext cx="1779895" cy="195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0"/>
              </a:lnSpc>
            </a:pPr>
            <a:r>
              <a:rPr lang="en-US" sz="1490" b="true">
                <a:solidFill>
                  <a:srgbClr val="00FFFF"/>
                </a:solidFill>
                <a:latin typeface="Garet Bold"/>
                <a:ea typeface="Garet Bold"/>
                <a:cs typeface="Garet Bold"/>
                <a:sym typeface="Garet Bold"/>
              </a:rPr>
              <a:t>Index Lifecycle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10588752" y="2817266"/>
            <a:ext cx="4991431" cy="195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0"/>
              </a:lnSpc>
            </a:pPr>
            <a:r>
              <a:rPr lang="en-US" sz="1490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Incremental upsets, deletes, replay, idempotency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7973568" y="3218459"/>
            <a:ext cx="2231136" cy="195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0"/>
              </a:lnSpc>
            </a:pPr>
            <a:r>
              <a:rPr lang="en-US" sz="1490" b="true">
                <a:solidFill>
                  <a:srgbClr val="00FFFF"/>
                </a:solidFill>
                <a:latin typeface="Garet Bold"/>
                <a:ea typeface="Garet Bold"/>
                <a:cs typeface="Garet Bold"/>
                <a:sym typeface="Garet Bold"/>
              </a:rPr>
              <a:t>Freshness &amp; History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10588752" y="3218459"/>
            <a:ext cx="5492853" cy="195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0"/>
              </a:lnSpc>
            </a:pPr>
            <a:r>
              <a:rPr lang="en-US" sz="1490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Hot index for recent data, archive for historical search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7973568" y="3629939"/>
            <a:ext cx="1654550" cy="195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0"/>
              </a:lnSpc>
            </a:pPr>
            <a:r>
              <a:rPr lang="en-US" sz="1490" b="true">
                <a:solidFill>
                  <a:srgbClr val="00FFFF"/>
                </a:solidFill>
                <a:latin typeface="Garet Bold"/>
                <a:ea typeface="Garet Bold"/>
                <a:cs typeface="Garet Bold"/>
                <a:sym typeface="Garet Bold"/>
              </a:rPr>
              <a:t>Durable State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10588752" y="3629939"/>
            <a:ext cx="6222195" cy="195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0"/>
              </a:lnSpc>
            </a:pPr>
            <a:r>
              <a:rPr lang="en-US" sz="1490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PostgreSQL workflow state, approvals, ingest checkpoints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7973568" y="4041419"/>
            <a:ext cx="1027827" cy="195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0"/>
              </a:lnSpc>
            </a:pPr>
            <a:r>
              <a:rPr lang="en-US" sz="1490" b="true">
                <a:solidFill>
                  <a:srgbClr val="00FFFF"/>
                </a:solidFill>
                <a:latin typeface="Garet Bold"/>
                <a:ea typeface="Garet Bold"/>
                <a:cs typeface="Garet Bold"/>
                <a:sym typeface="Garet Bold"/>
              </a:rPr>
              <a:t>Security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10588752" y="4041419"/>
            <a:ext cx="6358946" cy="195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0"/>
              </a:lnSpc>
            </a:pPr>
            <a:r>
              <a:rPr lang="en-US" sz="1490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API authentication, IAM, secrets management; tenant isolation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7973568" y="4489895"/>
            <a:ext cx="1930309" cy="195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0"/>
              </a:lnSpc>
            </a:pPr>
            <a:r>
              <a:rPr lang="en-US" sz="1490" b="true">
                <a:solidFill>
                  <a:srgbClr val="00FFFF"/>
                </a:solidFill>
                <a:latin typeface="Garet Bold"/>
                <a:ea typeface="Garet Bold"/>
                <a:cs typeface="Garet Bold"/>
                <a:sym typeface="Garet Bold"/>
              </a:rPr>
              <a:t>Availability &amp; Scale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10588752" y="4483760"/>
            <a:ext cx="4945847" cy="195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0"/>
              </a:lnSpc>
            </a:pPr>
            <a:r>
              <a:rPr lang="en-US" sz="1490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Retries, timeouts, rate limits, dead-letter queues</a:t>
            </a:r>
          </a:p>
        </p:txBody>
      </p:sp>
      <p:sp>
        <p:nvSpPr>
          <p:cNvPr name="TextBox 95" id="95"/>
          <p:cNvSpPr txBox="true"/>
          <p:nvPr/>
        </p:nvSpPr>
        <p:spPr>
          <a:xfrm rot="0">
            <a:off x="10588752" y="4884953"/>
            <a:ext cx="7270623" cy="3759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0"/>
              </a:lnSpc>
            </a:pPr>
            <a:r>
              <a:rPr lang="en-US" sz="1490" b="true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Centralized logs, metrics, traces, alerts, multi-worker capacity planning</a:t>
            </a:r>
          </a:p>
          <a:p>
            <a:pPr algn="l">
              <a:lnSpc>
                <a:spcPts val="1490"/>
              </a:lnSpc>
            </a:pPr>
          </a:p>
        </p:txBody>
      </p:sp>
      <p:sp>
        <p:nvSpPr>
          <p:cNvPr name="TextBox 96" id="96"/>
          <p:cNvSpPr txBox="true"/>
          <p:nvPr/>
        </p:nvSpPr>
        <p:spPr>
          <a:xfrm rot="0">
            <a:off x="967740" y="5987453"/>
            <a:ext cx="128016" cy="2262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2"/>
              </a:lnSpc>
            </a:pPr>
            <a:r>
              <a:rPr lang="en-US" b="true" sz="178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1</a:t>
            </a:r>
          </a:p>
        </p:txBody>
      </p:sp>
      <p:sp>
        <p:nvSpPr>
          <p:cNvPr name="TextBox 97" id="97"/>
          <p:cNvSpPr txBox="true"/>
          <p:nvPr/>
        </p:nvSpPr>
        <p:spPr>
          <a:xfrm rot="0">
            <a:off x="1364742" y="6029325"/>
            <a:ext cx="1719072" cy="142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8"/>
              </a:lnSpc>
            </a:pPr>
            <a:r>
              <a:rPr lang="en-US" sz="1128" b="true">
                <a:solidFill>
                  <a:srgbClr val="00FFFF"/>
                </a:solidFill>
                <a:latin typeface="Garet Bold"/>
                <a:ea typeface="Garet Bold"/>
                <a:cs typeface="Garet Bold"/>
                <a:sym typeface="Garet Bold"/>
              </a:rPr>
              <a:t>ONLINE REQUEST PATH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4370832" y="6468466"/>
            <a:ext cx="274320" cy="1165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9"/>
              </a:lnSpc>
            </a:pPr>
            <a:r>
              <a:rPr lang="en-US" sz="839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User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4828032" y="6016676"/>
            <a:ext cx="969264" cy="144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76"/>
              </a:lnSpc>
            </a:pPr>
            <a:r>
              <a:rPr lang="en-US" sz="1176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API Gateway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7469121" y="5997397"/>
            <a:ext cx="1398657" cy="144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8"/>
              </a:lnSpc>
            </a:pPr>
            <a:r>
              <a:rPr lang="en-US" sz="1188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ECS / Fargate API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10021824" y="6016523"/>
            <a:ext cx="182880" cy="144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8"/>
              </a:lnSpc>
            </a:pPr>
            <a:r>
              <a:rPr lang="en-US" sz="1188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2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14136624" y="5553608"/>
            <a:ext cx="969264" cy="144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8"/>
              </a:lnSpc>
            </a:pPr>
            <a:r>
              <a:rPr lang="en-US" sz="1188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PostgreSQL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14136624" y="6613627"/>
            <a:ext cx="1353312" cy="1435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52"/>
              </a:lnSpc>
            </a:pPr>
            <a:r>
              <a:rPr lang="en-US" sz="115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Bedrock /OpenAI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950976" y="7240562"/>
            <a:ext cx="182880" cy="2262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2"/>
              </a:lnSpc>
            </a:pPr>
            <a:r>
              <a:rPr lang="en-US" b="true" sz="178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2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1347978" y="7263955"/>
            <a:ext cx="2194560" cy="132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0"/>
              </a:lnSpc>
            </a:pPr>
            <a:r>
              <a:rPr lang="en-US" sz="1080" b="true">
                <a:solidFill>
                  <a:srgbClr val="00FFFF"/>
                </a:solidFill>
                <a:latin typeface="Garet Bold"/>
                <a:ea typeface="Garet Bold"/>
                <a:cs typeface="Garet Bold"/>
                <a:sym typeface="Garet Bold"/>
              </a:rPr>
              <a:t>SHARED PLATFORM SERVICES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10588752" y="7226999"/>
            <a:ext cx="2584323" cy="3118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44"/>
              </a:lnSpc>
            </a:pPr>
            <a:r>
              <a:rPr lang="en-US" sz="124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CloudWatch / OpenTelemetry</a:t>
            </a:r>
          </a:p>
          <a:p>
            <a:pPr algn="l">
              <a:lnSpc>
                <a:spcPts val="1244"/>
              </a:lnSpc>
            </a:pPr>
            <a:r>
              <a:rPr lang="en-US" sz="1244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 logs, metrics, traces, alerts</a:t>
            </a:r>
          </a:p>
        </p:txBody>
      </p:sp>
      <p:sp>
        <p:nvSpPr>
          <p:cNvPr name="TextBox 107" id="107"/>
          <p:cNvSpPr txBox="true"/>
          <p:nvPr/>
        </p:nvSpPr>
        <p:spPr>
          <a:xfrm rot="0">
            <a:off x="950976" y="8300123"/>
            <a:ext cx="182880" cy="2262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82"/>
              </a:lnSpc>
            </a:pPr>
            <a:r>
              <a:rPr lang="en-US" b="true" sz="1782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3</a:t>
            </a:r>
          </a:p>
        </p:txBody>
      </p:sp>
      <p:sp>
        <p:nvSpPr>
          <p:cNvPr name="TextBox 108" id="108"/>
          <p:cNvSpPr txBox="true"/>
          <p:nvPr/>
        </p:nvSpPr>
        <p:spPr>
          <a:xfrm rot="0">
            <a:off x="1347978" y="8320011"/>
            <a:ext cx="1719072" cy="142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28"/>
              </a:lnSpc>
            </a:pPr>
            <a:r>
              <a:rPr lang="en-US" sz="1128" b="true">
                <a:solidFill>
                  <a:srgbClr val="00FFFF"/>
                </a:solidFill>
                <a:latin typeface="Garet Bold"/>
                <a:ea typeface="Garet Bold"/>
                <a:cs typeface="Garet Bold"/>
                <a:sym typeface="Garet Bold"/>
              </a:rPr>
              <a:t>DATA INGESTION PATH</a:t>
            </a:r>
          </a:p>
        </p:txBody>
      </p:sp>
      <p:sp>
        <p:nvSpPr>
          <p:cNvPr name="TextBox 109" id="109"/>
          <p:cNvSpPr txBox="true"/>
          <p:nvPr/>
        </p:nvSpPr>
        <p:spPr>
          <a:xfrm rot="0">
            <a:off x="12728829" y="8368093"/>
            <a:ext cx="1298448" cy="132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80"/>
              </a:lnSpc>
            </a:pPr>
            <a:r>
              <a:rPr lang="en-US" sz="1080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Ingestion Workers</a:t>
            </a:r>
          </a:p>
        </p:txBody>
      </p:sp>
      <p:sp>
        <p:nvSpPr>
          <p:cNvPr name="TextBox 110" id="110"/>
          <p:cNvSpPr txBox="true"/>
          <p:nvPr/>
        </p:nvSpPr>
        <p:spPr>
          <a:xfrm rot="0">
            <a:off x="10264931" y="5964860"/>
            <a:ext cx="1904941" cy="180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28"/>
              </a:lnSpc>
              <a:spcBef>
                <a:spcPct val="0"/>
              </a:spcBef>
            </a:pPr>
            <a:r>
              <a:rPr lang="en-US" sz="1190" spc="-47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Workflow Orchestrator</a:t>
            </a:r>
          </a:p>
        </p:txBody>
      </p:sp>
      <p:sp>
        <p:nvSpPr>
          <p:cNvPr name="TextBox 111" id="111"/>
          <p:cNvSpPr txBox="true"/>
          <p:nvPr/>
        </p:nvSpPr>
        <p:spPr>
          <a:xfrm rot="0">
            <a:off x="10178690" y="6491287"/>
            <a:ext cx="1767632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60"/>
              </a:lnSpc>
              <a:spcBef>
                <a:spcPct val="0"/>
              </a:spcBef>
            </a:pPr>
            <a:r>
              <a:rPr lang="en-US" sz="1300" spc="-52">
                <a:solidFill>
                  <a:srgbClr val="FFFFFF"/>
                </a:solidFill>
                <a:latin typeface="Garet"/>
                <a:ea typeface="Garet"/>
                <a:cs typeface="Garet"/>
                <a:sym typeface="Garet"/>
              </a:rPr>
              <a:t>Authorization + Agents</a:t>
            </a:r>
          </a:p>
        </p:txBody>
      </p:sp>
      <p:sp>
        <p:nvSpPr>
          <p:cNvPr name="TextBox 112" id="112"/>
          <p:cNvSpPr txBox="true"/>
          <p:nvPr/>
        </p:nvSpPr>
        <p:spPr>
          <a:xfrm rot="0">
            <a:off x="7973568" y="4877372"/>
            <a:ext cx="1930309" cy="1950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0"/>
              </a:lnSpc>
            </a:pPr>
            <a:r>
              <a:rPr lang="en-US" sz="1490" b="true">
                <a:solidFill>
                  <a:srgbClr val="00FFFF"/>
                </a:solidFill>
                <a:latin typeface="Garet Bold"/>
                <a:ea typeface="Garet Bold"/>
                <a:cs typeface="Garet Bold"/>
                <a:sym typeface="Garet Bold"/>
              </a:rPr>
              <a:t>Observability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41248" y="509530"/>
            <a:ext cx="16971264" cy="660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99"/>
              </a:lnSpc>
            </a:pPr>
            <a:r>
              <a:rPr lang="en-US" sz="4999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LIVE DEMO — THREE REQUESTS, THREE DELIBERATE OUTCOMES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428625" y="1285875"/>
            <a:ext cx="17430750" cy="2362200"/>
          </a:xfrm>
          <a:custGeom>
            <a:avLst/>
            <a:gdLst/>
            <a:ahLst/>
            <a:cxnLst/>
            <a:rect r="r" b="b" t="t" l="l"/>
            <a:pathLst>
              <a:path h="2362200" w="17430750">
                <a:moveTo>
                  <a:pt x="0" y="0"/>
                </a:moveTo>
                <a:lnTo>
                  <a:pt x="17430750" y="0"/>
                </a:lnTo>
                <a:lnTo>
                  <a:pt x="17430750" y="2362200"/>
                </a:lnTo>
                <a:lnTo>
                  <a:pt x="0" y="2362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4128" y="2125986"/>
            <a:ext cx="1097280" cy="11056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279"/>
              </a:lnSpc>
            </a:pPr>
            <a:r>
              <a:rPr lang="en-US" sz="8279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01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2390775" y="1714500"/>
            <a:ext cx="447675" cy="1504950"/>
          </a:xfrm>
          <a:custGeom>
            <a:avLst/>
            <a:gdLst/>
            <a:ahLst/>
            <a:cxnLst/>
            <a:rect r="r" b="b" t="t" l="l"/>
            <a:pathLst>
              <a:path h="1504950" w="447675">
                <a:moveTo>
                  <a:pt x="0" y="0"/>
                </a:moveTo>
                <a:lnTo>
                  <a:pt x="447675" y="0"/>
                </a:lnTo>
                <a:lnTo>
                  <a:pt x="4476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926080" y="1849831"/>
            <a:ext cx="5650992" cy="4715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sz="3564" b="true">
                <a:solidFill>
                  <a:srgbClr val="00D9F4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AUTHORIZED STANDARD DEAL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926080" y="2447468"/>
            <a:ext cx="3108960" cy="31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6"/>
              </a:lnSpc>
            </a:pPr>
            <a:r>
              <a:rPr lang="en-US" sz="2376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USR-5001 → OPP-1001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1315700" y="2143125"/>
            <a:ext cx="447675" cy="647700"/>
          </a:xfrm>
          <a:custGeom>
            <a:avLst/>
            <a:gdLst/>
            <a:ahLst/>
            <a:cxnLst/>
            <a:rect r="r" b="b" t="t" l="l"/>
            <a:pathLst>
              <a:path h="647700" w="447675">
                <a:moveTo>
                  <a:pt x="0" y="0"/>
                </a:moveTo>
                <a:lnTo>
                  <a:pt x="447675" y="0"/>
                </a:lnTo>
                <a:lnTo>
                  <a:pt x="4476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2454128" y="1981314"/>
            <a:ext cx="2249424" cy="314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6"/>
              </a:lnSpc>
            </a:pPr>
            <a:r>
              <a:rPr lang="en-US" sz="2256" b="true">
                <a:solidFill>
                  <a:srgbClr val="00D9F4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Expected Outcome: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2401550" y="2352675"/>
            <a:ext cx="666750" cy="866775"/>
          </a:xfrm>
          <a:custGeom>
            <a:avLst/>
            <a:gdLst/>
            <a:ahLst/>
            <a:cxnLst/>
            <a:rect r="r" b="b" t="t" l="l"/>
            <a:pathLst>
              <a:path h="866775" w="666750">
                <a:moveTo>
                  <a:pt x="0" y="0"/>
                </a:moveTo>
                <a:lnTo>
                  <a:pt x="666750" y="0"/>
                </a:lnTo>
                <a:lnTo>
                  <a:pt x="66675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3057632" y="2589600"/>
            <a:ext cx="3072384" cy="4336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9"/>
              </a:lnSpc>
            </a:pPr>
            <a:r>
              <a:rPr lang="en-US" sz="3199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GROUNDED BRIEF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428625" y="3638550"/>
            <a:ext cx="17430750" cy="1933575"/>
          </a:xfrm>
          <a:custGeom>
            <a:avLst/>
            <a:gdLst/>
            <a:ahLst/>
            <a:cxnLst/>
            <a:rect r="r" b="b" t="t" l="l"/>
            <a:pathLst>
              <a:path h="1933575" w="17430750">
                <a:moveTo>
                  <a:pt x="0" y="0"/>
                </a:moveTo>
                <a:lnTo>
                  <a:pt x="17430750" y="0"/>
                </a:lnTo>
                <a:lnTo>
                  <a:pt x="17430750" y="1933575"/>
                </a:lnTo>
                <a:lnTo>
                  <a:pt x="0" y="193357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024128" y="4255395"/>
            <a:ext cx="1097280" cy="11056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279"/>
              </a:lnSpc>
            </a:pPr>
            <a:r>
              <a:rPr lang="en-US" sz="8279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02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2390775" y="3857625"/>
            <a:ext cx="447675" cy="1504950"/>
          </a:xfrm>
          <a:custGeom>
            <a:avLst/>
            <a:gdLst/>
            <a:ahLst/>
            <a:cxnLst/>
            <a:rect r="r" b="b" t="t" l="l"/>
            <a:pathLst>
              <a:path h="1504950" w="447675">
                <a:moveTo>
                  <a:pt x="0" y="0"/>
                </a:moveTo>
                <a:lnTo>
                  <a:pt x="447675" y="0"/>
                </a:lnTo>
                <a:lnTo>
                  <a:pt x="44767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2926080" y="4010101"/>
            <a:ext cx="5925312" cy="4715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sz="3564" b="true">
                <a:solidFill>
                  <a:srgbClr val="00D9F4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AUTHORIZED RESTRICTED DEAL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926080" y="4607738"/>
            <a:ext cx="3108960" cy="31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6"/>
              </a:lnSpc>
            </a:pPr>
            <a:r>
              <a:rPr lang="en-US" sz="2376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USR-5003 → OPP-1003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1315700" y="4286250"/>
            <a:ext cx="447675" cy="647700"/>
          </a:xfrm>
          <a:custGeom>
            <a:avLst/>
            <a:gdLst/>
            <a:ahLst/>
            <a:cxnLst/>
            <a:rect r="r" b="b" t="t" l="l"/>
            <a:pathLst>
              <a:path h="647700" w="447675">
                <a:moveTo>
                  <a:pt x="0" y="0"/>
                </a:moveTo>
                <a:lnTo>
                  <a:pt x="447675" y="0"/>
                </a:lnTo>
                <a:lnTo>
                  <a:pt x="4476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2454128" y="4172445"/>
            <a:ext cx="2249424" cy="314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6"/>
              </a:lnSpc>
            </a:pPr>
            <a:r>
              <a:rPr lang="en-US" sz="2256" b="true">
                <a:solidFill>
                  <a:srgbClr val="00D9F4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Expected Outcome: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2401550" y="4495800"/>
            <a:ext cx="666750" cy="647700"/>
          </a:xfrm>
          <a:custGeom>
            <a:avLst/>
            <a:gdLst/>
            <a:ahLst/>
            <a:cxnLst/>
            <a:rect r="r" b="b" t="t" l="l"/>
            <a:pathLst>
              <a:path h="647700" w="666750">
                <a:moveTo>
                  <a:pt x="0" y="0"/>
                </a:moveTo>
                <a:lnTo>
                  <a:pt x="666750" y="0"/>
                </a:lnTo>
                <a:lnTo>
                  <a:pt x="66675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3057632" y="4742021"/>
            <a:ext cx="4187952" cy="419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7"/>
              </a:lnSpc>
            </a:pPr>
            <a:r>
              <a:rPr lang="en-US" sz="3007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HUMAN REVIEW REQUIRED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428625" y="5572125"/>
            <a:ext cx="17430750" cy="2143125"/>
          </a:xfrm>
          <a:custGeom>
            <a:avLst/>
            <a:gdLst/>
            <a:ahLst/>
            <a:cxnLst/>
            <a:rect r="r" b="b" t="t" l="l"/>
            <a:pathLst>
              <a:path h="2143125" w="17430750">
                <a:moveTo>
                  <a:pt x="0" y="0"/>
                </a:moveTo>
                <a:lnTo>
                  <a:pt x="17430750" y="0"/>
                </a:lnTo>
                <a:lnTo>
                  <a:pt x="17430750" y="2143125"/>
                </a:lnTo>
                <a:lnTo>
                  <a:pt x="0" y="214312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024128" y="6281934"/>
            <a:ext cx="1097280" cy="11056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279"/>
              </a:lnSpc>
            </a:pPr>
            <a:r>
              <a:rPr lang="en-US" sz="8279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03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2390775" y="6000750"/>
            <a:ext cx="447675" cy="1285875"/>
          </a:xfrm>
          <a:custGeom>
            <a:avLst/>
            <a:gdLst/>
            <a:ahLst/>
            <a:cxnLst/>
            <a:rect r="r" b="b" t="t" l="l"/>
            <a:pathLst>
              <a:path h="1285875" w="447675">
                <a:moveTo>
                  <a:pt x="0" y="0"/>
                </a:moveTo>
                <a:lnTo>
                  <a:pt x="447675" y="0"/>
                </a:lnTo>
                <a:lnTo>
                  <a:pt x="44767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2926080" y="6005779"/>
            <a:ext cx="4773168" cy="4715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sz="3564" b="true">
                <a:solidFill>
                  <a:srgbClr val="00D9F4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UNAUTHORIZED REQUEST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926080" y="6613703"/>
            <a:ext cx="3108960" cy="317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6"/>
              </a:lnSpc>
            </a:pPr>
            <a:r>
              <a:rPr lang="en-US" sz="2376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USR-5007 → OPP-1003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11315700" y="6429375"/>
            <a:ext cx="447675" cy="647700"/>
          </a:xfrm>
          <a:custGeom>
            <a:avLst/>
            <a:gdLst/>
            <a:ahLst/>
            <a:cxnLst/>
            <a:rect r="r" b="b" t="t" l="l"/>
            <a:pathLst>
              <a:path h="647700" w="447675">
                <a:moveTo>
                  <a:pt x="0" y="0"/>
                </a:moveTo>
                <a:lnTo>
                  <a:pt x="447675" y="0"/>
                </a:lnTo>
                <a:lnTo>
                  <a:pt x="447675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12454128" y="6178410"/>
            <a:ext cx="2249424" cy="314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6"/>
              </a:lnSpc>
            </a:pPr>
            <a:r>
              <a:rPr lang="en-US" sz="2256" b="true">
                <a:solidFill>
                  <a:srgbClr val="00D9F4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Expected Outcome:</a:t>
            </a:r>
          </a:p>
        </p:txBody>
      </p:sp>
      <p:sp>
        <p:nvSpPr>
          <p:cNvPr name="Freeform 28" id="28"/>
          <p:cNvSpPr/>
          <p:nvPr/>
        </p:nvSpPr>
        <p:spPr>
          <a:xfrm flipH="false" flipV="false" rot="0">
            <a:off x="12401550" y="6429375"/>
            <a:ext cx="666750" cy="857250"/>
          </a:xfrm>
          <a:custGeom>
            <a:avLst/>
            <a:gdLst/>
            <a:ahLst/>
            <a:cxnLst/>
            <a:rect r="r" b="b" t="t" l="l"/>
            <a:pathLst>
              <a:path h="857250" w="666750">
                <a:moveTo>
                  <a:pt x="0" y="0"/>
                </a:moveTo>
                <a:lnTo>
                  <a:pt x="666750" y="0"/>
                </a:lnTo>
                <a:lnTo>
                  <a:pt x="6667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13057632" y="6717125"/>
            <a:ext cx="4315968" cy="419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7"/>
              </a:lnSpc>
            </a:pPr>
            <a:r>
              <a:rPr lang="en-US" sz="3007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DENIED BEFORE RETRIEVAL</a:t>
            </a:r>
          </a:p>
        </p:txBody>
      </p:sp>
      <p:sp>
        <p:nvSpPr>
          <p:cNvPr name="Freeform 30" id="30"/>
          <p:cNvSpPr/>
          <p:nvPr/>
        </p:nvSpPr>
        <p:spPr>
          <a:xfrm flipH="false" flipV="false" rot="0">
            <a:off x="428625" y="7715250"/>
            <a:ext cx="17430750" cy="2571750"/>
          </a:xfrm>
          <a:custGeom>
            <a:avLst/>
            <a:gdLst/>
            <a:ahLst/>
            <a:cxnLst/>
            <a:rect r="r" b="b" t="t" l="l"/>
            <a:pathLst>
              <a:path h="2571750" w="17430750">
                <a:moveTo>
                  <a:pt x="0" y="0"/>
                </a:moveTo>
                <a:lnTo>
                  <a:pt x="17430750" y="0"/>
                </a:lnTo>
                <a:lnTo>
                  <a:pt x="17430750" y="2571750"/>
                </a:lnTo>
                <a:lnTo>
                  <a:pt x="0" y="257175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1085850" y="8143875"/>
            <a:ext cx="1533525" cy="1504950"/>
          </a:xfrm>
          <a:custGeom>
            <a:avLst/>
            <a:gdLst/>
            <a:ahLst/>
            <a:cxnLst/>
            <a:rect r="r" b="b" t="t" l="l"/>
            <a:pathLst>
              <a:path h="1504950" w="1533525">
                <a:moveTo>
                  <a:pt x="0" y="0"/>
                </a:moveTo>
                <a:lnTo>
                  <a:pt x="1533525" y="0"/>
                </a:lnTo>
                <a:lnTo>
                  <a:pt x="1533525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2926080" y="8079296"/>
            <a:ext cx="7882128" cy="491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600" b="true">
                <a:solidFill>
                  <a:srgbClr val="00D9F4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PROOF OF MULTI-SOURCE GROUNDING</a:t>
            </a: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3695700" y="8572500"/>
            <a:ext cx="876300" cy="857250"/>
          </a:xfrm>
          <a:custGeom>
            <a:avLst/>
            <a:gdLst/>
            <a:ahLst/>
            <a:cxnLst/>
            <a:rect r="r" b="b" t="t" l="l"/>
            <a:pathLst>
              <a:path h="857250" w="876300">
                <a:moveTo>
                  <a:pt x="0" y="0"/>
                </a:moveTo>
                <a:lnTo>
                  <a:pt x="876300" y="0"/>
                </a:lnTo>
                <a:lnTo>
                  <a:pt x="876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3456432" y="9411465"/>
            <a:ext cx="1298448" cy="557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11"/>
              </a:lnSpc>
            </a:pPr>
            <a:r>
              <a:rPr lang="en-US" sz="1919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Generated Slack Update</a:t>
            </a:r>
          </a:p>
        </p:txBody>
      </p:sp>
      <p:sp>
        <p:nvSpPr>
          <p:cNvPr name="Freeform 35" id="35"/>
          <p:cNvSpPr/>
          <p:nvPr/>
        </p:nvSpPr>
        <p:spPr>
          <a:xfrm flipH="false" flipV="false" rot="0">
            <a:off x="5219700" y="8782050"/>
            <a:ext cx="666750" cy="438150"/>
          </a:xfrm>
          <a:custGeom>
            <a:avLst/>
            <a:gdLst/>
            <a:ahLst/>
            <a:cxnLst/>
            <a:rect r="r" b="b" t="t" l="l"/>
            <a:pathLst>
              <a:path h="438150" w="666750">
                <a:moveTo>
                  <a:pt x="0" y="0"/>
                </a:moveTo>
                <a:lnTo>
                  <a:pt x="666750" y="0"/>
                </a:lnTo>
                <a:lnTo>
                  <a:pt x="6667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6305550" y="8572500"/>
            <a:ext cx="885825" cy="857250"/>
          </a:xfrm>
          <a:custGeom>
            <a:avLst/>
            <a:gdLst/>
            <a:ahLst/>
            <a:cxnLst/>
            <a:rect r="r" b="b" t="t" l="l"/>
            <a:pathLst>
              <a:path h="857250" w="885825">
                <a:moveTo>
                  <a:pt x="0" y="0"/>
                </a:moveTo>
                <a:lnTo>
                  <a:pt x="885825" y="0"/>
                </a:lnTo>
                <a:lnTo>
                  <a:pt x="8858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TextBox 37" id="37"/>
          <p:cNvSpPr txBox="true"/>
          <p:nvPr/>
        </p:nvSpPr>
        <p:spPr>
          <a:xfrm rot="0">
            <a:off x="6364224" y="9410957"/>
            <a:ext cx="987552" cy="568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9"/>
              </a:lnSpc>
            </a:pPr>
            <a:r>
              <a:rPr lang="en-US" sz="1999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Retrieved Evidence</a:t>
            </a:r>
          </a:p>
        </p:txBody>
      </p:sp>
      <p:sp>
        <p:nvSpPr>
          <p:cNvPr name="Freeform 38" id="38"/>
          <p:cNvSpPr/>
          <p:nvPr/>
        </p:nvSpPr>
        <p:spPr>
          <a:xfrm flipH="false" flipV="false" rot="0">
            <a:off x="7829550" y="8782050"/>
            <a:ext cx="666750" cy="438150"/>
          </a:xfrm>
          <a:custGeom>
            <a:avLst/>
            <a:gdLst/>
            <a:ahLst/>
            <a:cxnLst/>
            <a:rect r="r" b="b" t="t" l="l"/>
            <a:pathLst>
              <a:path h="438150" w="666750">
                <a:moveTo>
                  <a:pt x="0" y="0"/>
                </a:moveTo>
                <a:lnTo>
                  <a:pt x="666750" y="0"/>
                </a:lnTo>
                <a:lnTo>
                  <a:pt x="666750" y="438150"/>
                </a:lnTo>
                <a:lnTo>
                  <a:pt x="0" y="43815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8924925" y="8572500"/>
            <a:ext cx="876300" cy="857250"/>
          </a:xfrm>
          <a:custGeom>
            <a:avLst/>
            <a:gdLst/>
            <a:ahLst/>
            <a:cxnLst/>
            <a:rect r="r" b="b" t="t" l="l"/>
            <a:pathLst>
              <a:path h="857250" w="876300">
                <a:moveTo>
                  <a:pt x="0" y="0"/>
                </a:moveTo>
                <a:lnTo>
                  <a:pt x="876300" y="0"/>
                </a:lnTo>
                <a:lnTo>
                  <a:pt x="876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8705088" y="9410957"/>
            <a:ext cx="1389888" cy="568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99"/>
              </a:lnSpc>
            </a:pPr>
            <a:r>
              <a:rPr lang="en-US" sz="1999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Cited Finding in the Brief</a:t>
            </a:r>
          </a:p>
        </p:txBody>
      </p:sp>
      <p:sp>
        <p:nvSpPr>
          <p:cNvPr name="Freeform 41" id="41"/>
          <p:cNvSpPr/>
          <p:nvPr/>
        </p:nvSpPr>
        <p:spPr>
          <a:xfrm flipH="false" flipV="false" rot="0">
            <a:off x="10448925" y="7715250"/>
            <a:ext cx="7191375" cy="2362200"/>
          </a:xfrm>
          <a:custGeom>
            <a:avLst/>
            <a:gdLst/>
            <a:ahLst/>
            <a:cxnLst/>
            <a:rect r="r" b="b" t="t" l="l"/>
            <a:pathLst>
              <a:path h="2362200" w="7191375">
                <a:moveTo>
                  <a:pt x="0" y="0"/>
                </a:moveTo>
                <a:lnTo>
                  <a:pt x="7191375" y="0"/>
                </a:lnTo>
                <a:lnTo>
                  <a:pt x="7191375" y="2362200"/>
                </a:lnTo>
                <a:lnTo>
                  <a:pt x="0" y="236220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2926080" y="3011043"/>
            <a:ext cx="475488" cy="2103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0"/>
              </a:lnSpc>
            </a:pPr>
            <a:r>
              <a:rPr lang="en-US" sz="1530" b="true">
                <a:solidFill>
                  <a:srgbClr val="00D9F4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Show: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2926080" y="5078730"/>
            <a:ext cx="475488" cy="2103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0"/>
              </a:lnSpc>
            </a:pPr>
            <a:r>
              <a:rPr lang="en-US" sz="1530" b="true">
                <a:solidFill>
                  <a:srgbClr val="00D9F4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Show: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2926080" y="7084695"/>
            <a:ext cx="475488" cy="2103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0"/>
              </a:lnSpc>
            </a:pPr>
            <a:r>
              <a:rPr lang="en-US" sz="1530" b="true">
                <a:solidFill>
                  <a:srgbClr val="00D9F4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Show: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3694176" y="3003080"/>
            <a:ext cx="1517904" cy="235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2"/>
              </a:lnSpc>
            </a:pPr>
            <a:r>
              <a:rPr lang="en-US" sz="1782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Brief Generation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3694176" y="5070767"/>
            <a:ext cx="2542032" cy="235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2"/>
              </a:lnSpc>
            </a:pPr>
            <a:r>
              <a:rPr lang="en-US" sz="1782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Restricted Evidence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3694176" y="7076732"/>
            <a:ext cx="2103120" cy="235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2"/>
              </a:lnSpc>
            </a:pPr>
            <a:r>
              <a:rPr lang="en-US" sz="1782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Authorization Failure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5596128" y="3003080"/>
            <a:ext cx="1737360" cy="235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2"/>
              </a:lnSpc>
            </a:pPr>
            <a:r>
              <a:rPr lang="en-US" sz="1782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Retrieved Evidence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5596128" y="5070767"/>
            <a:ext cx="3182112" cy="235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2"/>
              </a:lnSpc>
            </a:pPr>
            <a:r>
              <a:rPr lang="en-US" sz="1782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Sensitive Recommendation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5694045" y="7076732"/>
            <a:ext cx="2468880" cy="235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2"/>
              </a:lnSpc>
            </a:pPr>
            <a:r>
              <a:rPr lang="en-US" sz="1782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Authorization Failure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7680960" y="3003080"/>
            <a:ext cx="877824" cy="235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2"/>
              </a:lnSpc>
            </a:pPr>
            <a:r>
              <a:rPr lang="en-US" sz="1782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Citations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9125712" y="5070767"/>
            <a:ext cx="1389888" cy="2357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2"/>
              </a:lnSpc>
            </a:pPr>
            <a:r>
              <a:rPr lang="en-US" sz="1782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Approval Flow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8887968" y="3008986"/>
            <a:ext cx="2468880" cy="2239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91"/>
              </a:lnSpc>
            </a:pPr>
            <a:r>
              <a:rPr lang="en-US" sz="1691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Recommended Next Actions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28625" y="5143500"/>
            <a:ext cx="3933825" cy="219075"/>
          </a:xfrm>
          <a:custGeom>
            <a:avLst/>
            <a:gdLst/>
            <a:ahLst/>
            <a:cxnLst/>
            <a:rect r="r" b="b" t="t" l="l"/>
            <a:pathLst>
              <a:path h="219075" w="3933825">
                <a:moveTo>
                  <a:pt x="0" y="0"/>
                </a:moveTo>
                <a:lnTo>
                  <a:pt x="3933825" y="0"/>
                </a:lnTo>
                <a:lnTo>
                  <a:pt x="3933825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925550" y="5143500"/>
            <a:ext cx="3714750" cy="219075"/>
          </a:xfrm>
          <a:custGeom>
            <a:avLst/>
            <a:gdLst/>
            <a:ahLst/>
            <a:cxnLst/>
            <a:rect r="r" b="b" t="t" l="l"/>
            <a:pathLst>
              <a:path h="219075" w="3714750">
                <a:moveTo>
                  <a:pt x="0" y="0"/>
                </a:moveTo>
                <a:lnTo>
                  <a:pt x="3714750" y="0"/>
                </a:lnTo>
                <a:lnTo>
                  <a:pt x="3714750" y="219075"/>
                </a:lnTo>
                <a:lnTo>
                  <a:pt x="0" y="2190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791456" y="4183266"/>
            <a:ext cx="8705088" cy="24691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459"/>
              </a:lnSpc>
            </a:pPr>
            <a:r>
              <a:rPr lang="en-US" sz="18459">
                <a:solidFill>
                  <a:srgbClr val="FFFFFF"/>
                </a:solidFill>
                <a:latin typeface="League Gothic"/>
                <a:ea typeface="League Gothic"/>
                <a:cs typeface="League Gothic"/>
                <a:sym typeface="League Gothic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DAHWO1R73uc</dc:identifier>
  <dcterms:modified xsi:type="dcterms:W3CDTF">2011-08-01T06:04:30Z</dcterms:modified>
  <cp:revision>1</cp:revision>
  <dc:title>Strategic Deal Intelligence</dc:title>
</cp:coreProperties>
</file>