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Condensed Bold" charset="1" panose="00000806000000000000"/>
      <p:regular r:id="rId15"/>
    </p:embeddedFon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Barlow SemiCondensed Semi-Bold" charset="1" panose="00000706000000000000"/>
      <p:regular r:id="rId18"/>
    </p:embeddedFont>
    <p:embeddedFont>
      <p:font typeface="Barlow SemiCondensed Bold" charset="1" panose="00000806000000000000"/>
      <p:regular r:id="rId19"/>
    </p:embeddedFont>
    <p:embeddedFont>
      <p:font typeface="Roboto Condensed Bold" charset="1" panose="02000000000000000000"/>
      <p:regular r:id="rId20"/>
    </p:embeddedFont>
    <p:embeddedFont>
      <p:font typeface="Farro Bold" charset="1" panose="00000800000000000000"/>
      <p:regular r:id="rId21"/>
    </p:embeddedFont>
    <p:embeddedFont>
      <p:font typeface="DM Sans Bold" charset="1" panose="00000000000000000000"/>
      <p:regular r:id="rId22"/>
    </p:embeddedFont>
    <p:embeddedFont>
      <p:font typeface="Inter Bold" charset="1" panose="020B0802030000000004"/>
      <p:regular r:id="rId23"/>
    </p:embeddedFont>
    <p:embeddedFont>
      <p:font typeface="Inter" charset="1" panose="020B0502030000000004"/>
      <p:regular r:id="rId24"/>
    </p:embeddedFont>
    <p:embeddedFont>
      <p:font typeface="Garet" charset="1" panose="00000000000000000000"/>
      <p:regular r:id="rId25"/>
    </p:embeddedFont>
    <p:embeddedFont>
      <p:font typeface="Garet Bold" charset="1" panose="00000000000000000000"/>
      <p:regular r:id="rId26"/>
    </p:embeddedFont>
    <p:embeddedFont>
      <p:font typeface="League Gothic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22" Target="../media/image46.png" Type="http://schemas.openxmlformats.org/officeDocument/2006/relationships/image"/><Relationship Id="rId23" Target="../media/image47.pn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28" Target="../media/image52.png" Type="http://schemas.openxmlformats.org/officeDocument/2006/relationships/image"/><Relationship Id="rId29" Target="../media/image53.png" Type="http://schemas.openxmlformats.org/officeDocument/2006/relationships/image"/><Relationship Id="rId3" Target="../media/image27.png" Type="http://schemas.openxmlformats.org/officeDocument/2006/relationships/image"/><Relationship Id="rId30" Target="../media/image54.png" Type="http://schemas.openxmlformats.org/officeDocument/2006/relationships/image"/><Relationship Id="rId31" Target="../media/image55.png" Type="http://schemas.openxmlformats.org/officeDocument/2006/relationships/image"/><Relationship Id="rId32" Target="../media/image56.png" Type="http://schemas.openxmlformats.org/officeDocument/2006/relationships/image"/><Relationship Id="rId33" Target="../media/image57.png" Type="http://schemas.openxmlformats.org/officeDocument/2006/relationships/image"/><Relationship Id="rId34" Target="../media/image58.png" Type="http://schemas.openxmlformats.org/officeDocument/2006/relationships/image"/><Relationship Id="rId35" Target="../media/image59.png" Type="http://schemas.openxmlformats.org/officeDocument/2006/relationships/image"/><Relationship Id="rId36" Target="../media/image60.png" Type="http://schemas.openxmlformats.org/officeDocument/2006/relationships/image"/><Relationship Id="rId37" Target="../media/image61.png" Type="http://schemas.openxmlformats.org/officeDocument/2006/relationships/image"/><Relationship Id="rId38" Target="../media/image62.png" Type="http://schemas.openxmlformats.org/officeDocument/2006/relationships/image"/><Relationship Id="rId39" Target="../media/image63.png" Type="http://schemas.openxmlformats.org/officeDocument/2006/relationships/image"/><Relationship Id="rId4" Target="../media/image28.png" Type="http://schemas.openxmlformats.org/officeDocument/2006/relationships/image"/><Relationship Id="rId40" Target="../media/image64.png" Type="http://schemas.openxmlformats.org/officeDocument/2006/relationships/image"/><Relationship Id="rId41" Target="../media/image65.png" Type="http://schemas.openxmlformats.org/officeDocument/2006/relationships/image"/><Relationship Id="rId42" Target="../media/image66.png" Type="http://schemas.openxmlformats.org/officeDocument/2006/relationships/image"/><Relationship Id="rId43" Target="../media/image67.png" Type="http://schemas.openxmlformats.org/officeDocument/2006/relationships/image"/><Relationship Id="rId44" Target="../media/image68.png" Type="http://schemas.openxmlformats.org/officeDocument/2006/relationships/image"/><Relationship Id="rId45" Target="../media/image69.png" Type="http://schemas.openxmlformats.org/officeDocument/2006/relationships/image"/><Relationship Id="rId46" Target="../media/image70.png" Type="http://schemas.openxmlformats.org/officeDocument/2006/relationships/image"/><Relationship Id="rId47" Target="../media/image71.png" Type="http://schemas.openxmlformats.org/officeDocument/2006/relationships/image"/><Relationship Id="rId48" Target="../media/image72.png" Type="http://schemas.openxmlformats.org/officeDocument/2006/relationships/image"/><Relationship Id="rId49" Target="../media/image73.png" Type="http://schemas.openxmlformats.org/officeDocument/2006/relationships/image"/><Relationship Id="rId5" Target="../media/image29.png" Type="http://schemas.openxmlformats.org/officeDocument/2006/relationships/image"/><Relationship Id="rId50" Target="../media/image74.png" Type="http://schemas.openxmlformats.org/officeDocument/2006/relationships/image"/><Relationship Id="rId51" Target="../media/image75.png" Type="http://schemas.openxmlformats.org/officeDocument/2006/relationships/image"/><Relationship Id="rId52" Target="../media/image76.png" Type="http://schemas.openxmlformats.org/officeDocument/2006/relationships/image"/><Relationship Id="rId53" Target="../media/image77.png" Type="http://schemas.openxmlformats.org/officeDocument/2006/relationships/image"/><Relationship Id="rId54" Target="../media/image78.png" Type="http://schemas.openxmlformats.org/officeDocument/2006/relationships/image"/><Relationship Id="rId55" Target="../media/image79.png" Type="http://schemas.openxmlformats.org/officeDocument/2006/relationships/image"/><Relationship Id="rId56" Target="../media/image80.png" Type="http://schemas.openxmlformats.org/officeDocument/2006/relationships/image"/><Relationship Id="rId57" Target="../media/image81.png" Type="http://schemas.openxmlformats.org/officeDocument/2006/relationships/image"/><Relationship Id="rId58" Target="../media/image82.png" Type="http://schemas.openxmlformats.org/officeDocument/2006/relationships/image"/><Relationship Id="rId59" Target="../media/image83.png" Type="http://schemas.openxmlformats.org/officeDocument/2006/relationships/image"/><Relationship Id="rId6" Target="../media/image30.png" Type="http://schemas.openxmlformats.org/officeDocument/2006/relationships/image"/><Relationship Id="rId60" Target="../media/image84.png" Type="http://schemas.openxmlformats.org/officeDocument/2006/relationships/image"/><Relationship Id="rId61" Target="../media/image85.png" Type="http://schemas.openxmlformats.org/officeDocument/2006/relationships/image"/><Relationship Id="rId62" Target="../media/image86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14" Target="../media/image99.png" Type="http://schemas.openxmlformats.org/officeDocument/2006/relationships/image"/><Relationship Id="rId15" Target="../media/image100.png" Type="http://schemas.openxmlformats.org/officeDocument/2006/relationships/image"/><Relationship Id="rId16" Target="../media/image101.png" Type="http://schemas.openxmlformats.org/officeDocument/2006/relationships/image"/><Relationship Id="rId17" Target="../media/image102.png" Type="http://schemas.openxmlformats.org/officeDocument/2006/relationships/image"/><Relationship Id="rId18" Target="../media/image103.png" Type="http://schemas.openxmlformats.org/officeDocument/2006/relationships/image"/><Relationship Id="rId19" Target="../media/image104.png" Type="http://schemas.openxmlformats.org/officeDocument/2006/relationships/image"/><Relationship Id="rId2" Target="../media/image87.png" Type="http://schemas.openxmlformats.org/officeDocument/2006/relationships/image"/><Relationship Id="rId20" Target="../media/image105.png" Type="http://schemas.openxmlformats.org/officeDocument/2006/relationships/image"/><Relationship Id="rId21" Target="../media/image106.png" Type="http://schemas.openxmlformats.org/officeDocument/2006/relationships/image"/><Relationship Id="rId22" Target="../media/image107.png" Type="http://schemas.openxmlformats.org/officeDocument/2006/relationships/image"/><Relationship Id="rId23" Target="../media/image108.png" Type="http://schemas.openxmlformats.org/officeDocument/2006/relationships/image"/><Relationship Id="rId24" Target="../media/image109.png" Type="http://schemas.openxmlformats.org/officeDocument/2006/relationships/image"/><Relationship Id="rId25" Target="../media/image110.png" Type="http://schemas.openxmlformats.org/officeDocument/2006/relationships/image"/><Relationship Id="rId26" Target="../media/image111.png" Type="http://schemas.openxmlformats.org/officeDocument/2006/relationships/image"/><Relationship Id="rId27" Target="../media/image112.png" Type="http://schemas.openxmlformats.org/officeDocument/2006/relationships/image"/><Relationship Id="rId28" Target="../media/image113.png" Type="http://schemas.openxmlformats.org/officeDocument/2006/relationships/image"/><Relationship Id="rId29" Target="../media/image114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42.png" Type="http://schemas.openxmlformats.org/officeDocument/2006/relationships/image"/><Relationship Id="rId12" Target="../media/image143.png" Type="http://schemas.openxmlformats.org/officeDocument/2006/relationships/image"/><Relationship Id="rId13" Target="../media/image144.png" Type="http://schemas.openxmlformats.org/officeDocument/2006/relationships/image"/><Relationship Id="rId14" Target="../media/image145.png" Type="http://schemas.openxmlformats.org/officeDocument/2006/relationships/image"/><Relationship Id="rId15" Target="../media/image146.png" Type="http://schemas.openxmlformats.org/officeDocument/2006/relationships/image"/><Relationship Id="rId16" Target="../media/image147.png" Type="http://schemas.openxmlformats.org/officeDocument/2006/relationships/image"/><Relationship Id="rId17" Target="../media/image148.png" Type="http://schemas.openxmlformats.org/officeDocument/2006/relationships/image"/><Relationship Id="rId18" Target="../media/image149.png" Type="http://schemas.openxmlformats.org/officeDocument/2006/relationships/image"/><Relationship Id="rId19" Target="../media/image150.png" Type="http://schemas.openxmlformats.org/officeDocument/2006/relationships/image"/><Relationship Id="rId2" Target="../media/image133.png" Type="http://schemas.openxmlformats.org/officeDocument/2006/relationships/image"/><Relationship Id="rId20" Target="../media/image151.png" Type="http://schemas.openxmlformats.org/officeDocument/2006/relationships/image"/><Relationship Id="rId21" Target="../media/image152.png" Type="http://schemas.openxmlformats.org/officeDocument/2006/relationships/image"/><Relationship Id="rId22" Target="../media/image153.png" Type="http://schemas.openxmlformats.org/officeDocument/2006/relationships/image"/><Relationship Id="rId23" Target="../media/image154.png" Type="http://schemas.openxmlformats.org/officeDocument/2006/relationships/image"/><Relationship Id="rId24" Target="../media/image155.png" Type="http://schemas.openxmlformats.org/officeDocument/2006/relationships/image"/><Relationship Id="rId3" Target="../media/image134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Relationship Id="rId7" Target="../media/image138.png" Type="http://schemas.openxmlformats.org/officeDocument/2006/relationships/image"/><Relationship Id="rId8" Target="../media/image139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4.png" Type="http://schemas.openxmlformats.org/officeDocument/2006/relationships/image"/><Relationship Id="rId11" Target="../media/image165.png" Type="http://schemas.openxmlformats.org/officeDocument/2006/relationships/image"/><Relationship Id="rId12" Target="../media/image166.png" Type="http://schemas.openxmlformats.org/officeDocument/2006/relationships/image"/><Relationship Id="rId13" Target="../media/image167.png" Type="http://schemas.openxmlformats.org/officeDocument/2006/relationships/image"/><Relationship Id="rId14" Target="../media/image168.png" Type="http://schemas.openxmlformats.org/officeDocument/2006/relationships/image"/><Relationship Id="rId15" Target="../media/image169.png" Type="http://schemas.openxmlformats.org/officeDocument/2006/relationships/image"/><Relationship Id="rId16" Target="../media/image170.png" Type="http://schemas.openxmlformats.org/officeDocument/2006/relationships/image"/><Relationship Id="rId17" Target="../media/image171.png" Type="http://schemas.openxmlformats.org/officeDocument/2006/relationships/image"/><Relationship Id="rId18" Target="../media/image172.png" Type="http://schemas.openxmlformats.org/officeDocument/2006/relationships/image"/><Relationship Id="rId19" Target="../media/image173.png" Type="http://schemas.openxmlformats.org/officeDocument/2006/relationships/image"/><Relationship Id="rId2" Target="../media/image156.png" Type="http://schemas.openxmlformats.org/officeDocument/2006/relationships/image"/><Relationship Id="rId20" Target="../media/image174.png" Type="http://schemas.openxmlformats.org/officeDocument/2006/relationships/image"/><Relationship Id="rId21" Target="../media/image175.png" Type="http://schemas.openxmlformats.org/officeDocument/2006/relationships/image"/><Relationship Id="rId22" Target="../media/image176.png" Type="http://schemas.openxmlformats.org/officeDocument/2006/relationships/image"/><Relationship Id="rId23" Target="../media/image177.png" Type="http://schemas.openxmlformats.org/officeDocument/2006/relationships/image"/><Relationship Id="rId24" Target="../media/image178.png" Type="http://schemas.openxmlformats.org/officeDocument/2006/relationships/image"/><Relationship Id="rId25" Target="../media/image179.png" Type="http://schemas.openxmlformats.org/officeDocument/2006/relationships/image"/><Relationship Id="rId26" Target="../media/image180.png" Type="http://schemas.openxmlformats.org/officeDocument/2006/relationships/image"/><Relationship Id="rId27" Target="../media/image181.png" Type="http://schemas.openxmlformats.org/officeDocument/2006/relationships/image"/><Relationship Id="rId28" Target="../media/image182.png" Type="http://schemas.openxmlformats.org/officeDocument/2006/relationships/image"/><Relationship Id="rId29" Target="../media/image183.png" Type="http://schemas.openxmlformats.org/officeDocument/2006/relationships/image"/><Relationship Id="rId3" Target="../media/image157.png" Type="http://schemas.openxmlformats.org/officeDocument/2006/relationships/image"/><Relationship Id="rId30" Target="../media/image184.png" Type="http://schemas.openxmlformats.org/officeDocument/2006/relationships/image"/><Relationship Id="rId31" Target="../media/image185.png" Type="http://schemas.openxmlformats.org/officeDocument/2006/relationships/image"/><Relationship Id="rId32" Target="../media/image186.png" Type="http://schemas.openxmlformats.org/officeDocument/2006/relationships/image"/><Relationship Id="rId33" Target="../media/image187.png" Type="http://schemas.openxmlformats.org/officeDocument/2006/relationships/image"/><Relationship Id="rId34" Target="../media/image188.png" Type="http://schemas.openxmlformats.org/officeDocument/2006/relationships/image"/><Relationship Id="rId35" Target="../media/image189.png" Type="http://schemas.openxmlformats.org/officeDocument/2006/relationships/image"/><Relationship Id="rId36" Target="../media/image190.png" Type="http://schemas.openxmlformats.org/officeDocument/2006/relationships/image"/><Relationship Id="rId37" Target="../media/image191.png" Type="http://schemas.openxmlformats.org/officeDocument/2006/relationships/image"/><Relationship Id="rId38" Target="../media/image192.png" Type="http://schemas.openxmlformats.org/officeDocument/2006/relationships/image"/><Relationship Id="rId39" Target="../media/image193.png" Type="http://schemas.openxmlformats.org/officeDocument/2006/relationships/image"/><Relationship Id="rId4" Target="../media/image158.png" Type="http://schemas.openxmlformats.org/officeDocument/2006/relationships/image"/><Relationship Id="rId40" Target="../media/image194.png" Type="http://schemas.openxmlformats.org/officeDocument/2006/relationships/image"/><Relationship Id="rId41" Target="../media/image195.png" Type="http://schemas.openxmlformats.org/officeDocument/2006/relationships/image"/><Relationship Id="rId42" Target="../media/image196.png" Type="http://schemas.openxmlformats.org/officeDocument/2006/relationships/image"/><Relationship Id="rId43" Target="../media/image197.png" Type="http://schemas.openxmlformats.org/officeDocument/2006/relationships/image"/><Relationship Id="rId44" Target="../media/image198.png" Type="http://schemas.openxmlformats.org/officeDocument/2006/relationships/image"/><Relationship Id="rId45" Target="../media/image199.png" Type="http://schemas.openxmlformats.org/officeDocument/2006/relationships/image"/><Relationship Id="rId46" Target="../media/image200.png" Type="http://schemas.openxmlformats.org/officeDocument/2006/relationships/image"/><Relationship Id="rId47" Target="../media/image201.png" Type="http://schemas.openxmlformats.org/officeDocument/2006/relationships/image"/><Relationship Id="rId48" Target="../media/image202.png" Type="http://schemas.openxmlformats.org/officeDocument/2006/relationships/image"/><Relationship Id="rId49" Target="../media/image203.png" Type="http://schemas.openxmlformats.org/officeDocument/2006/relationships/image"/><Relationship Id="rId5" Target="../media/image159.png" Type="http://schemas.openxmlformats.org/officeDocument/2006/relationships/image"/><Relationship Id="rId50" Target="../media/image204.png" Type="http://schemas.openxmlformats.org/officeDocument/2006/relationships/image"/><Relationship Id="rId51" Target="../media/image205.png" Type="http://schemas.openxmlformats.org/officeDocument/2006/relationships/image"/><Relationship Id="rId52" Target="../media/image206.png" Type="http://schemas.openxmlformats.org/officeDocument/2006/relationships/image"/><Relationship Id="rId53" Target="../media/image207.png" Type="http://schemas.openxmlformats.org/officeDocument/2006/relationships/image"/><Relationship Id="rId54" Target="../media/image208.png" Type="http://schemas.openxmlformats.org/officeDocument/2006/relationships/image"/><Relationship Id="rId55" Target="../media/image209.png" Type="http://schemas.openxmlformats.org/officeDocument/2006/relationships/image"/><Relationship Id="rId56" Target="../media/image210.png" Type="http://schemas.openxmlformats.org/officeDocument/2006/relationships/image"/><Relationship Id="rId57" Target="../media/image211.png" Type="http://schemas.openxmlformats.org/officeDocument/2006/relationships/image"/><Relationship Id="rId58" Target="../media/image212.png" Type="http://schemas.openxmlformats.org/officeDocument/2006/relationships/image"/><Relationship Id="rId59" Target="../media/image213.png" Type="http://schemas.openxmlformats.org/officeDocument/2006/relationships/image"/><Relationship Id="rId6" Target="../media/image160.png" Type="http://schemas.openxmlformats.org/officeDocument/2006/relationships/image"/><Relationship Id="rId60" Target="../media/image214.svg" Type="http://schemas.openxmlformats.org/officeDocument/2006/relationships/image"/><Relationship Id="rId61" Target="../media/image215.png" Type="http://schemas.openxmlformats.org/officeDocument/2006/relationships/image"/><Relationship Id="rId7" Target="../media/image161.png" Type="http://schemas.openxmlformats.org/officeDocument/2006/relationships/image"/><Relationship Id="rId8" Target="../media/image162.png" Type="http://schemas.openxmlformats.org/officeDocument/2006/relationships/image"/><Relationship Id="rId9" Target="../media/image16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4.png" Type="http://schemas.openxmlformats.org/officeDocument/2006/relationships/image"/><Relationship Id="rId11" Target="../media/image225.png" Type="http://schemas.openxmlformats.org/officeDocument/2006/relationships/image"/><Relationship Id="rId12" Target="../media/image226.png" Type="http://schemas.openxmlformats.org/officeDocument/2006/relationships/image"/><Relationship Id="rId13" Target="../media/image227.png" Type="http://schemas.openxmlformats.org/officeDocument/2006/relationships/image"/><Relationship Id="rId14" Target="../media/image228.png" Type="http://schemas.openxmlformats.org/officeDocument/2006/relationships/image"/><Relationship Id="rId15" Target="../media/image229.png" Type="http://schemas.openxmlformats.org/officeDocument/2006/relationships/image"/><Relationship Id="rId16" Target="../media/image230.png" Type="http://schemas.openxmlformats.org/officeDocument/2006/relationships/image"/><Relationship Id="rId17" Target="../media/image231.png" Type="http://schemas.openxmlformats.org/officeDocument/2006/relationships/image"/><Relationship Id="rId18" Target="../media/image232.png" Type="http://schemas.openxmlformats.org/officeDocument/2006/relationships/image"/><Relationship Id="rId19" Target="../media/image233.png" Type="http://schemas.openxmlformats.org/officeDocument/2006/relationships/image"/><Relationship Id="rId2" Target="../media/image216.png" Type="http://schemas.openxmlformats.org/officeDocument/2006/relationships/image"/><Relationship Id="rId20" Target="../media/image234.png" Type="http://schemas.openxmlformats.org/officeDocument/2006/relationships/image"/><Relationship Id="rId21" Target="../media/image235.png" Type="http://schemas.openxmlformats.org/officeDocument/2006/relationships/image"/><Relationship Id="rId3" Target="../media/image217.png" Type="http://schemas.openxmlformats.org/officeDocument/2006/relationships/image"/><Relationship Id="rId4" Target="../media/image218.png" Type="http://schemas.openxmlformats.org/officeDocument/2006/relationships/image"/><Relationship Id="rId5" Target="../media/image219.png" Type="http://schemas.openxmlformats.org/officeDocument/2006/relationships/image"/><Relationship Id="rId6" Target="../media/image220.png" Type="http://schemas.openxmlformats.org/officeDocument/2006/relationships/image"/><Relationship Id="rId7" Target="../media/image221.png" Type="http://schemas.openxmlformats.org/officeDocument/2006/relationships/image"/><Relationship Id="rId8" Target="../media/image222.png" Type="http://schemas.openxmlformats.org/officeDocument/2006/relationships/image"/><Relationship Id="rId9" Target="../media/image2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6.png" Type="http://schemas.openxmlformats.org/officeDocument/2006/relationships/image"/><Relationship Id="rId3" Target="../media/image2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219338"/>
            <a:ext cx="10533888" cy="387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9"/>
              </a:lnSpc>
            </a:pPr>
            <a:r>
              <a:rPr lang="en-US" sz="1159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STRATEGIC</a:t>
            </a:r>
          </a:p>
          <a:p>
            <a:pPr algn="l">
              <a:lnSpc>
                <a:spcPts val="9859"/>
              </a:lnSpc>
            </a:pPr>
            <a:r>
              <a:rPr lang="en-US" sz="1159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DEAL INTELLIGENCE ASSISTANT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5032248"/>
            <a:ext cx="769924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Agentic AI Engineering Walkthrough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57816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096" y="6245543"/>
            <a:ext cx="148132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Grounded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90775" y="6210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43200" y="6245543"/>
            <a:ext cx="27614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Permission-Aware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57850" y="6210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16752" y="6255067"/>
            <a:ext cx="166420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29550" y="6210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93024" y="6245543"/>
            <a:ext cx="2615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Human-Approved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685800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51760" y="7435405"/>
            <a:ext cx="325526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76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Oded Goldberg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51760" y="8075105"/>
            <a:ext cx="44805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Candidate — Agentic AI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5216" y="547317"/>
            <a:ext cx="16751808" cy="92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7"/>
              </a:lnSpc>
            </a:pPr>
            <a:r>
              <a:rPr lang="en-US" b="true" sz="7679" spc="-23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FROM FRAGMENTED CONTEXT TO DECISION SUPPORT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5216" y="1494282"/>
            <a:ext cx="12161520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4230" spc="-126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The challenge is not missing data. It is disconnected context.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5238750" cy="1295400"/>
          </a:xfrm>
          <a:custGeom>
            <a:avLst/>
            <a:gdLst/>
            <a:ahLst/>
            <a:cxnLst/>
            <a:rect r="r" b="b" t="t" l="l"/>
            <a:pathLst>
              <a:path h="1295400" w="5238750">
                <a:moveTo>
                  <a:pt x="0" y="0"/>
                </a:moveTo>
                <a:lnTo>
                  <a:pt x="5238750" y="0"/>
                </a:lnTo>
                <a:lnTo>
                  <a:pt x="5238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2571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05456" y="2832164"/>
            <a:ext cx="1847088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Salesforce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638550"/>
            <a:ext cx="5238750" cy="1295400"/>
          </a:xfrm>
          <a:custGeom>
            <a:avLst/>
            <a:gdLst/>
            <a:ahLst/>
            <a:cxnLst/>
            <a:rect r="r" b="b" t="t" l="l"/>
            <a:pathLst>
              <a:path h="1295400" w="5238750">
                <a:moveTo>
                  <a:pt x="0" y="0"/>
                </a:moveTo>
                <a:lnTo>
                  <a:pt x="5238750" y="0"/>
                </a:lnTo>
                <a:lnTo>
                  <a:pt x="5238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4925" y="38576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05456" y="3994594"/>
            <a:ext cx="1810512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Gong calls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4714875"/>
            <a:ext cx="5238750" cy="1285875"/>
          </a:xfrm>
          <a:custGeom>
            <a:avLst/>
            <a:gdLst/>
            <a:ahLst/>
            <a:cxnLst/>
            <a:rect r="r" b="b" t="t" l="l"/>
            <a:pathLst>
              <a:path h="1285875" w="5238750">
                <a:moveTo>
                  <a:pt x="0" y="0"/>
                </a:moveTo>
                <a:lnTo>
                  <a:pt x="5238750" y="0"/>
                </a:lnTo>
                <a:lnTo>
                  <a:pt x="5238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4925" y="49244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05456" y="5146739"/>
            <a:ext cx="2414016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Slack updates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6000750"/>
            <a:ext cx="5238750" cy="1285875"/>
          </a:xfrm>
          <a:custGeom>
            <a:avLst/>
            <a:gdLst/>
            <a:ahLst/>
            <a:cxnLst/>
            <a:rect r="r" b="b" t="t" l="l"/>
            <a:pathLst>
              <a:path h="1285875" w="5238750">
                <a:moveTo>
                  <a:pt x="0" y="0"/>
                </a:moveTo>
                <a:lnTo>
                  <a:pt x="5238750" y="0"/>
                </a:lnTo>
                <a:lnTo>
                  <a:pt x="5238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4925" y="6000750"/>
            <a:ext cx="657225" cy="1076325"/>
          </a:xfrm>
          <a:custGeom>
            <a:avLst/>
            <a:gdLst/>
            <a:ahLst/>
            <a:cxnLst/>
            <a:rect r="r" b="b" t="t" l="l"/>
            <a:pathLst>
              <a:path h="1076325" w="6572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05456" y="6350317"/>
            <a:ext cx="224942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Pricing notes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7700" y="7067550"/>
            <a:ext cx="5238750" cy="1295400"/>
          </a:xfrm>
          <a:custGeom>
            <a:avLst/>
            <a:gdLst/>
            <a:ahLst/>
            <a:cxnLst/>
            <a:rect r="r" b="b" t="t" l="l"/>
            <a:pathLst>
              <a:path h="1295400" w="5238750">
                <a:moveTo>
                  <a:pt x="0" y="0"/>
                </a:moveTo>
                <a:lnTo>
                  <a:pt x="5238750" y="0"/>
                </a:lnTo>
                <a:lnTo>
                  <a:pt x="5238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4925" y="72866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05456" y="7512749"/>
            <a:ext cx="2816352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Deal Desk policy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305550" y="4286250"/>
            <a:ext cx="4152900" cy="2143125"/>
          </a:xfrm>
          <a:custGeom>
            <a:avLst/>
            <a:gdLst/>
            <a:ahLst/>
            <a:cxnLst/>
            <a:rect r="r" b="b" t="t" l="l"/>
            <a:pathLst>
              <a:path h="2143125" w="4152900">
                <a:moveTo>
                  <a:pt x="0" y="0"/>
                </a:moveTo>
                <a:lnTo>
                  <a:pt x="4152900" y="0"/>
                </a:lnTo>
                <a:lnTo>
                  <a:pt x="41529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8925" y="2143125"/>
            <a:ext cx="7191375" cy="6648450"/>
          </a:xfrm>
          <a:custGeom>
            <a:avLst/>
            <a:gdLst/>
            <a:ahLst/>
            <a:cxnLst/>
            <a:rect r="r" b="b" t="t" l="l"/>
            <a:pathLst>
              <a:path h="6648450" w="7191375">
                <a:moveTo>
                  <a:pt x="0" y="0"/>
                </a:moveTo>
                <a:lnTo>
                  <a:pt x="7191375" y="0"/>
                </a:lnTo>
                <a:lnTo>
                  <a:pt x="71913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49456" y="2666105"/>
            <a:ext cx="4736592" cy="119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4600" spc="-138">
                <a:solidFill>
                  <a:srgbClr val="4AFFE9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STRATEGIC DEAL INTELLIGENCE BRIEF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096625" y="385762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96625" y="4495800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96625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96625" y="5781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096625" y="6429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096625" y="70675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096625" y="77152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05456" y="9192520"/>
            <a:ext cx="13277088" cy="669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 spc="-149">
                <a:solidFill>
                  <a:srgbClr val="4AFFE9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Faster preparation. Better grounding. Safer decisions.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15216" y="4044039"/>
            <a:ext cx="4133088" cy="41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Deal state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Buyer goals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Stakeholders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Negotiation risks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Recommended next actions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Missing information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Supporting evidence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5488" y="85725"/>
            <a:ext cx="976579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6"/>
              </a:lnSpc>
            </a:pPr>
            <a:r>
              <a:rPr lang="en-US" sz="526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 PROTOTYPE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776" y="819150"/>
            <a:ext cx="7406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37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 governed agent workflow around live LLM reasoning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488" y="2520125"/>
            <a:ext cx="276148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CORE PRINCIPLES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5488" y="3455289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5920" y="3376041"/>
            <a:ext cx="1938528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Authorization Before Retriev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4286250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5488" y="4772025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5920" y="4795647"/>
            <a:ext cx="1426464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Specialized Agents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625" y="5781675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5488" y="6294501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5920" y="6307836"/>
            <a:ext cx="2450592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Human Approval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Sensitive Actions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286625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5488" y="7806690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920" y="7899053"/>
            <a:ext cx="2670048" cy="55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Observable by Design Metrics • Traces • Audit Trail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572000" y="1066800"/>
            <a:ext cx="13287375" cy="9220200"/>
          </a:xfrm>
          <a:custGeom>
            <a:avLst/>
            <a:gdLst/>
            <a:ahLst/>
            <a:cxnLst/>
            <a:rect r="r" b="b" t="t" l="l"/>
            <a:pathLst>
              <a:path h="9220200" w="13287375">
                <a:moveTo>
                  <a:pt x="0" y="0"/>
                </a:moveTo>
                <a:lnTo>
                  <a:pt x="13287375" y="0"/>
                </a:lnTo>
                <a:lnTo>
                  <a:pt x="1328737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400800" y="9698164"/>
            <a:ext cx="29992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1919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DETERMINISTIC CONTROL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572625" y="9639300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430000" y="9702927"/>
            <a:ext cx="16276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1"/>
              </a:lnSpc>
            </a:pPr>
            <a:r>
              <a:rPr lang="en-US" b="true" sz="1959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AI JUDGMENT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181850" y="1285875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00925" y="14954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174736" y="1595247"/>
            <a:ext cx="206654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 / CLI / Demo UI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924925" y="192405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181850" y="2143125"/>
            <a:ext cx="3924300" cy="1285875"/>
          </a:xfrm>
          <a:custGeom>
            <a:avLst/>
            <a:gdLst/>
            <a:ahLst/>
            <a:cxnLst/>
            <a:rect r="r" b="b" t="t" l="l"/>
            <a:pathLst>
              <a:path h="1285875" w="3924300">
                <a:moveTo>
                  <a:pt x="0" y="0"/>
                </a:moveTo>
                <a:lnTo>
                  <a:pt x="3924300" y="0"/>
                </a:lnTo>
                <a:lnTo>
                  <a:pt x="3924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00925" y="2352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24925" y="32099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1850" y="3209925"/>
            <a:ext cx="3486150" cy="866775"/>
          </a:xfrm>
          <a:custGeom>
            <a:avLst/>
            <a:gdLst/>
            <a:ahLst/>
            <a:cxnLst/>
            <a:rect r="r" b="b" t="t" l="l"/>
            <a:pathLst>
              <a:path h="866775" w="3486150">
                <a:moveTo>
                  <a:pt x="0" y="0"/>
                </a:moveTo>
                <a:lnTo>
                  <a:pt x="3486150" y="0"/>
                </a:lnTo>
                <a:lnTo>
                  <a:pt x="3486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00925" y="3429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924925" y="38576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8925" y="3429000"/>
            <a:ext cx="1743075" cy="428625"/>
          </a:xfrm>
          <a:custGeom>
            <a:avLst/>
            <a:gdLst/>
            <a:ahLst/>
            <a:cxnLst/>
            <a:rect r="r" b="b" t="t" l="l"/>
            <a:pathLst>
              <a:path h="428625" w="1743075">
                <a:moveTo>
                  <a:pt x="0" y="0"/>
                </a:moveTo>
                <a:lnTo>
                  <a:pt x="1743075" y="0"/>
                </a:lnTo>
                <a:lnTo>
                  <a:pt x="1743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72925" y="3209925"/>
            <a:ext cx="1962150" cy="866775"/>
          </a:xfrm>
          <a:custGeom>
            <a:avLst/>
            <a:gdLst/>
            <a:ahLst/>
            <a:cxnLst/>
            <a:rect r="r" b="b" t="t" l="l"/>
            <a:pathLst>
              <a:path h="866775" w="1962150">
                <a:moveTo>
                  <a:pt x="0" y="0"/>
                </a:moveTo>
                <a:lnTo>
                  <a:pt x="1962150" y="0"/>
                </a:lnTo>
                <a:lnTo>
                  <a:pt x="1962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92000" y="342900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181850" y="4286250"/>
            <a:ext cx="3924300" cy="1076325"/>
          </a:xfrm>
          <a:custGeom>
            <a:avLst/>
            <a:gdLst/>
            <a:ahLst/>
            <a:cxnLst/>
            <a:rect r="r" b="b" t="t" l="l"/>
            <a:pathLst>
              <a:path h="1076325" w="3924300">
                <a:moveTo>
                  <a:pt x="0" y="0"/>
                </a:moveTo>
                <a:lnTo>
                  <a:pt x="3924300" y="0"/>
                </a:lnTo>
                <a:lnTo>
                  <a:pt x="3924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672578" y="4467225"/>
            <a:ext cx="272491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Governed Retriev</a:t>
            </a:r>
          </a:p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BM25 + Dense + RFF</a:t>
            </a:r>
          </a:p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Permission + Metadata Filters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743700" y="47148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000625" y="4286250"/>
            <a:ext cx="1971675" cy="857250"/>
          </a:xfrm>
          <a:custGeom>
            <a:avLst/>
            <a:gdLst/>
            <a:ahLst/>
            <a:cxnLst/>
            <a:rect r="r" b="b" t="t" l="l"/>
            <a:pathLst>
              <a:path h="857250" w="1971675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219700" y="44958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924925" y="51435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000625" y="5572125"/>
            <a:ext cx="2619375" cy="857250"/>
          </a:xfrm>
          <a:custGeom>
            <a:avLst/>
            <a:gdLst/>
            <a:ahLst/>
            <a:cxnLst/>
            <a:rect r="r" b="b" t="t" l="l"/>
            <a:pathLst>
              <a:path h="857250" w="2619375">
                <a:moveTo>
                  <a:pt x="0" y="0"/>
                </a:moveTo>
                <a:lnTo>
                  <a:pt x="2619375" y="0"/>
                </a:lnTo>
                <a:lnTo>
                  <a:pt x="261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219700" y="5781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5956554" y="5743575"/>
            <a:ext cx="122529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Deal Context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Agent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924925" y="55721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829550" y="5572125"/>
            <a:ext cx="2628900" cy="857250"/>
          </a:xfrm>
          <a:custGeom>
            <a:avLst/>
            <a:gdLst/>
            <a:ahLst/>
            <a:cxnLst/>
            <a:rect r="r" b="b" t="t" l="l"/>
            <a:pathLst>
              <a:path h="857250" w="2628900">
                <a:moveTo>
                  <a:pt x="0" y="0"/>
                </a:moveTo>
                <a:lnTo>
                  <a:pt x="2628900" y="0"/>
                </a:lnTo>
                <a:lnTo>
                  <a:pt x="2628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048625" y="57816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643812" y="5772150"/>
            <a:ext cx="302418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Conversation Intelligence </a:t>
            </a:r>
          </a:p>
          <a:p>
            <a:pPr algn="ctr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Agent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8924925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305550" y="6210300"/>
            <a:ext cx="5676900" cy="438150"/>
          </a:xfrm>
          <a:custGeom>
            <a:avLst/>
            <a:gdLst/>
            <a:ahLst/>
            <a:cxnLst/>
            <a:rect r="r" b="b" t="t" l="l"/>
            <a:pathLst>
              <a:path h="438150" w="5676900">
                <a:moveTo>
                  <a:pt x="0" y="0"/>
                </a:moveTo>
                <a:lnTo>
                  <a:pt x="5676900" y="0"/>
                </a:lnTo>
                <a:lnTo>
                  <a:pt x="56769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7181850" y="6638925"/>
            <a:ext cx="3924300" cy="866775"/>
          </a:xfrm>
          <a:custGeom>
            <a:avLst/>
            <a:gdLst/>
            <a:ahLst/>
            <a:cxnLst/>
            <a:rect r="r" b="b" t="t" l="l"/>
            <a:pathLst>
              <a:path h="866775" w="3924300">
                <a:moveTo>
                  <a:pt x="0" y="0"/>
                </a:moveTo>
                <a:lnTo>
                  <a:pt x="3924300" y="0"/>
                </a:lnTo>
                <a:lnTo>
                  <a:pt x="3924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7400925" y="6858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924925" y="72866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7181850" y="7496175"/>
            <a:ext cx="3924300" cy="866775"/>
          </a:xfrm>
          <a:custGeom>
            <a:avLst/>
            <a:gdLst/>
            <a:ahLst/>
            <a:cxnLst/>
            <a:rect r="r" b="b" t="t" l="l"/>
            <a:pathLst>
              <a:path h="866775" w="3924300">
                <a:moveTo>
                  <a:pt x="0" y="0"/>
                </a:moveTo>
                <a:lnTo>
                  <a:pt x="3924300" y="0"/>
                </a:lnTo>
                <a:lnTo>
                  <a:pt x="3924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7400925" y="74961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8174736" y="7646099"/>
            <a:ext cx="22677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Citation + Policy Validation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↓ Risk Check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6305550" y="7715250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5797296" y="8160449"/>
            <a:ext cx="512064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"/>
              </a:lnSpc>
            </a:pPr>
            <a:r>
              <a:rPr lang="en-US" sz="118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Normal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5219700" y="8353425"/>
            <a:ext cx="2400300" cy="866775"/>
          </a:xfrm>
          <a:custGeom>
            <a:avLst/>
            <a:gdLst/>
            <a:ahLst/>
            <a:cxnLst/>
            <a:rect r="r" b="b" t="t" l="l"/>
            <a:pathLst>
              <a:path h="866775" w="2400300">
                <a:moveTo>
                  <a:pt x="0" y="0"/>
                </a:moveTo>
                <a:lnTo>
                  <a:pt x="2400300" y="0"/>
                </a:lnTo>
                <a:lnTo>
                  <a:pt x="2400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438775" y="85725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6016752" y="8641652"/>
            <a:ext cx="12984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Strategic Deal</a:t>
            </a:r>
          </a:p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 Brief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0877550" y="7715250"/>
            <a:ext cx="1104900" cy="428625"/>
          </a:xfrm>
          <a:custGeom>
            <a:avLst/>
            <a:gdLst/>
            <a:ahLst/>
            <a:cxnLst/>
            <a:rect r="r" b="b" t="t" l="l"/>
            <a:pathLst>
              <a:path h="428625" w="1104900">
                <a:moveTo>
                  <a:pt x="0" y="0"/>
                </a:moveTo>
                <a:lnTo>
                  <a:pt x="1104900" y="0"/>
                </a:lnTo>
                <a:lnTo>
                  <a:pt x="11049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668000" y="7924800"/>
            <a:ext cx="2400300" cy="866775"/>
          </a:xfrm>
          <a:custGeom>
            <a:avLst/>
            <a:gdLst/>
            <a:ahLst/>
            <a:cxnLst/>
            <a:rect r="r" b="b" t="t" l="l"/>
            <a:pathLst>
              <a:path h="866775" w="2400300">
                <a:moveTo>
                  <a:pt x="0" y="0"/>
                </a:moveTo>
                <a:lnTo>
                  <a:pt x="2400300" y="0"/>
                </a:lnTo>
                <a:lnTo>
                  <a:pt x="2400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668000" y="8143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1320272" y="8261795"/>
            <a:ext cx="15544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6"/>
              </a:lnSpc>
            </a:pPr>
            <a:r>
              <a:rPr lang="en-US" sz="13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Human-in-the-Loop</a:t>
            </a:r>
          </a:p>
          <a:p>
            <a:pPr algn="l">
              <a:lnSpc>
                <a:spcPts val="1646"/>
              </a:lnSpc>
            </a:pPr>
            <a:r>
              <a:rPr lang="en-US" sz="13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Approval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1753850" y="79248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0668000" y="8782050"/>
            <a:ext cx="2400300" cy="866775"/>
          </a:xfrm>
          <a:custGeom>
            <a:avLst/>
            <a:gdLst/>
            <a:ahLst/>
            <a:cxnLst/>
            <a:rect r="r" b="b" t="t" l="l"/>
            <a:pathLst>
              <a:path h="866775" w="2400300">
                <a:moveTo>
                  <a:pt x="0" y="0"/>
                </a:moveTo>
                <a:lnTo>
                  <a:pt x="2400300" y="0"/>
                </a:lnTo>
                <a:lnTo>
                  <a:pt x="2400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0668000" y="90011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11320272" y="9011984"/>
            <a:ext cx="12984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Strategic Deal</a:t>
            </a:r>
          </a:p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 Brief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4363700" y="1495425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4582775" y="1714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5398496" y="1875853"/>
            <a:ext cx="17190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Config . env</a:t>
            </a:r>
          </a:p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Keys - Settings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3925550" y="1924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4363700" y="257175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582775" y="2781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15398496" y="2983801"/>
            <a:ext cx="107899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Logs</a:t>
            </a:r>
          </a:p>
          <a:p>
            <a:pPr algn="l">
              <a:lnSpc>
                <a:spcPts val="1536"/>
              </a:lnSpc>
            </a:pPr>
            <a:r>
              <a:rPr lang="en-US" sz="12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Logs - Metrics</a:t>
            </a:r>
          </a:p>
        </p:txBody>
      </p:sp>
      <p:sp>
        <p:nvSpPr>
          <p:cNvPr name="Freeform 74" id="74"/>
          <p:cNvSpPr/>
          <p:nvPr/>
        </p:nvSpPr>
        <p:spPr>
          <a:xfrm flipH="false" flipV="false" rot="0">
            <a:off x="13925550" y="30003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4363700" y="363855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4582775" y="38576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5398496" y="4014787"/>
            <a:ext cx="9509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Trace Files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Run Traces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13925550" y="40671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4363700" y="4714875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4582775" y="51435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5398496" y="5055108"/>
            <a:ext cx="199339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3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State Store</a:t>
            </a:r>
          </a:p>
          <a:p>
            <a:pPr algn="l">
              <a:lnSpc>
                <a:spcPts val="1632"/>
              </a:lnSpc>
            </a:pPr>
            <a:r>
              <a:rPr lang="en-US" sz="13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Approvals - Checkpoints - Run Metadata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3925550" y="514350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4363700" y="6000750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4582775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5398496" y="6191250"/>
            <a:ext cx="17190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Files</a:t>
            </a:r>
          </a:p>
          <a:p>
            <a:pPr algn="l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Source Documents - Generated Briefs - Run Artifacts</a:t>
            </a:r>
          </a:p>
        </p:txBody>
      </p:sp>
      <p:sp>
        <p:nvSpPr>
          <p:cNvPr name="Freeform 86" id="86"/>
          <p:cNvSpPr/>
          <p:nvPr/>
        </p:nvSpPr>
        <p:spPr>
          <a:xfrm flipH="false" flipV="false" rot="0">
            <a:off x="1392555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4363700" y="7286625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4582775" y="77152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 l="0" t="0" r="0" b="0"/>
            </a:stretch>
          </a:blipFill>
        </p:spPr>
      </p:sp>
      <p:sp>
        <p:nvSpPr>
          <p:cNvPr name="TextBox 89" id="89"/>
          <p:cNvSpPr txBox="true"/>
          <p:nvPr/>
        </p:nvSpPr>
        <p:spPr>
          <a:xfrm rot="0">
            <a:off x="15398496" y="7618857"/>
            <a:ext cx="148132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Live LLM Provider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LLM Reasoning / Agent Calls</a:t>
            </a:r>
          </a:p>
        </p:txBody>
      </p:sp>
      <p:sp>
        <p:nvSpPr>
          <p:cNvPr name="Freeform 90" id="90"/>
          <p:cNvSpPr/>
          <p:nvPr/>
        </p:nvSpPr>
        <p:spPr>
          <a:xfrm flipH="false" flipV="false" rot="0">
            <a:off x="13925550" y="77152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0" t="0" r="0" b="0"/>
            </a:stretch>
          </a:blipFill>
        </p:spPr>
      </p:sp>
      <p:sp>
        <p:nvSpPr>
          <p:cNvPr name="TextBox 91" id="91"/>
          <p:cNvSpPr txBox="true"/>
          <p:nvPr/>
        </p:nvSpPr>
        <p:spPr>
          <a:xfrm rot="0">
            <a:off x="8174736" y="2432113"/>
            <a:ext cx="22677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5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Application Service</a:t>
            </a:r>
          </a:p>
          <a:p>
            <a:pPr algn="l">
              <a:lnSpc>
                <a:spcPts val="1882"/>
              </a:lnSpc>
            </a:pPr>
            <a:r>
              <a:rPr lang="en-US" sz="15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LangGraph Orchestration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174736" y="2940177"/>
            <a:ext cx="239572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1"/>
              </a:lnSpc>
            </a:pPr>
            <a:r>
              <a:rPr lang="en-US" sz="12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Typed State - Pydantic Contracts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174736" y="3538728"/>
            <a:ext cx="16824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5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Authorization Gate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672578" y="4067175"/>
            <a:ext cx="138988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96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Authorized - Authorized</a:t>
            </a: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10668000" y="5591175"/>
            <a:ext cx="2628900" cy="857250"/>
          </a:xfrm>
          <a:custGeom>
            <a:avLst/>
            <a:gdLst/>
            <a:ahLst/>
            <a:cxnLst/>
            <a:rect r="r" b="b" t="t" l="l"/>
            <a:pathLst>
              <a:path h="857250" w="2628900">
                <a:moveTo>
                  <a:pt x="0" y="0"/>
                </a:moveTo>
                <a:lnTo>
                  <a:pt x="2628900" y="0"/>
                </a:lnTo>
                <a:lnTo>
                  <a:pt x="2628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10866501" y="5743575"/>
            <a:ext cx="216179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 Map</a:t>
            </a:r>
          </a:p>
          <a:p>
            <a:pPr algn="ctr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Agent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091297" y="6938200"/>
            <a:ext cx="239572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Negotiation Strategy Agent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100816" y="7882699"/>
            <a:ext cx="6949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9"/>
              </a:lnSpc>
            </a:pPr>
            <a:r>
              <a:rPr lang="en-US" sz="1315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Sensitive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802874" y="3448050"/>
            <a:ext cx="950976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27"/>
              </a:lnSpc>
            </a:pPr>
            <a:r>
              <a:rPr lang="en-US" sz="118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Unauthorized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563856" y="3575559"/>
            <a:ext cx="950976" cy="28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"/>
              </a:lnSpc>
            </a:pPr>
            <a:r>
              <a:rPr lang="en-US" sz="11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Access Denied</a:t>
            </a:r>
          </a:p>
          <a:p>
            <a:pPr algn="ctr">
              <a:lnSpc>
                <a:spcPts val="1119"/>
              </a:lnSpc>
            </a:pPr>
            <a:r>
              <a:rPr lang="en-US" sz="11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→ End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767388" y="4562475"/>
            <a:ext cx="197167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"/>
              </a:lnSpc>
              <a:spcBef>
                <a:spcPct val="0"/>
              </a:spcBef>
            </a:pP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Qd</a:t>
            </a: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rant</a:t>
            </a:r>
          </a:p>
          <a:p>
            <a:pPr algn="l">
              <a:lnSpc>
                <a:spcPts val="1368"/>
              </a:lnSpc>
              <a:spcBef>
                <a:spcPct val="0"/>
              </a:spcBef>
            </a:pP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Evidence </a:t>
            </a:r>
          </a:p>
          <a:p>
            <a:pPr algn="l">
              <a:lnSpc>
                <a:spcPts val="1368"/>
              </a:lnSpc>
              <a:spcBef>
                <a:spcPct val="0"/>
              </a:spcBef>
            </a:pP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Vector Store</a:t>
            </a:r>
          </a:p>
          <a:p>
            <a:pPr algn="l">
              <a:lnSpc>
                <a:spcPts val="13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1792" y="644786"/>
            <a:ext cx="13185648" cy="185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4"/>
              </a:lnSpc>
            </a:pPr>
            <a:r>
              <a:rPr lang="en-US" sz="7144" b="tru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AUTHORIZATION BEFORE EVIDENCE REACHES THE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1792" y="2442356"/>
            <a:ext cx="12984480" cy="53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</a:pPr>
            <a:r>
              <a:rPr lang="en-US" sz="30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is enforced before retrieval — not delegated to the prompt.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3319139"/>
            <a:ext cx="4279392" cy="54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PRINCIPLES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857625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406717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2224" y="4440365"/>
            <a:ext cx="3401568" cy="2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8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Authorization Before Retrieval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5143500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5572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25" y="6429375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92224" y="6939153"/>
            <a:ext cx="3986784" cy="62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79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Unauthorized Restricted Data Never Enters Model Context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924800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6775" y="83534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2224" y="8527161"/>
            <a:ext cx="3767328" cy="32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88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Clean Denial • No Partial Answer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05550" y="3000375"/>
            <a:ext cx="11334750" cy="6858000"/>
          </a:xfrm>
          <a:custGeom>
            <a:avLst/>
            <a:gdLst/>
            <a:ahLst/>
            <a:cxnLst/>
            <a:rect r="r" b="b" t="t" l="l"/>
            <a:pathLst>
              <a:path h="6858000" w="11334750">
                <a:moveTo>
                  <a:pt x="0" y="0"/>
                </a:moveTo>
                <a:lnTo>
                  <a:pt x="11334750" y="0"/>
                </a:lnTo>
                <a:lnTo>
                  <a:pt x="113347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710928" y="3484664"/>
            <a:ext cx="3675888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b="true" sz="2058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ENFORCE BEFORE RETRIEVAL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524625" y="3857625"/>
            <a:ext cx="2190750" cy="1933575"/>
          </a:xfrm>
          <a:custGeom>
            <a:avLst/>
            <a:gdLst/>
            <a:ahLst/>
            <a:cxnLst/>
            <a:rect r="r" b="b" t="t" l="l"/>
            <a:pathLst>
              <a:path h="1933575" w="2190750">
                <a:moveTo>
                  <a:pt x="0" y="0"/>
                </a:moveTo>
                <a:lnTo>
                  <a:pt x="2190750" y="0"/>
                </a:lnTo>
                <a:lnTo>
                  <a:pt x="219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743700" y="4495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18451" y="4525137"/>
            <a:ext cx="841248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/</a:t>
            </a:r>
          </a:p>
          <a:p>
            <a:pPr algn="ctr">
              <a:lnSpc>
                <a:spcPts val="2106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CLI /</a:t>
            </a:r>
          </a:p>
          <a:p>
            <a:pPr algn="ctr">
              <a:lnSpc>
                <a:spcPts val="2106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Demo UI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924925" y="4067175"/>
            <a:ext cx="2619375" cy="1295400"/>
          </a:xfrm>
          <a:custGeom>
            <a:avLst/>
            <a:gdLst/>
            <a:ahLst/>
            <a:cxnLst/>
            <a:rect r="r" b="b" t="t" l="l"/>
            <a:pathLst>
              <a:path h="1295400" w="2619375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90304" y="4521898"/>
            <a:ext cx="18836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AUTHORIZATION CHECK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486775" y="449580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15700" y="4495800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620625" y="3857625"/>
            <a:ext cx="4581525" cy="1285875"/>
          </a:xfrm>
          <a:custGeom>
            <a:avLst/>
            <a:gdLst/>
            <a:ahLst/>
            <a:cxnLst/>
            <a:rect r="r" b="b" t="t" l="l"/>
            <a:pathLst>
              <a:path h="1285875" w="4581525">
                <a:moveTo>
                  <a:pt x="0" y="0"/>
                </a:moveTo>
                <a:lnTo>
                  <a:pt x="4581525" y="0"/>
                </a:lnTo>
                <a:lnTo>
                  <a:pt x="4581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8775" y="42862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045184" y="4347020"/>
            <a:ext cx="252374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RETRIEVE PERMITTED EVIDENCE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020925" y="49244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20625" y="5353050"/>
            <a:ext cx="4581525" cy="1076325"/>
          </a:xfrm>
          <a:custGeom>
            <a:avLst/>
            <a:gdLst/>
            <a:ahLst/>
            <a:cxnLst/>
            <a:rect r="r" b="b" t="t" l="l"/>
            <a:pathLst>
              <a:path h="1076325" w="45815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058775" y="5572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935456" y="5663756"/>
            <a:ext cx="27614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BUILD MODEL CONTEXT WITH PERMITTED DATA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020925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20625" y="6638925"/>
            <a:ext cx="4581525" cy="1295400"/>
          </a:xfrm>
          <a:custGeom>
            <a:avLst/>
            <a:gdLst/>
            <a:ahLst/>
            <a:cxnLst/>
            <a:rect r="r" b="b" t="t" l="l"/>
            <a:pathLst>
              <a:path h="1295400" w="4581525">
                <a:moveTo>
                  <a:pt x="0" y="0"/>
                </a:moveTo>
                <a:lnTo>
                  <a:pt x="4581525" y="0"/>
                </a:lnTo>
                <a:lnTo>
                  <a:pt x="4581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058775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045184" y="7176325"/>
            <a:ext cx="25237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 b="true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GENERATE RESPONSE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010775" y="51435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010775" y="60007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144000" y="6210300"/>
            <a:ext cx="2181225" cy="1933575"/>
          </a:xfrm>
          <a:custGeom>
            <a:avLst/>
            <a:gdLst/>
            <a:ahLst/>
            <a:cxnLst/>
            <a:rect r="r" b="b" t="t" l="l"/>
            <a:pathLst>
              <a:path h="1933575" w="218122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010775" y="64293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436608" y="7079551"/>
            <a:ext cx="1572768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TERMINATE</a:t>
            </a:r>
          </a:p>
          <a:p>
            <a:pPr algn="ctr">
              <a:lnSpc>
                <a:spcPts val="2340"/>
              </a:lnSpc>
            </a:pPr>
            <a:r>
              <a:rPr lang="en-US" b="true" sz="1800">
                <a:solidFill>
                  <a:srgbClr val="E63131"/>
                </a:solidFill>
                <a:latin typeface="DM Sans Bold"/>
                <a:ea typeface="DM Sans Bold"/>
                <a:cs typeface="DM Sans Bold"/>
                <a:sym typeface="DM Sans Bold"/>
              </a:rPr>
              <a:t>NO RETRIEVAL</a:t>
            </a:r>
          </a:p>
          <a:p>
            <a:pPr algn="ctr">
              <a:lnSpc>
                <a:spcPts val="2340"/>
              </a:lnSpc>
            </a:pPr>
            <a:r>
              <a:rPr lang="en-US" b="true" sz="1800">
                <a:solidFill>
                  <a:srgbClr val="E63131"/>
                </a:solidFill>
                <a:latin typeface="DM Sans Bold"/>
                <a:ea typeface="DM Sans Bold"/>
                <a:cs typeface="DM Sans Bold"/>
                <a:sym typeface="DM Sans Bold"/>
              </a:rPr>
              <a:t>NO CONTEXT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524625" y="8143875"/>
            <a:ext cx="10677525" cy="1285875"/>
          </a:xfrm>
          <a:custGeom>
            <a:avLst/>
            <a:gdLst/>
            <a:ahLst/>
            <a:cxnLst/>
            <a:rect r="r" b="b" t="t" l="l"/>
            <a:pathLst>
              <a:path h="1285875" w="10677525">
                <a:moveTo>
                  <a:pt x="0" y="0"/>
                </a:moveTo>
                <a:lnTo>
                  <a:pt x="10677525" y="0"/>
                </a:lnTo>
                <a:lnTo>
                  <a:pt x="1067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962775" y="8353425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991856" y="8531162"/>
            <a:ext cx="8193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AUTHORIZATION IS A CODE-LEVEL SECURITY BOUNDARY, NOT A PROMPT INSTRUCTION.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92224" y="5533644"/>
            <a:ext cx="3127248" cy="32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88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Permission Aware Filtering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92224" y="5927979"/>
            <a:ext cx="3986784" cy="26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• Opportunity • Source • Metadata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49456" y="4302442"/>
            <a:ext cx="84124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ALLOW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75520" y="5687816"/>
            <a:ext cx="640080" cy="32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b="true" sz="1879">
                <a:solidFill>
                  <a:srgbClr val="E63131"/>
                </a:solidFill>
                <a:latin typeface="DM Sans Bold"/>
                <a:ea typeface="DM Sans Bold"/>
                <a:cs typeface="DM Sans Bold"/>
                <a:sym typeface="DM Sans Bold"/>
              </a:rPr>
              <a:t>DENY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504" y="474154"/>
            <a:ext cx="6839712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b="true" sz="7200" spc="-2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SPECIALIZED AGENTS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20000" y="4286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77072" y="474154"/>
            <a:ext cx="6967728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b="true" sz="7200" spc="-2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ONE STRATEGIC BRIEF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504" y="1331405"/>
            <a:ext cx="1355140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3135" spc="-9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Focused responsibilities make reasoning easier to control, validate and evaluate.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143125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8992" y="2819157"/>
            <a:ext cx="768096" cy="95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9"/>
              </a:lnSpc>
            </a:pPr>
            <a:r>
              <a:rPr lang="en-US" b="true" sz="7999" spc="-239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95728" y="2468118"/>
            <a:ext cx="31089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Deal Context Agent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5728" y="3050286"/>
            <a:ext cx="263347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35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Canonical CRM facts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5728" y="3535490"/>
            <a:ext cx="51389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889" spc="-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Opportunity • Stage • Amount • Close Date • Owner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4067175"/>
            <a:ext cx="8286750" cy="1724025"/>
          </a:xfrm>
          <a:custGeom>
            <a:avLst/>
            <a:gdLst/>
            <a:ahLst/>
            <a:cxnLst/>
            <a:rect r="r" b="b" t="t" l="l"/>
            <a:pathLst>
              <a:path h="1724025" w="8286750">
                <a:moveTo>
                  <a:pt x="0" y="0"/>
                </a:moveTo>
                <a:lnTo>
                  <a:pt x="8286750" y="0"/>
                </a:lnTo>
                <a:lnTo>
                  <a:pt x="8286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8992" y="4702884"/>
            <a:ext cx="768096" cy="86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b="true" sz="7199" spc="-215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95728" y="4591241"/>
            <a:ext cx="51206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97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Conversation Intelligence Agent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5728" y="5186934"/>
            <a:ext cx="59801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974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Goals • Objections • Urgency • Competitors • Action Items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5781675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78992" y="6482535"/>
            <a:ext cx="768096" cy="86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b="true" sz="7199" spc="-215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95728" y="6185725"/>
            <a:ext cx="3767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97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 Map Agent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95728" y="6810185"/>
            <a:ext cx="453542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Economic Buyer • Champion • Blockers • Procurement • Unknowns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7700" y="7715250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78992" y="8393757"/>
            <a:ext cx="768096" cy="81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9"/>
              </a:lnSpc>
            </a:pPr>
            <a:r>
              <a:rPr lang="en-US" b="true" sz="6799" spc="-203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95728" y="8146542"/>
            <a:ext cx="45354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Negotiation Strategy Agent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877550" y="1924050"/>
            <a:ext cx="4800600" cy="1295400"/>
          </a:xfrm>
          <a:custGeom>
            <a:avLst/>
            <a:gdLst/>
            <a:ahLst/>
            <a:cxnLst/>
            <a:rect r="r" b="b" t="t" l="l"/>
            <a:pathLst>
              <a:path h="1295400" w="48006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015216" y="2396681"/>
            <a:ext cx="25603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Governed Evidence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448925" y="3209925"/>
            <a:ext cx="6105525" cy="647700"/>
          </a:xfrm>
          <a:custGeom>
            <a:avLst/>
            <a:gdLst/>
            <a:ahLst/>
            <a:cxnLst/>
            <a:rect r="r" b="b" t="t" l="l"/>
            <a:pathLst>
              <a:path h="647700" w="6105525">
                <a:moveTo>
                  <a:pt x="0" y="0"/>
                </a:moveTo>
                <a:lnTo>
                  <a:pt x="6105525" y="0"/>
                </a:lnTo>
                <a:lnTo>
                  <a:pt x="6105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277850" y="27813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144000" y="36385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13964" y="4084320"/>
            <a:ext cx="189166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Deal Context Agent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972925" y="36385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135993" y="4095750"/>
            <a:ext cx="2740914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Conversation    </a:t>
            </a:r>
          </a:p>
          <a:p>
            <a:pPr algn="ctr">
              <a:lnSpc>
                <a:spcPts val="2400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Agent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801850" y="36385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108936" y="4126103"/>
            <a:ext cx="239739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 Map Agent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448925" y="4924425"/>
            <a:ext cx="5886450" cy="438150"/>
          </a:xfrm>
          <a:custGeom>
            <a:avLst/>
            <a:gdLst/>
            <a:ahLst/>
            <a:cxnLst/>
            <a:rect r="r" b="b" t="t" l="l"/>
            <a:pathLst>
              <a:path h="438150" w="5886450">
                <a:moveTo>
                  <a:pt x="0" y="0"/>
                </a:moveTo>
                <a:lnTo>
                  <a:pt x="5886450" y="0"/>
                </a:lnTo>
                <a:lnTo>
                  <a:pt x="5886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77850" y="4924425"/>
            <a:ext cx="438150" cy="866775"/>
          </a:xfrm>
          <a:custGeom>
            <a:avLst/>
            <a:gdLst/>
            <a:ahLst/>
            <a:cxnLst/>
            <a:rect r="r" b="b" t="t" l="l"/>
            <a:pathLst>
              <a:path h="866775" w="438150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77550" y="5572125"/>
            <a:ext cx="5019675" cy="1285875"/>
          </a:xfrm>
          <a:custGeom>
            <a:avLst/>
            <a:gdLst/>
            <a:ahLst/>
            <a:cxnLst/>
            <a:rect r="r" b="b" t="t" l="l"/>
            <a:pathLst>
              <a:path h="1285875" w="5019675">
                <a:moveTo>
                  <a:pt x="0" y="0"/>
                </a:moveTo>
                <a:lnTo>
                  <a:pt x="5019675" y="0"/>
                </a:lnTo>
                <a:lnTo>
                  <a:pt x="5019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277850" y="66389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877550" y="7067550"/>
            <a:ext cx="5019675" cy="1295400"/>
          </a:xfrm>
          <a:custGeom>
            <a:avLst/>
            <a:gdLst/>
            <a:ahLst/>
            <a:cxnLst/>
            <a:rect r="r" b="b" t="t" l="l"/>
            <a:pathLst>
              <a:path h="1295400" w="5019675">
                <a:moveTo>
                  <a:pt x="0" y="0"/>
                </a:moveTo>
                <a:lnTo>
                  <a:pt x="5019675" y="0"/>
                </a:lnTo>
                <a:lnTo>
                  <a:pt x="5019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905488" y="7550467"/>
            <a:ext cx="30723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Validation + Risk Check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3277850" y="814387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229850" y="8572500"/>
            <a:ext cx="6534150" cy="1076325"/>
          </a:xfrm>
          <a:custGeom>
            <a:avLst/>
            <a:gdLst/>
            <a:ahLst/>
            <a:cxnLst/>
            <a:rect r="r" b="b" t="t" l="l"/>
            <a:pathLst>
              <a:path h="1076325" w="6534150">
                <a:moveTo>
                  <a:pt x="0" y="0"/>
                </a:moveTo>
                <a:lnTo>
                  <a:pt x="6534150" y="0"/>
                </a:lnTo>
                <a:lnTo>
                  <a:pt x="6534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375136" y="8954071"/>
            <a:ext cx="41330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b="true" sz="3135" spc="-94">
                <a:solidFill>
                  <a:srgbClr val="000033"/>
                </a:solidFill>
                <a:latin typeface="Roboto Bold"/>
                <a:ea typeface="Roboto Bold"/>
                <a:cs typeface="Roboto Bold"/>
                <a:sym typeface="Roboto Bold"/>
              </a:rPr>
              <a:t>STRATEGIC DEAL BRIEF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49456" y="6063435"/>
            <a:ext cx="35661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Negotiation Strategy Agent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95728" y="8746998"/>
            <a:ext cx="51937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Prioritized Next Actions • Owners • Rationale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504" y="480282"/>
            <a:ext cx="14648688" cy="73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b="true" sz="5487" spc="-2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EVALUATION — CAN I TRUST THE BEHAVIOR?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3504" y="1263777"/>
            <a:ext cx="140817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 evaluate the system around business critical failure modes, not only answer quality.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924050"/>
            <a:ext cx="4143375" cy="4933950"/>
          </a:xfrm>
          <a:custGeom>
            <a:avLst/>
            <a:gdLst/>
            <a:ahLst/>
            <a:cxnLst/>
            <a:rect r="r" b="b" t="t" l="l"/>
            <a:pathLst>
              <a:path h="4933950" w="4143375">
                <a:moveTo>
                  <a:pt x="0" y="0"/>
                </a:moveTo>
                <a:lnTo>
                  <a:pt x="4143375" y="0"/>
                </a:lnTo>
                <a:lnTo>
                  <a:pt x="41433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8992" y="2459164"/>
            <a:ext cx="292608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b="true" sz="2632" spc="-105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ACCESS CONTROL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52625" y="3000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3584" y="4328731"/>
            <a:ext cx="268833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b="true" sz="2112" spc="-8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Unauthorized request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1700" y="4714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5024" y="5882068"/>
            <a:ext cx="24688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spc="-88">
                <a:solidFill>
                  <a:srgbClr val="00C2E4"/>
                </a:solidFill>
                <a:latin typeface="Inter Bold"/>
                <a:ea typeface="Inter Bold"/>
                <a:cs typeface="Inter Bold"/>
                <a:sym typeface="Inter Bold"/>
              </a:rPr>
              <a:t>restricted evidence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572000" y="1924050"/>
            <a:ext cx="4362450" cy="4933950"/>
          </a:xfrm>
          <a:custGeom>
            <a:avLst/>
            <a:gdLst/>
            <a:ahLst/>
            <a:cxnLst/>
            <a:rect r="r" b="b" t="t" l="l"/>
            <a:pathLst>
              <a:path h="4933950" w="43624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05856" y="2440114"/>
            <a:ext cx="20848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 spc="-112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GROUNDING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6000" y="30003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50992" y="4328732"/>
            <a:ext cx="21396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spc="-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Important claims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305550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81550" y="5728785"/>
            <a:ext cx="3940302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87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Validated against retrieved evidence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24925" y="1924050"/>
            <a:ext cx="4362450" cy="4933950"/>
          </a:xfrm>
          <a:custGeom>
            <a:avLst/>
            <a:gdLst/>
            <a:ahLst/>
            <a:cxnLst/>
            <a:rect r="r" b="b" t="t" l="l"/>
            <a:pathLst>
              <a:path h="4933950" w="43624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22992" y="2444877"/>
            <a:ext cx="175564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b="true" sz="2688" spc="-107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RETRIEVER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668000" y="3000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00032" y="4289914"/>
            <a:ext cx="3474720" cy="75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b="true" sz="2178" spc="-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Relevant evidence survives hybrid retrieval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77550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277850" y="1924050"/>
            <a:ext cx="4581525" cy="4933950"/>
          </a:xfrm>
          <a:custGeom>
            <a:avLst/>
            <a:gdLst/>
            <a:ahLst/>
            <a:cxnLst/>
            <a:rect r="r" b="b" t="t" l="l"/>
            <a:pathLst>
              <a:path h="4933950" w="4581525">
                <a:moveTo>
                  <a:pt x="0" y="0"/>
                </a:moveTo>
                <a:lnTo>
                  <a:pt x="4581525" y="0"/>
                </a:lnTo>
                <a:lnTo>
                  <a:pt x="45815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801850" y="3209925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319504" y="4211636"/>
            <a:ext cx="2231136" cy="94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b="true" sz="2200" spc="-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Golden scenarios remain stable across changes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240000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743051" y="5705856"/>
            <a:ext cx="362102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 spc="-87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Slack evidence • conflicts • sensitive actions • injection cases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28625" y="6858000"/>
            <a:ext cx="17430750" cy="2362200"/>
          </a:xfrm>
          <a:custGeom>
            <a:avLst/>
            <a:gdLst/>
            <a:ahLst/>
            <a:cxnLst/>
            <a:rect r="r" b="b" t="t" l="l"/>
            <a:pathLst>
              <a:path h="2362200" w="17430750">
                <a:moveTo>
                  <a:pt x="0" y="0"/>
                </a:moveTo>
                <a:lnTo>
                  <a:pt x="17430750" y="0"/>
                </a:lnTo>
                <a:lnTo>
                  <a:pt x="174307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14400" y="7484554"/>
            <a:ext cx="230428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3499" spc="-139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FINAL RUN RESULTS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476625" y="7067550"/>
            <a:ext cx="228600" cy="1933575"/>
          </a:xfrm>
          <a:custGeom>
            <a:avLst/>
            <a:gdLst/>
            <a:ahLst/>
            <a:cxnLst/>
            <a:rect r="r" b="b" t="t" l="l"/>
            <a:pathLst>
              <a:path h="1933575" w="228600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553712" y="7222998"/>
            <a:ext cx="151790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7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Golden Tests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781550" y="74961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535424" y="8590788"/>
            <a:ext cx="153619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10/10 passed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962775" y="7067550"/>
            <a:ext cx="228600" cy="1933575"/>
          </a:xfrm>
          <a:custGeom>
            <a:avLst/>
            <a:gdLst/>
            <a:ahLst/>
            <a:cxnLst/>
            <a:rect r="r" b="b" t="t" l="l"/>
            <a:pathLst>
              <a:path h="1933575" w="228600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589520" y="7227760"/>
            <a:ext cx="248716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879" spc="-7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Unauthorized Leakage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26770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223760" y="8590788"/>
            <a:ext cx="307238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0 retricted evidence leaked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448925" y="7067550"/>
            <a:ext cx="219075" cy="1933575"/>
          </a:xfrm>
          <a:custGeom>
            <a:avLst/>
            <a:gdLst/>
            <a:ahLst/>
            <a:cxnLst/>
            <a:rect r="r" b="b" t="t" l="l"/>
            <a:pathLst>
              <a:path h="1933575" w="2190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137392" y="7218235"/>
            <a:ext cx="202996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b="true" sz="1919" spc="-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Citation Validation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75385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716000" y="7067550"/>
            <a:ext cx="219075" cy="1933575"/>
          </a:xfrm>
          <a:custGeom>
            <a:avLst/>
            <a:gdLst/>
            <a:ahLst/>
            <a:cxnLst/>
            <a:rect r="r" b="b" t="t" l="l"/>
            <a:pathLst>
              <a:path h="1933575" w="2190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4410944" y="7227760"/>
            <a:ext cx="26883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879" spc="-7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Required Slack Evidence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524000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209776" y="8345043"/>
            <a:ext cx="314553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7 synthetic updates indexed Slack citations verified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428625" y="9210675"/>
            <a:ext cx="17430750" cy="866775"/>
          </a:xfrm>
          <a:custGeom>
            <a:avLst/>
            <a:gdLst/>
            <a:ahLst/>
            <a:cxnLst/>
            <a:rect r="r" b="b" t="t" l="l"/>
            <a:pathLst>
              <a:path h="866775" w="17430750">
                <a:moveTo>
                  <a:pt x="0" y="0"/>
                </a:moveTo>
                <a:lnTo>
                  <a:pt x="17430750" y="0"/>
                </a:lnTo>
                <a:lnTo>
                  <a:pt x="17430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66775" y="9429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591056" y="9537573"/>
            <a:ext cx="1583740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 spc="-7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CONVINCING 11M RESPONSE IS INSUFFICIENT — CRITICAL SYSTEM BEHAVIOR MUST BE MEASURABLE AND REGRESSION-TESTED.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96544" y="2440114"/>
            <a:ext cx="417477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 spc="-108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BEHAVIOR REGRESSION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92640" y="5943790"/>
            <a:ext cx="283464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spc="-88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BM25 + Dense + RAF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750391" y="8590788"/>
            <a:ext cx="30051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10/10 citations validated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740" y="640080"/>
            <a:ext cx="7644384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prototype validates the workflow. Production adds a durable data plane, incremental ingest, security, and operational scale.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8625" y="1066800"/>
            <a:ext cx="7191375" cy="4295775"/>
          </a:xfrm>
          <a:custGeom>
            <a:avLst/>
            <a:gdLst/>
            <a:ahLst/>
            <a:cxnLst/>
            <a:rect r="r" b="b" t="t" l="l"/>
            <a:pathLst>
              <a:path h="4295775" w="7191375">
                <a:moveTo>
                  <a:pt x="0" y="0"/>
                </a:moveTo>
                <a:lnTo>
                  <a:pt x="7191375" y="0"/>
                </a:lnTo>
                <a:lnTo>
                  <a:pt x="7191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2143125"/>
            <a:ext cx="6981825" cy="219075"/>
          </a:xfrm>
          <a:custGeom>
            <a:avLst/>
            <a:gdLst/>
            <a:ahLst/>
            <a:cxnLst/>
            <a:rect r="r" b="b" t="t" l="l"/>
            <a:pathLst>
              <a:path h="219075" w="6981825">
                <a:moveTo>
                  <a:pt x="0" y="0"/>
                </a:moveTo>
                <a:lnTo>
                  <a:pt x="6981825" y="0"/>
                </a:lnTo>
                <a:lnTo>
                  <a:pt x="6981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2143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2571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775" y="3000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3429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3857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775" y="42862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20000" y="1066800"/>
            <a:ext cx="10239375" cy="4295775"/>
          </a:xfrm>
          <a:custGeom>
            <a:avLst/>
            <a:gdLst/>
            <a:ahLst/>
            <a:cxnLst/>
            <a:rect r="r" b="b" t="t" l="l"/>
            <a:pathLst>
              <a:path h="4295775" w="10239375">
                <a:moveTo>
                  <a:pt x="0" y="0"/>
                </a:moveTo>
                <a:lnTo>
                  <a:pt x="10239375" y="0"/>
                </a:lnTo>
                <a:lnTo>
                  <a:pt x="10239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29550" y="2143125"/>
            <a:ext cx="9810750" cy="219075"/>
          </a:xfrm>
          <a:custGeom>
            <a:avLst/>
            <a:gdLst/>
            <a:ahLst/>
            <a:cxnLst/>
            <a:rect r="r" b="b" t="t" l="l"/>
            <a:pathLst>
              <a:path h="219075" w="9810750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9850" y="21431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29850" y="257175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29850" y="300037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29850" y="342900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29850" y="38576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29850" y="428625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29850" y="471487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8625" y="5143500"/>
            <a:ext cx="17430750" cy="1933575"/>
          </a:xfrm>
          <a:custGeom>
            <a:avLst/>
            <a:gdLst/>
            <a:ahLst/>
            <a:cxnLst/>
            <a:rect r="r" b="b" t="t" l="l"/>
            <a:pathLst>
              <a:path h="1933575" w="17430750">
                <a:moveTo>
                  <a:pt x="0" y="0"/>
                </a:moveTo>
                <a:lnTo>
                  <a:pt x="17430750" y="0"/>
                </a:lnTo>
                <a:lnTo>
                  <a:pt x="1743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64464" y="56769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95700" y="5572125"/>
            <a:ext cx="2619375" cy="857250"/>
          </a:xfrm>
          <a:custGeom>
            <a:avLst/>
            <a:gdLst/>
            <a:ahLst/>
            <a:cxnLst/>
            <a:rect r="r" b="b" t="t" l="l"/>
            <a:pathLst>
              <a:path h="857250" w="2619375">
                <a:moveTo>
                  <a:pt x="0" y="0"/>
                </a:moveTo>
                <a:lnTo>
                  <a:pt x="2619375" y="0"/>
                </a:lnTo>
                <a:lnTo>
                  <a:pt x="261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133850" y="5781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524625" y="5572125"/>
            <a:ext cx="2838450" cy="857250"/>
          </a:xfrm>
          <a:custGeom>
            <a:avLst/>
            <a:gdLst/>
            <a:ahLst/>
            <a:cxnLst/>
            <a:rect r="r" b="b" t="t" l="l"/>
            <a:pathLst>
              <a:path h="857250" w="2838450">
                <a:moveTo>
                  <a:pt x="0" y="0"/>
                </a:moveTo>
                <a:lnTo>
                  <a:pt x="2838450" y="0"/>
                </a:lnTo>
                <a:lnTo>
                  <a:pt x="2838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743700" y="5781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353550" y="5572125"/>
            <a:ext cx="3276600" cy="857250"/>
          </a:xfrm>
          <a:custGeom>
            <a:avLst/>
            <a:gdLst/>
            <a:ahLst/>
            <a:cxnLst/>
            <a:rect r="r" b="b" t="t" l="l"/>
            <a:pathLst>
              <a:path h="857250" w="3276600">
                <a:moveTo>
                  <a:pt x="0" y="0"/>
                </a:moveTo>
                <a:lnTo>
                  <a:pt x="3276600" y="0"/>
                </a:lnTo>
                <a:lnTo>
                  <a:pt x="3276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91700" y="57816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401550" y="5353050"/>
            <a:ext cx="1104900" cy="1504950"/>
          </a:xfrm>
          <a:custGeom>
            <a:avLst/>
            <a:gdLst/>
            <a:ahLst/>
            <a:cxnLst/>
            <a:rect r="r" b="b" t="t" l="l"/>
            <a:pathLst>
              <a:path h="1504950" w="1104900">
                <a:moveTo>
                  <a:pt x="0" y="0"/>
                </a:moveTo>
                <a:lnTo>
                  <a:pt x="1104900" y="0"/>
                </a:lnTo>
                <a:lnTo>
                  <a:pt x="11049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77850" y="5353050"/>
            <a:ext cx="4362450" cy="647700"/>
          </a:xfrm>
          <a:custGeom>
            <a:avLst/>
            <a:gdLst/>
            <a:ahLst/>
            <a:cxnLst/>
            <a:rect r="r" b="b" t="t" l="l"/>
            <a:pathLst>
              <a:path h="647700" w="436245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496925" y="5353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277850" y="5781675"/>
            <a:ext cx="4362450" cy="647700"/>
          </a:xfrm>
          <a:custGeom>
            <a:avLst/>
            <a:gdLst/>
            <a:ahLst/>
            <a:cxnLst/>
            <a:rect r="r" b="b" t="t" l="l"/>
            <a:pathLst>
              <a:path h="647700" w="436245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496925" y="5781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136624" y="6099277"/>
            <a:ext cx="1975104" cy="1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11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Qdrant – Filtered retrieval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277850" y="6210300"/>
            <a:ext cx="4362450" cy="866775"/>
          </a:xfrm>
          <a:custGeom>
            <a:avLst/>
            <a:gdLst/>
            <a:ahLst/>
            <a:cxnLst/>
            <a:rect r="r" b="b" t="t" l="l"/>
            <a:pathLst>
              <a:path h="866775" w="4362450">
                <a:moveTo>
                  <a:pt x="0" y="0"/>
                </a:moveTo>
                <a:lnTo>
                  <a:pt x="4362450" y="0"/>
                </a:lnTo>
                <a:lnTo>
                  <a:pt x="4362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496925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28625" y="6858000"/>
            <a:ext cx="17430750" cy="1076325"/>
          </a:xfrm>
          <a:custGeom>
            <a:avLst/>
            <a:gdLst/>
            <a:ahLst/>
            <a:cxnLst/>
            <a:rect r="r" b="b" t="t" l="l"/>
            <a:pathLst>
              <a:path h="1076325" w="17430750">
                <a:moveTo>
                  <a:pt x="0" y="0"/>
                </a:moveTo>
                <a:lnTo>
                  <a:pt x="17430750" y="0"/>
                </a:lnTo>
                <a:lnTo>
                  <a:pt x="1743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57225" y="70866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172200" y="7315200"/>
            <a:ext cx="1507998" cy="17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"/>
              </a:lnSpc>
            </a:pPr>
            <a:r>
              <a:rPr lang="en-US" sz="13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Secrets Manager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5000625" y="6858000"/>
            <a:ext cx="3933825" cy="857250"/>
          </a:xfrm>
          <a:custGeom>
            <a:avLst/>
            <a:gdLst/>
            <a:ahLst/>
            <a:cxnLst/>
            <a:rect r="r" b="b" t="t" l="l"/>
            <a:pathLst>
              <a:path h="857250" w="3933825">
                <a:moveTo>
                  <a:pt x="0" y="0"/>
                </a:moveTo>
                <a:lnTo>
                  <a:pt x="3933825" y="0"/>
                </a:lnTo>
                <a:lnTo>
                  <a:pt x="3933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438775" y="70675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353550" y="6858000"/>
            <a:ext cx="4152900" cy="857250"/>
          </a:xfrm>
          <a:custGeom>
            <a:avLst/>
            <a:gdLst/>
            <a:ahLst/>
            <a:cxnLst/>
            <a:rect r="r" b="b" t="t" l="l"/>
            <a:pathLst>
              <a:path h="857250" w="4152900">
                <a:moveTo>
                  <a:pt x="0" y="0"/>
                </a:moveTo>
                <a:lnTo>
                  <a:pt x="4152900" y="0"/>
                </a:lnTo>
                <a:lnTo>
                  <a:pt x="4152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791700" y="70675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28625" y="7715250"/>
            <a:ext cx="17430750" cy="1504950"/>
          </a:xfrm>
          <a:custGeom>
            <a:avLst/>
            <a:gdLst/>
            <a:ahLst/>
            <a:cxnLst/>
            <a:rect r="r" b="b" t="t" l="l"/>
            <a:pathLst>
              <a:path h="1504950" w="17430750">
                <a:moveTo>
                  <a:pt x="0" y="0"/>
                </a:moveTo>
                <a:lnTo>
                  <a:pt x="17430750" y="0"/>
                </a:lnTo>
                <a:lnTo>
                  <a:pt x="1743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73703" y="8139112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048000" y="7924800"/>
            <a:ext cx="3267075" cy="1076325"/>
          </a:xfrm>
          <a:custGeom>
            <a:avLst/>
            <a:gdLst/>
            <a:ahLst/>
            <a:cxnLst/>
            <a:rect r="r" b="b" t="t" l="l"/>
            <a:pathLst>
              <a:path h="1076325" w="3267075">
                <a:moveTo>
                  <a:pt x="0" y="0"/>
                </a:moveTo>
                <a:lnTo>
                  <a:pt x="3267075" y="0"/>
                </a:lnTo>
                <a:lnTo>
                  <a:pt x="3267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476625" y="7924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133850" y="79248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781550" y="7924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438775" y="79248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524625" y="79248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524625" y="814387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353550" y="7924800"/>
            <a:ext cx="2409825" cy="1076325"/>
          </a:xfrm>
          <a:custGeom>
            <a:avLst/>
            <a:gdLst/>
            <a:ahLst/>
            <a:cxnLst/>
            <a:rect r="r" b="b" t="t" l="l"/>
            <a:pathLst>
              <a:path h="1076325" w="2409825">
                <a:moveTo>
                  <a:pt x="0" y="0"/>
                </a:moveTo>
                <a:lnTo>
                  <a:pt x="2409825" y="0"/>
                </a:lnTo>
                <a:lnTo>
                  <a:pt x="2409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572625" y="8143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1972925" y="7924800"/>
            <a:ext cx="2400300" cy="1076325"/>
          </a:xfrm>
          <a:custGeom>
            <a:avLst/>
            <a:gdLst/>
            <a:ahLst/>
            <a:cxnLst/>
            <a:rect r="r" b="b" t="t" l="l"/>
            <a:pathLst>
              <a:path h="1076325" w="2400300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1972925" y="81438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363700" y="792480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4582775" y="7715250"/>
            <a:ext cx="3057525" cy="857250"/>
          </a:xfrm>
          <a:custGeom>
            <a:avLst/>
            <a:gdLst/>
            <a:ahLst/>
            <a:cxnLst/>
            <a:rect r="r" b="b" t="t" l="l"/>
            <a:pathLst>
              <a:path h="857250" w="3057525">
                <a:moveTo>
                  <a:pt x="0" y="0"/>
                </a:moveTo>
                <a:lnTo>
                  <a:pt x="3057525" y="0"/>
                </a:lnTo>
                <a:lnTo>
                  <a:pt x="3057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4582775" y="8353425"/>
            <a:ext cx="3057525" cy="866775"/>
          </a:xfrm>
          <a:custGeom>
            <a:avLst/>
            <a:gdLst/>
            <a:ahLst/>
            <a:cxnLst/>
            <a:rect r="r" b="b" t="t" l="l"/>
            <a:pathLst>
              <a:path h="866775" w="3057525">
                <a:moveTo>
                  <a:pt x="0" y="0"/>
                </a:moveTo>
                <a:lnTo>
                  <a:pt x="3057525" y="0"/>
                </a:lnTo>
                <a:lnTo>
                  <a:pt x="305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428625" y="9210675"/>
            <a:ext cx="17430750" cy="1076325"/>
          </a:xfrm>
          <a:custGeom>
            <a:avLst/>
            <a:gdLst/>
            <a:ahLst/>
            <a:cxnLst/>
            <a:rect r="r" b="b" t="t" l="l"/>
            <a:pathLst>
              <a:path h="1076325" w="17430750">
                <a:moveTo>
                  <a:pt x="0" y="0"/>
                </a:moveTo>
                <a:lnTo>
                  <a:pt x="17430750" y="0"/>
                </a:lnTo>
                <a:lnTo>
                  <a:pt x="1743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73703" y="9319522"/>
            <a:ext cx="682562" cy="675142"/>
          </a:xfrm>
          <a:custGeom>
            <a:avLst/>
            <a:gdLst/>
            <a:ahLst/>
            <a:cxnLst/>
            <a:rect r="r" b="b" t="t" l="l"/>
            <a:pathLst>
              <a:path h="675142" w="682562">
                <a:moveTo>
                  <a:pt x="0" y="0"/>
                </a:moveTo>
                <a:lnTo>
                  <a:pt x="682562" y="0"/>
                </a:lnTo>
                <a:lnTo>
                  <a:pt x="682562" y="675142"/>
                </a:lnTo>
                <a:lnTo>
                  <a:pt x="0" y="675142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4835473" y="8572500"/>
            <a:ext cx="487921" cy="584336"/>
          </a:xfrm>
          <a:custGeom>
            <a:avLst/>
            <a:gdLst/>
            <a:ahLst/>
            <a:cxnLst/>
            <a:rect r="r" b="b" t="t" l="l"/>
            <a:pathLst>
              <a:path h="584336" w="487921">
                <a:moveTo>
                  <a:pt x="0" y="0"/>
                </a:moveTo>
                <a:lnTo>
                  <a:pt x="487921" y="0"/>
                </a:lnTo>
                <a:lnTo>
                  <a:pt x="487921" y="584336"/>
                </a:lnTo>
                <a:lnTo>
                  <a:pt x="0" y="584336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4909387" y="7915084"/>
            <a:ext cx="378619" cy="504825"/>
          </a:xfrm>
          <a:custGeom>
            <a:avLst/>
            <a:gdLst/>
            <a:ahLst/>
            <a:cxnLst/>
            <a:rect r="r" b="b" t="t" l="l"/>
            <a:pathLst>
              <a:path h="504825" w="378619">
                <a:moveTo>
                  <a:pt x="0" y="0"/>
                </a:moveTo>
                <a:lnTo>
                  <a:pt x="378619" y="0"/>
                </a:lnTo>
                <a:lnTo>
                  <a:pt x="378619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548640" y="204025"/>
            <a:ext cx="6382512" cy="38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97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BREAKS IN PRODUCTION?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304288" y="1804987"/>
            <a:ext cx="3127248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CURRENT / LOCAL RUNNABLE PROTOTYPE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405872" y="1491577"/>
            <a:ext cx="2962656" cy="23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72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PRODUCTION EVOLUTION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533888" y="1804987"/>
            <a:ext cx="1536192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FUTURE / PROPOSED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456432" y="8601074"/>
            <a:ext cx="2601468" cy="1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9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Salesforce / Gong / Slack / Pricing APIs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343013" y="8290522"/>
            <a:ext cx="1691164" cy="2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Connectors /</a:t>
            </a:r>
          </a:p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Webhooks / Polling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29850" y="8290522"/>
            <a:ext cx="1066800" cy="2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SQS / EventBridge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489936" y="8003248"/>
            <a:ext cx="1321011" cy="4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"/>
              </a:lnSpc>
            </a:pPr>
            <a:r>
              <a:rPr lang="en-US" sz="12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Qdrant</a:t>
            </a:r>
          </a:p>
          <a:p>
            <a:pPr algn="l">
              <a:lnSpc>
                <a:spcPts val="1287"/>
              </a:lnSpc>
            </a:pPr>
            <a:r>
              <a:rPr lang="en-US" sz="12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Hot Search Index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489936" y="8734493"/>
            <a:ext cx="1677924" cy="27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S3 Raw Archive + Replay</a:t>
            </a:r>
          </a:p>
          <a:p>
            <a:pPr algn="l">
              <a:lnSpc>
                <a:spcPts val="1100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1389126" y="9601200"/>
            <a:ext cx="475488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RISK: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956626" y="9511360"/>
            <a:ext cx="15683674" cy="24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2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local snapshot is not a production data platform. Without incremental ingestion, durable state, replay, and authorization-aware indexing, freshness and concurrency fail at scale.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304288" y="1508379"/>
            <a:ext cx="1298448" cy="20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PROTOTYPE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947291" y="2318194"/>
            <a:ext cx="4072509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single-process application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947291" y="2770822"/>
            <a:ext cx="3040742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Qdrant index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947291" y="3172016"/>
            <a:ext cx="2663221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workflow state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947291" y="3583496"/>
            <a:ext cx="2509022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run artifacts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947291" y="3994975"/>
            <a:ext cx="2248942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Static file ingest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947291" y="4437316"/>
            <a:ext cx="3398381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Single application instance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947291" y="4838509"/>
            <a:ext cx="2248942" cy="22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Live LLM provider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868793" y="2374163"/>
            <a:ext cx="2041969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Data Ingestion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588752" y="2346020"/>
            <a:ext cx="8314978" cy="44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Connectors, webhooks, polling, SQS/EventBridge</a:t>
            </a:r>
          </a:p>
          <a:p>
            <a:pPr algn="l">
              <a:lnSpc>
                <a:spcPts val="1789"/>
              </a:lnSpc>
            </a:pPr>
          </a:p>
        </p:txBody>
      </p:sp>
      <p:sp>
        <p:nvSpPr>
          <p:cNvPr name="TextBox 85" id="85"/>
          <p:cNvSpPr txBox="true"/>
          <p:nvPr/>
        </p:nvSpPr>
        <p:spPr>
          <a:xfrm rot="0">
            <a:off x="7868793" y="2826791"/>
            <a:ext cx="1932432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Index Lifecycle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588752" y="2744800"/>
            <a:ext cx="6526811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Incremental upsets, deletes, replay, idempotency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868793" y="3183509"/>
            <a:ext cx="2370582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Freshness &amp; History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588752" y="3175330"/>
            <a:ext cx="7182472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Hot index for recent data, archive for historical search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868793" y="3583496"/>
            <a:ext cx="1654550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Durable State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588752" y="3583444"/>
            <a:ext cx="8136161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PostgreSQL workflow state, approvals, ingest checkpoints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868793" y="3994975"/>
            <a:ext cx="1027827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Security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588752" y="3885412"/>
            <a:ext cx="8314978" cy="44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API authentication, IAM, secrets management; </a:t>
            </a:r>
          </a:p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tenant isolation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868793" y="4421886"/>
            <a:ext cx="2291363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Availability &amp; Scale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588752" y="4406392"/>
            <a:ext cx="6467205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Retries, timeouts, rate limits, dead-letter queues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588752" y="4717568"/>
            <a:ext cx="9507090" cy="66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Centralized logs, metrics, traces, alerts, </a:t>
            </a:r>
          </a:p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multi-worker capacity planning</a:t>
            </a:r>
          </a:p>
          <a:p>
            <a:pPr algn="l">
              <a:lnSpc>
                <a:spcPts val="1789"/>
              </a:lnSpc>
            </a:pPr>
          </a:p>
        </p:txBody>
      </p:sp>
      <p:sp>
        <p:nvSpPr>
          <p:cNvPr name="TextBox 96" id="96"/>
          <p:cNvSpPr txBox="true"/>
          <p:nvPr/>
        </p:nvSpPr>
        <p:spPr>
          <a:xfrm rot="0">
            <a:off x="967740" y="5987453"/>
            <a:ext cx="128016" cy="22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7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64742" y="6029325"/>
            <a:ext cx="1719072" cy="1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"/>
              </a:lnSpc>
            </a:pPr>
            <a:r>
              <a:rPr lang="en-US" sz="112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ONLINE REQUEST PATH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370832" y="6468466"/>
            <a:ext cx="274320" cy="11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83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828032" y="6016676"/>
            <a:ext cx="969264" cy="14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11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API Gateway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469121" y="5997397"/>
            <a:ext cx="1398657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ECS / Fargate API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021824" y="6016523"/>
            <a:ext cx="182880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136624" y="5553608"/>
            <a:ext cx="969264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PostgreSQL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136624" y="6613627"/>
            <a:ext cx="1353312" cy="1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11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Bedrock /OpenAI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50976" y="7240562"/>
            <a:ext cx="182880" cy="22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7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47978" y="7263955"/>
            <a:ext cx="2194560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SHARED PLATFORM SERVICES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588752" y="7226999"/>
            <a:ext cx="2584323" cy="31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4"/>
              </a:lnSpc>
            </a:pPr>
            <a:r>
              <a:rPr lang="en-US" sz="1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CloudWatch / OpenTelemetry</a:t>
            </a:r>
          </a:p>
          <a:p>
            <a:pPr algn="l">
              <a:lnSpc>
                <a:spcPts val="1244"/>
              </a:lnSpc>
            </a:pPr>
            <a:r>
              <a:rPr lang="en-US" sz="1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logs, metrics, traces, alerts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50976" y="8300123"/>
            <a:ext cx="182880" cy="22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7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47978" y="8320011"/>
            <a:ext cx="1719072" cy="1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"/>
              </a:lnSpc>
            </a:pPr>
            <a:r>
              <a:rPr lang="en-US" sz="112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DATA INGESTION PATH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728829" y="8368093"/>
            <a:ext cx="1298448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Ingestion Workers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264931" y="5964860"/>
            <a:ext cx="190494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  <a:spcBef>
                <a:spcPct val="0"/>
              </a:spcBef>
            </a:pPr>
            <a:r>
              <a:rPr lang="en-US" sz="1190" spc="-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Workflow Orchestrator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0178690" y="6491287"/>
            <a:ext cx="176763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sz="1300" spc="-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Authorization + Agents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7868793" y="4829302"/>
            <a:ext cx="1930309" cy="2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789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Observability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1248" y="509530"/>
            <a:ext cx="16971264" cy="66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LIVE DEMO — THREE REQUESTS, THREE DELIBERATE OUTCOMES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8625" y="1285875"/>
            <a:ext cx="17430750" cy="2362200"/>
          </a:xfrm>
          <a:custGeom>
            <a:avLst/>
            <a:gdLst/>
            <a:ahLst/>
            <a:cxnLst/>
            <a:rect r="r" b="b" t="t" l="l"/>
            <a:pathLst>
              <a:path h="2362200" w="17430750">
                <a:moveTo>
                  <a:pt x="0" y="0"/>
                </a:moveTo>
                <a:lnTo>
                  <a:pt x="17430750" y="0"/>
                </a:lnTo>
                <a:lnTo>
                  <a:pt x="174307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128" y="2125986"/>
            <a:ext cx="1097280" cy="11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827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90775" y="1714500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26080" y="1849831"/>
            <a:ext cx="5650992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564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AUTHORIZED STANDARD DEAL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26080" y="2447468"/>
            <a:ext cx="3108960" cy="3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37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USR-5001 → OPP-1001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15700" y="21431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54128" y="1981314"/>
            <a:ext cx="2249424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256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 Outcome: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401550" y="2352675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57632" y="2589600"/>
            <a:ext cx="3072384" cy="43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GROUNDED BRIEF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3638550"/>
            <a:ext cx="17430750" cy="1933575"/>
          </a:xfrm>
          <a:custGeom>
            <a:avLst/>
            <a:gdLst/>
            <a:ahLst/>
            <a:cxnLst/>
            <a:rect r="r" b="b" t="t" l="l"/>
            <a:pathLst>
              <a:path h="1933575" w="17430750">
                <a:moveTo>
                  <a:pt x="0" y="0"/>
                </a:moveTo>
                <a:lnTo>
                  <a:pt x="17430750" y="0"/>
                </a:lnTo>
                <a:lnTo>
                  <a:pt x="1743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4128" y="4255395"/>
            <a:ext cx="1097280" cy="11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827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90775" y="3857625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26080" y="4010101"/>
            <a:ext cx="5925312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564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AUTHORIZED RESTRICTED DEAL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6080" y="4607738"/>
            <a:ext cx="3108960" cy="3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37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USR-5003 → OPP-1003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315700" y="428625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454128" y="4172445"/>
            <a:ext cx="2249424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256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 Outcome: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01550" y="4495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57632" y="4742021"/>
            <a:ext cx="4187952" cy="41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0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HUMAN REVIEW REQUIRED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28625" y="5572125"/>
            <a:ext cx="17430750" cy="2143125"/>
          </a:xfrm>
          <a:custGeom>
            <a:avLst/>
            <a:gdLst/>
            <a:ahLst/>
            <a:cxnLst/>
            <a:rect r="r" b="b" t="t" l="l"/>
            <a:pathLst>
              <a:path h="2143125" w="17430750">
                <a:moveTo>
                  <a:pt x="0" y="0"/>
                </a:moveTo>
                <a:lnTo>
                  <a:pt x="17430750" y="0"/>
                </a:lnTo>
                <a:lnTo>
                  <a:pt x="1743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4128" y="6281934"/>
            <a:ext cx="1097280" cy="11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827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390775" y="6000750"/>
            <a:ext cx="447675" cy="1285875"/>
          </a:xfrm>
          <a:custGeom>
            <a:avLst/>
            <a:gdLst/>
            <a:ahLst/>
            <a:cxnLst/>
            <a:rect r="r" b="b" t="t" l="l"/>
            <a:pathLst>
              <a:path h="1285875" w="4476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926080" y="6005779"/>
            <a:ext cx="4773168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564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UNAUTHORIZED REQUEST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26080" y="6613703"/>
            <a:ext cx="3108960" cy="3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37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USR-5007 → OPP-1003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315700" y="64293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454128" y="6178410"/>
            <a:ext cx="2249424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256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 Outcome: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401550" y="642937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057632" y="6717125"/>
            <a:ext cx="4315968" cy="41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0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DENIED BEFORE RETRIEVAL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28625" y="7715250"/>
            <a:ext cx="17430750" cy="2571750"/>
          </a:xfrm>
          <a:custGeom>
            <a:avLst/>
            <a:gdLst/>
            <a:ahLst/>
            <a:cxnLst/>
            <a:rect r="r" b="b" t="t" l="l"/>
            <a:pathLst>
              <a:path h="2571750" w="17430750">
                <a:moveTo>
                  <a:pt x="0" y="0"/>
                </a:moveTo>
                <a:lnTo>
                  <a:pt x="17430750" y="0"/>
                </a:lnTo>
                <a:lnTo>
                  <a:pt x="17430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85850" y="814387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926080" y="8079296"/>
            <a:ext cx="7882128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PROOF OF MULTI-SOURCE GROUNDING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3695700" y="8572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456432" y="9411465"/>
            <a:ext cx="1298448" cy="55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  <a:r>
              <a:rPr lang="en-US" sz="191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Generated Slack Update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5219700" y="8782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305550" y="85725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364224" y="9410957"/>
            <a:ext cx="987552" cy="5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9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Retrieved Evidence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7829550" y="8782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924925" y="8572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705088" y="9410957"/>
            <a:ext cx="1389888" cy="5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9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Cited Finding in the Brief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0448925" y="7715250"/>
            <a:ext cx="7191375" cy="2362200"/>
          </a:xfrm>
          <a:custGeom>
            <a:avLst/>
            <a:gdLst/>
            <a:ahLst/>
            <a:cxnLst/>
            <a:rect r="r" b="b" t="t" l="l"/>
            <a:pathLst>
              <a:path h="2362200" w="7191375">
                <a:moveTo>
                  <a:pt x="0" y="0"/>
                </a:moveTo>
                <a:lnTo>
                  <a:pt x="7191375" y="0"/>
                </a:lnTo>
                <a:lnTo>
                  <a:pt x="7191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926080" y="3011043"/>
            <a:ext cx="475488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26080" y="5078730"/>
            <a:ext cx="475488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26080" y="7084695"/>
            <a:ext cx="475488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694176" y="3003080"/>
            <a:ext cx="1517904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Brief Generation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694176" y="5070767"/>
            <a:ext cx="2542032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Restricted Evidence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694176" y="7076732"/>
            <a:ext cx="2103120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Authorization Failure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96128" y="3003080"/>
            <a:ext cx="1737360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Retrieved Evidence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96128" y="5070767"/>
            <a:ext cx="3182112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Sensitive Recommendation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94045" y="7076732"/>
            <a:ext cx="2468880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Authorization Failure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80960" y="3003080"/>
            <a:ext cx="877824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Citations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25712" y="5070767"/>
            <a:ext cx="1389888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Approval Flow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87968" y="3008986"/>
            <a:ext cx="2468880" cy="22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1"/>
              </a:lnSpc>
            </a:pPr>
            <a:r>
              <a:rPr lang="en-US" sz="169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Recommended Next Actions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625" y="5143500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5550" y="5143500"/>
            <a:ext cx="3714750" cy="219075"/>
          </a:xfrm>
          <a:custGeom>
            <a:avLst/>
            <a:gdLst/>
            <a:ahLst/>
            <a:cxnLst/>
            <a:rect r="r" b="b" t="t" l="l"/>
            <a:pathLst>
              <a:path h="219075" w="3714750">
                <a:moveTo>
                  <a:pt x="0" y="0"/>
                </a:moveTo>
                <a:lnTo>
                  <a:pt x="3714750" y="0"/>
                </a:lnTo>
                <a:lnTo>
                  <a:pt x="3714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1456" y="4183266"/>
            <a:ext cx="8705088" cy="246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59"/>
              </a:lnSpc>
            </a:pPr>
            <a:r>
              <a:rPr lang="en-US" sz="1845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DAHWO1R73uc</dc:identifier>
  <dcterms:modified xsi:type="dcterms:W3CDTF">2011-08-01T06:04:30Z</dcterms:modified>
  <cp:revision>1</cp:revision>
  <dc:title>Strategic Deal Intelligence</dc:title>
</cp:coreProperties>
</file>